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40.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22"/>
  </p:notesMasterIdLst>
  <p:handoutMasterIdLst>
    <p:handoutMasterId r:id="rId24"/>
  </p:handoutMasterIdLst>
  <p:sldIdLst>
    <p:sldId id="257" r:id="rId4"/>
    <p:sldId id="272" r:id="rId5"/>
    <p:sldId id="260" r:id="rId6"/>
    <p:sldId id="308" r:id="rId7"/>
    <p:sldId id="265" r:id="rId8"/>
    <p:sldId id="259" r:id="rId9"/>
    <p:sldId id="266" r:id="rId10"/>
    <p:sldId id="268" r:id="rId11"/>
    <p:sldId id="262" r:id="rId12"/>
    <p:sldId id="264" r:id="rId13"/>
    <p:sldId id="309" r:id="rId14"/>
    <p:sldId id="263" r:id="rId15"/>
    <p:sldId id="287" r:id="rId16"/>
    <p:sldId id="310" r:id="rId17"/>
    <p:sldId id="271" r:id="rId18"/>
    <p:sldId id="307" r:id="rId19"/>
    <p:sldId id="270" r:id="rId20"/>
    <p:sldId id="286" r:id="rId21"/>
    <p:sldId id="273" r:id="rId23"/>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2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827" autoAdjust="0"/>
    <p:restoredTop sz="94660"/>
  </p:normalViewPr>
  <p:slideViewPr>
    <p:cSldViewPr snapToGrid="0" showGuides="1">
      <p:cViewPr>
        <p:scale>
          <a:sx n="75" d="100"/>
          <a:sy n="75" d="100"/>
        </p:scale>
        <p:origin x="54" y="54"/>
      </p:cViewPr>
      <p:guideLst>
        <p:guide orient="horz" pos="1820"/>
        <p:guide pos="3840"/>
      </p:guideLst>
    </p:cSldViewPr>
  </p:slideViewPr>
  <p:notesTextViewPr>
    <p:cViewPr>
      <p:scale>
        <a:sx n="1" d="1"/>
        <a:sy n="1" d="1"/>
      </p:scale>
      <p:origin x="0" y="-84"/>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gs" Target="tags/tag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19.xml"/><Relationship Id="rId22" Type="http://schemas.openxmlformats.org/officeDocument/2006/relationships/notesMaster" Target="notesMasters/notes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pitchFamily="34" charset="-122"/>
              </a:rPr>
            </a:fld>
            <a:endParaRPr lang="zh-CN" altLang="en-US" dirty="0">
              <a:latin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pitchFamily="34" charset="-122"/>
              </a:rPr>
            </a:fld>
            <a:endParaRPr lang="zh-CN" altLang="en-US" dirty="0">
              <a:latin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defRPr>
            </a:lvl1pPr>
          </a:lstStyle>
          <a:p>
            <a:fld id="{D2A48B96-639E-45A3-A0BA-2464DFDB1FAA}"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defRPr>
            </a:lvl1pPr>
          </a:lstStyle>
          <a:p>
            <a:fld id="{A6837353-30EB-4A48-80EB-173D804AEFBD}" type="slidenum">
              <a:rPr lang="zh-CN" altLang="en-US" smtClean="0"/>
            </a:fld>
            <a:endParaRPr lang="zh-CN" alt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微软雅黑" panose="020B0503020204020204" pitchFamily="34" charset="-122"/>
        <a:ea typeface="+mn-ea"/>
        <a:cs typeface="+mn-cs"/>
      </a:defRPr>
    </a:lvl1pPr>
    <a:lvl2pPr marL="457200" algn="l" defTabSz="914400" rtl="0" eaLnBrk="1" latinLnBrk="0" hangingPunct="1">
      <a:defRPr sz="1200" kern="1200">
        <a:solidFill>
          <a:schemeClr val="tx1"/>
        </a:solidFill>
        <a:latin typeface="微软雅黑" panose="020B0503020204020204" pitchFamily="34" charset="-122"/>
        <a:ea typeface="+mn-ea"/>
        <a:cs typeface="+mn-cs"/>
      </a:defRPr>
    </a:lvl2pPr>
    <a:lvl3pPr marL="914400" algn="l" defTabSz="914400" rtl="0" eaLnBrk="1" latinLnBrk="0" hangingPunct="1">
      <a:defRPr sz="1200" kern="1200">
        <a:solidFill>
          <a:schemeClr val="tx1"/>
        </a:solidFill>
        <a:latin typeface="微软雅黑" panose="020B0503020204020204" pitchFamily="34" charset="-122"/>
        <a:ea typeface="+mn-ea"/>
        <a:cs typeface="+mn-cs"/>
      </a:defRPr>
    </a:lvl3pPr>
    <a:lvl4pPr marL="1371600" algn="l" defTabSz="914400" rtl="0" eaLnBrk="1" latinLnBrk="0" hangingPunct="1">
      <a:defRPr sz="1200" kern="1200">
        <a:solidFill>
          <a:schemeClr val="tx1"/>
        </a:solidFill>
        <a:latin typeface="微软雅黑" panose="020B0503020204020204" pitchFamily="34" charset="-122"/>
        <a:ea typeface="+mn-ea"/>
        <a:cs typeface="+mn-cs"/>
      </a:defRPr>
    </a:lvl4pPr>
    <a:lvl5pPr marL="1828800" algn="l" defTabSz="914400" rtl="0" eaLnBrk="1" latinLnBrk="0" hangingPunct="1">
      <a:defRPr sz="1200" kern="1200">
        <a:solidFill>
          <a:schemeClr val="tx1"/>
        </a:solidFill>
        <a:latin typeface="微软雅黑" panose="020B0503020204020204" pitchFamily="34" charset="-122"/>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模板来自于： 第一</a:t>
            </a:r>
            <a:r>
              <a:rPr lang="en-US" altLang="zh-CN" dirty="0"/>
              <a:t>PPT https://www.1ppt.com/</a:t>
            </a:r>
            <a:endParaRPr lang="en-US" altLang="zh-CN" dirty="0"/>
          </a:p>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703D8E1B-E798-4EA8-8A9E-79B9D91E0A40}" type="datetimeFigureOut">
              <a:rPr lang="zh-CN" altLang="en-US" smtClean="0"/>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9pPr>
          </a:lstStyle>
          <a:p>
            <a:r>
              <a:rPr lang="zh-CN" altLang="en-US"/>
              <a:t>单击此处编辑母版标题样式</a:t>
            </a:r>
            <a:endParaRPr lang="zh-CN" altLang="en-US"/>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dirty="0">
                <a:latin typeface="微软雅黑" panose="020B0503020204020204" pitchFamily="34" charset="-122"/>
                <a:ea typeface="微软雅黑" panose="020B0503020204020204" pitchFamily="34" charset="-122"/>
              </a:rPr>
              <a:t>单击此处编辑母版文本样式</a:t>
            </a:r>
            <a:endParaRPr lang="zh-CN" altLang="en-US" dirty="0">
              <a:latin typeface="微软雅黑" panose="020B0503020204020204" pitchFamily="34" charset="-122"/>
              <a:ea typeface="微软雅黑" panose="020B0503020204020204" pitchFamily="34" charset="-122"/>
            </a:endParaRPr>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dirty="0">
                <a:latin typeface="微软雅黑" panose="020B0503020204020204" pitchFamily="34" charset="-122"/>
                <a:ea typeface="微软雅黑" panose="020B0503020204020204" pitchFamily="34" charset="-122"/>
              </a:rPr>
              <a:t>单击此处编辑母版文本样式</a:t>
            </a:r>
            <a:endParaRPr lang="zh-CN" altLang="en-US"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二级</a:t>
            </a:r>
            <a:endParaRPr lang="zh-CN" altLang="en-US"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三级</a:t>
            </a:r>
            <a:endParaRPr lang="zh-CN" altLang="en-US" dirty="0">
              <a:latin typeface="微软雅黑" panose="020B0503020204020204" pitchFamily="34" charset="-122"/>
              <a:ea typeface="微软雅黑" panose="020B0503020204020204" pitchFamily="34" charset="-122"/>
            </a:endParaRPr>
          </a:p>
          <a:p>
            <a:pPr lvl="3"/>
            <a:r>
              <a:rPr lang="zh-CN" altLang="en-US" dirty="0">
                <a:latin typeface="微软雅黑" panose="020B0503020204020204" pitchFamily="34" charset="-122"/>
                <a:ea typeface="微软雅黑" panose="020B0503020204020204" pitchFamily="34" charset="-122"/>
              </a:rPr>
              <a:t>四级</a:t>
            </a:r>
            <a:endParaRPr lang="zh-CN" altLang="en-US" dirty="0">
              <a:latin typeface="微软雅黑" panose="020B0503020204020204" pitchFamily="34" charset="-122"/>
              <a:ea typeface="微软雅黑" panose="020B0503020204020204" pitchFamily="34" charset="-122"/>
            </a:endParaRPr>
          </a:p>
          <a:p>
            <a:pPr lvl="4"/>
            <a:r>
              <a:rPr lang="zh-CN" altLang="en-US" dirty="0">
                <a:latin typeface="微软雅黑" panose="020B0503020204020204" pitchFamily="34" charset="-122"/>
                <a:ea typeface="微软雅黑" panose="020B0503020204020204" pitchFamily="34" charset="-122"/>
              </a:rPr>
              <a:t>五级</a:t>
            </a:r>
            <a:endParaRPr lang="zh-CN" altLang="en-US" dirty="0">
              <a:latin typeface="微软雅黑" panose="020B0503020204020204" pitchFamily="34" charset="-122"/>
              <a:ea typeface="微软雅黑" panose="020B0503020204020204" pitchFamily="34" charset="-122"/>
            </a:endParaRPr>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AC91CC8-65C8-4708-BA35-C91E922B61B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7B5DB58-E0C8-4AF6-85A6-9F54E8D90AFB}" type="slidenum">
              <a:rPr lang="zh-CN" altLang="en-US" smtClean="0"/>
            </a:fld>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5E6"/>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DAC91CC8-65C8-4708-BA35-C91E922B61B3}"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D7B5DB58-E0C8-4AF6-85A6-9F54E8D90AFB}"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BF5E6"/>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hdphoto" Target="../media/image7.wdp"/><Relationship Id="rId4" Type="http://schemas.openxmlformats.org/officeDocument/2006/relationships/image" Target="../media/image6.png"/><Relationship Id="rId3" Type="http://schemas.openxmlformats.org/officeDocument/2006/relationships/image" Target="../media/image5.png"/><Relationship Id="rId2" Type="http://schemas.microsoft.com/office/2007/relationships/hdphoto" Target="../media/image4.wdp"/><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5.png"/><Relationship Id="rId6" Type="http://schemas.microsoft.com/office/2007/relationships/hdphoto" Target="../media/image13.wdp"/><Relationship Id="rId5" Type="http://schemas.openxmlformats.org/officeDocument/2006/relationships/image" Target="../media/image12.png"/><Relationship Id="rId4" Type="http://schemas.openxmlformats.org/officeDocument/2006/relationships/image" Target="../media/image11.png"/><Relationship Id="rId3" Type="http://schemas.microsoft.com/office/2007/relationships/hdphoto" Target="../media/image10.wdp"/><Relationship Id="rId2" Type="http://schemas.openxmlformats.org/officeDocument/2006/relationships/image" Target="../media/image9.png"/><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microsoft.com/office/2007/relationships/hdphoto" Target="../media/image16.wdp"/><Relationship Id="rId2" Type="http://schemas.openxmlformats.org/officeDocument/2006/relationships/image" Target="../media/image15.png"/><Relationship Id="rId1" Type="http://schemas.openxmlformats.org/officeDocument/2006/relationships/image" Target="../media/image14.png"/></Relationships>
</file>

<file path=ppt/slides/_rels/slide5.xml.rels><?xml version="1.0" encoding="UTF-8" standalone="yes"?>
<Relationships xmlns="http://schemas.openxmlformats.org/package/2006/relationships"><Relationship Id="rId9" Type="http://schemas.openxmlformats.org/officeDocument/2006/relationships/image" Target="../media/image15.png"/><Relationship Id="rId8" Type="http://schemas.microsoft.com/office/2007/relationships/hdphoto" Target="../media/image22.wdp"/><Relationship Id="rId7" Type="http://schemas.openxmlformats.org/officeDocument/2006/relationships/image" Target="../media/image21.png"/><Relationship Id="rId6" Type="http://schemas.microsoft.com/office/2007/relationships/hdphoto" Target="../media/image20.wdp"/><Relationship Id="rId5" Type="http://schemas.openxmlformats.org/officeDocument/2006/relationships/image" Target="../media/image19.png"/><Relationship Id="rId4" Type="http://schemas.microsoft.com/office/2007/relationships/hdphoto" Target="../media/image18.wdp"/><Relationship Id="rId3" Type="http://schemas.openxmlformats.org/officeDocument/2006/relationships/image" Target="../media/image17.png"/><Relationship Id="rId2" Type="http://schemas.microsoft.com/office/2007/relationships/hdphoto" Target="../media/image4.wdp"/><Relationship Id="rId11" Type="http://schemas.openxmlformats.org/officeDocument/2006/relationships/slideLayout" Target="../slideLayouts/slideLayout2.xml"/><Relationship Id="rId10" Type="http://schemas.microsoft.com/office/2007/relationships/hdphoto" Target="../media/image16.wdp"/><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9" Type="http://schemas.openxmlformats.org/officeDocument/2006/relationships/image" Target="../media/image11.png"/><Relationship Id="rId8" Type="http://schemas.microsoft.com/office/2007/relationships/hdphoto" Target="../media/image10.wdp"/><Relationship Id="rId7" Type="http://schemas.openxmlformats.org/officeDocument/2006/relationships/image" Target="../media/image9.png"/><Relationship Id="rId6" Type="http://schemas.microsoft.com/office/2007/relationships/hdphoto" Target="../media/image27.wdp"/><Relationship Id="rId5" Type="http://schemas.openxmlformats.org/officeDocument/2006/relationships/image" Target="../media/image26.png"/><Relationship Id="rId4" Type="http://schemas.openxmlformats.org/officeDocument/2006/relationships/image" Target="../media/image25.png"/><Relationship Id="rId3" Type="http://schemas.microsoft.com/office/2007/relationships/hdphoto" Target="../media/image24.wdp"/><Relationship Id="rId2" Type="http://schemas.openxmlformats.org/officeDocument/2006/relationships/image" Target="../media/image23.png"/><Relationship Id="rId12" Type="http://schemas.openxmlformats.org/officeDocument/2006/relationships/slideLayout" Target="../slideLayouts/slideLayout2.xml"/><Relationship Id="rId11" Type="http://schemas.microsoft.com/office/2007/relationships/hdphoto" Target="../media/image13.wdp"/><Relationship Id="rId10" Type="http://schemas.openxmlformats.org/officeDocument/2006/relationships/image" Target="../media/image12.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1.png"/><Relationship Id="rId7" Type="http://schemas.openxmlformats.org/officeDocument/2006/relationships/image" Target="../media/image30.jpeg"/><Relationship Id="rId6" Type="http://schemas.microsoft.com/office/2007/relationships/hdphoto" Target="../media/image16.wdp"/><Relationship Id="rId5" Type="http://schemas.openxmlformats.org/officeDocument/2006/relationships/image" Target="../media/image15.png"/><Relationship Id="rId4" Type="http://schemas.microsoft.com/office/2007/relationships/hdphoto" Target="../media/image29.wdp"/><Relationship Id="rId3" Type="http://schemas.openxmlformats.org/officeDocument/2006/relationships/image" Target="../media/image28.png"/><Relationship Id="rId2" Type="http://schemas.microsoft.com/office/2007/relationships/hdphoto" Target="../media/image4.wdp"/><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image" Target="../media/image38.png"/><Relationship Id="rId8" Type="http://schemas.microsoft.com/office/2007/relationships/hdphoto" Target="../media/image37.wdp"/><Relationship Id="rId7" Type="http://schemas.openxmlformats.org/officeDocument/2006/relationships/image" Target="../media/image36.png"/><Relationship Id="rId6" Type="http://schemas.microsoft.com/office/2007/relationships/hdphoto" Target="../media/image35.wdp"/><Relationship Id="rId5" Type="http://schemas.openxmlformats.org/officeDocument/2006/relationships/image" Target="../media/image34.png"/><Relationship Id="rId4" Type="http://schemas.microsoft.com/office/2007/relationships/hdphoto" Target="../media/image33.wdp"/><Relationship Id="rId3" Type="http://schemas.openxmlformats.org/officeDocument/2006/relationships/image" Target="../media/image32.png"/><Relationship Id="rId2" Type="http://schemas.microsoft.com/office/2007/relationships/hdphoto" Target="../media/image4.wdp"/><Relationship Id="rId13" Type="http://schemas.openxmlformats.org/officeDocument/2006/relationships/slideLayout" Target="../slideLayouts/slideLayout2.xml"/><Relationship Id="rId12" Type="http://schemas.microsoft.com/office/2007/relationships/hdphoto" Target="../media/image16.wdp"/><Relationship Id="rId11" Type="http://schemas.openxmlformats.org/officeDocument/2006/relationships/image" Target="../media/image15.png"/><Relationship Id="rId10" Type="http://schemas.microsoft.com/office/2007/relationships/hdphoto" Target="../media/image39.wdp"/><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9" Type="http://schemas.openxmlformats.org/officeDocument/2006/relationships/image" Target="../media/image11.png"/><Relationship Id="rId8" Type="http://schemas.microsoft.com/office/2007/relationships/hdphoto" Target="../media/image10.wdp"/><Relationship Id="rId7" Type="http://schemas.openxmlformats.org/officeDocument/2006/relationships/image" Target="../media/image9.png"/><Relationship Id="rId6" Type="http://schemas.microsoft.com/office/2007/relationships/hdphoto" Target="../media/image27.wdp"/><Relationship Id="rId5" Type="http://schemas.openxmlformats.org/officeDocument/2006/relationships/image" Target="../media/image26.png"/><Relationship Id="rId4" Type="http://schemas.openxmlformats.org/officeDocument/2006/relationships/image" Target="../media/image25.png"/><Relationship Id="rId3" Type="http://schemas.microsoft.com/office/2007/relationships/hdphoto" Target="../media/image24.wdp"/><Relationship Id="rId2" Type="http://schemas.openxmlformats.org/officeDocument/2006/relationships/image" Target="../media/image23.png"/><Relationship Id="rId12" Type="http://schemas.openxmlformats.org/officeDocument/2006/relationships/slideLayout" Target="../slideLayouts/slideLayout2.xml"/><Relationship Id="rId11" Type="http://schemas.microsoft.com/office/2007/relationships/hdphoto" Target="../media/image13.wdp"/><Relationship Id="rId10" Type="http://schemas.openxmlformats.org/officeDocument/2006/relationships/image" Target="../media/image12.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hdphoto" Target="../media/image16.wdp"/><Relationship Id="rId4" Type="http://schemas.openxmlformats.org/officeDocument/2006/relationships/image" Target="../media/image15.png"/><Relationship Id="rId3" Type="http://schemas.openxmlformats.org/officeDocument/2006/relationships/image" Target="../media/image40.webp"/><Relationship Id="rId2" Type="http://schemas.microsoft.com/office/2007/relationships/hdphoto" Target="../media/image4.wdp"/><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0.webp"/><Relationship Id="rId4" Type="http://schemas.microsoft.com/office/2007/relationships/hdphoto" Target="../media/image16.wdp"/><Relationship Id="rId3" Type="http://schemas.openxmlformats.org/officeDocument/2006/relationships/image" Target="../media/image15.png"/><Relationship Id="rId2" Type="http://schemas.microsoft.com/office/2007/relationships/hdphoto" Target="../media/image4.wdp"/><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9" Type="http://schemas.openxmlformats.org/officeDocument/2006/relationships/image" Target="../media/image11.png"/><Relationship Id="rId8" Type="http://schemas.microsoft.com/office/2007/relationships/hdphoto" Target="../media/image10.wdp"/><Relationship Id="rId7" Type="http://schemas.openxmlformats.org/officeDocument/2006/relationships/image" Target="../media/image9.png"/><Relationship Id="rId6" Type="http://schemas.microsoft.com/office/2007/relationships/hdphoto" Target="../media/image27.wdp"/><Relationship Id="rId5" Type="http://schemas.openxmlformats.org/officeDocument/2006/relationships/image" Target="../media/image26.png"/><Relationship Id="rId4" Type="http://schemas.openxmlformats.org/officeDocument/2006/relationships/image" Target="../media/image25.png"/><Relationship Id="rId3" Type="http://schemas.microsoft.com/office/2007/relationships/hdphoto" Target="../media/image24.wdp"/><Relationship Id="rId2" Type="http://schemas.openxmlformats.org/officeDocument/2006/relationships/image" Target="../media/image23.png"/><Relationship Id="rId12" Type="http://schemas.openxmlformats.org/officeDocument/2006/relationships/slideLayout" Target="../slideLayouts/slideLayout2.xml"/><Relationship Id="rId11" Type="http://schemas.microsoft.com/office/2007/relationships/hdphoto" Target="../media/image13.wdp"/><Relationship Id="rId10" Type="http://schemas.openxmlformats.org/officeDocument/2006/relationships/image" Target="../media/image12.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2.jpeg"/><Relationship Id="rId5" Type="http://schemas.openxmlformats.org/officeDocument/2006/relationships/image" Target="../media/image41.jpeg"/><Relationship Id="rId4" Type="http://schemas.microsoft.com/office/2007/relationships/hdphoto" Target="../media/image16.wdp"/><Relationship Id="rId3" Type="http://schemas.openxmlformats.org/officeDocument/2006/relationships/image" Target="../media/image15.png"/><Relationship Id="rId2" Type="http://schemas.microsoft.com/office/2007/relationships/hdphoto" Target="../media/image4.wdp"/><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43.jpeg"/><Relationship Id="rId4" Type="http://schemas.microsoft.com/office/2007/relationships/hdphoto" Target="../media/image16.wdp"/><Relationship Id="rId3" Type="http://schemas.openxmlformats.org/officeDocument/2006/relationships/image" Target="../media/image15.png"/><Relationship Id="rId2" Type="http://schemas.microsoft.com/office/2007/relationships/hdphoto" Target="../media/image4.wdp"/><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9" Type="http://schemas.openxmlformats.org/officeDocument/2006/relationships/image" Target="../media/image48.png"/><Relationship Id="rId8" Type="http://schemas.openxmlformats.org/officeDocument/2006/relationships/image" Target="../media/image47.png"/><Relationship Id="rId7" Type="http://schemas.openxmlformats.org/officeDocument/2006/relationships/image" Target="../media/image46.png"/><Relationship Id="rId6" Type="http://schemas.microsoft.com/office/2007/relationships/hdphoto" Target="../media/image16.wdp"/><Relationship Id="rId5" Type="http://schemas.openxmlformats.org/officeDocument/2006/relationships/image" Target="../media/image15.png"/><Relationship Id="rId4" Type="http://schemas.microsoft.com/office/2007/relationships/hdphoto" Target="../media/image45.wdp"/><Relationship Id="rId3" Type="http://schemas.openxmlformats.org/officeDocument/2006/relationships/image" Target="../media/image44.png"/><Relationship Id="rId2" Type="http://schemas.microsoft.com/office/2007/relationships/hdphoto" Target="../media/image4.wdp"/><Relationship Id="rId10"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9" Type="http://schemas.openxmlformats.org/officeDocument/2006/relationships/image" Target="../media/image11.png"/><Relationship Id="rId8" Type="http://schemas.microsoft.com/office/2007/relationships/hdphoto" Target="../media/image10.wdp"/><Relationship Id="rId7" Type="http://schemas.openxmlformats.org/officeDocument/2006/relationships/image" Target="../media/image9.png"/><Relationship Id="rId6" Type="http://schemas.microsoft.com/office/2007/relationships/hdphoto" Target="../media/image27.wdp"/><Relationship Id="rId5" Type="http://schemas.openxmlformats.org/officeDocument/2006/relationships/image" Target="../media/image26.png"/><Relationship Id="rId4" Type="http://schemas.openxmlformats.org/officeDocument/2006/relationships/image" Target="../media/image25.png"/><Relationship Id="rId3" Type="http://schemas.microsoft.com/office/2007/relationships/hdphoto" Target="../media/image24.wdp"/><Relationship Id="rId2" Type="http://schemas.openxmlformats.org/officeDocument/2006/relationships/image" Target="../media/image23.png"/><Relationship Id="rId12" Type="http://schemas.openxmlformats.org/officeDocument/2006/relationships/slideLayout" Target="../slideLayouts/slideLayout2.xml"/><Relationship Id="rId11" Type="http://schemas.microsoft.com/office/2007/relationships/hdphoto" Target="../media/image13.wdp"/><Relationship Id="rId10" Type="http://schemas.openxmlformats.org/officeDocument/2006/relationships/image" Target="../media/image12.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9" Type="http://schemas.openxmlformats.org/officeDocument/2006/relationships/image" Target="../media/image53.png"/><Relationship Id="rId8" Type="http://schemas.openxmlformats.org/officeDocument/2006/relationships/image" Target="../media/image52.png"/><Relationship Id="rId7" Type="http://schemas.openxmlformats.org/officeDocument/2006/relationships/image" Target="../media/image51.png"/><Relationship Id="rId6" Type="http://schemas.openxmlformats.org/officeDocument/2006/relationships/image" Target="../media/image50.png"/><Relationship Id="rId5" Type="http://schemas.openxmlformats.org/officeDocument/2006/relationships/image" Target="../media/image49.png"/><Relationship Id="rId4" Type="http://schemas.microsoft.com/office/2007/relationships/hdphoto" Target="../media/image16.wdp"/><Relationship Id="rId3" Type="http://schemas.openxmlformats.org/officeDocument/2006/relationships/image" Target="../media/image15.png"/><Relationship Id="rId2" Type="http://schemas.microsoft.com/office/2007/relationships/hdphoto" Target="../media/image4.wdp"/><Relationship Id="rId16" Type="http://schemas.openxmlformats.org/officeDocument/2006/relationships/slideLayout" Target="../slideLayouts/slideLayout2.xml"/><Relationship Id="rId15" Type="http://schemas.openxmlformats.org/officeDocument/2006/relationships/image" Target="../media/image59.png"/><Relationship Id="rId14" Type="http://schemas.openxmlformats.org/officeDocument/2006/relationships/image" Target="../media/image58.png"/><Relationship Id="rId13" Type="http://schemas.openxmlformats.org/officeDocument/2006/relationships/image" Target="../media/image57.png"/><Relationship Id="rId12" Type="http://schemas.openxmlformats.org/officeDocument/2006/relationships/image" Target="../media/image56.png"/><Relationship Id="rId11" Type="http://schemas.openxmlformats.org/officeDocument/2006/relationships/image" Target="../media/image55.png"/><Relationship Id="rId10" Type="http://schemas.openxmlformats.org/officeDocument/2006/relationships/image" Target="../media/image54.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2.png"/><Relationship Id="rId2" Type="http://schemas.microsoft.com/office/2007/relationships/hdphoto" Target="../media/image4.wdp"/><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l="-20" r="-20"/>
          </a:stretch>
        </a:blipFill>
        <a:effectLst/>
      </p:bgPr>
    </p:bg>
    <p:spTree>
      <p:nvGrpSpPr>
        <p:cNvPr id="1" name=""/>
        <p:cNvGrpSpPr/>
        <p:nvPr/>
      </p:nvGrpSpPr>
      <p:grpSpPr>
        <a:xfrm>
          <a:off x="0" y="0"/>
          <a:ext cx="0" cy="0"/>
          <a:chOff x="0" y="0"/>
          <a:chExt cx="0" cy="0"/>
        </a:xfrm>
      </p:grpSpPr>
      <p:grpSp>
        <p:nvGrpSpPr>
          <p:cNvPr id="48" name="组合 47"/>
          <p:cNvGrpSpPr/>
          <p:nvPr/>
        </p:nvGrpSpPr>
        <p:grpSpPr>
          <a:xfrm>
            <a:off x="927256" y="640122"/>
            <a:ext cx="5908550" cy="4888182"/>
            <a:chOff x="1414280" y="91334"/>
            <a:chExt cx="5908550" cy="4888182"/>
          </a:xfrm>
        </p:grpSpPr>
        <p:sp>
          <p:nvSpPr>
            <p:cNvPr id="15" name="椭圆 14"/>
            <p:cNvSpPr/>
            <p:nvPr/>
          </p:nvSpPr>
          <p:spPr>
            <a:xfrm>
              <a:off x="1830542" y="3668738"/>
              <a:ext cx="596900" cy="596900"/>
            </a:xfrm>
            <a:prstGeom prst="ellipse">
              <a:avLst/>
            </a:prstGeom>
            <a:noFill/>
            <a:ln w="28575">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8805C"/>
                </a:solidFill>
                <a:latin typeface="微软雅黑" panose="020B0503020204020204" pitchFamily="34" charset="-122"/>
                <a:ea typeface="微软雅黑" panose="020B0503020204020204" pitchFamily="34" charset="-122"/>
              </a:endParaRPr>
            </a:p>
          </p:txBody>
        </p:sp>
        <p:sp>
          <p:nvSpPr>
            <p:cNvPr id="16" name="椭圆 15"/>
            <p:cNvSpPr/>
            <p:nvPr/>
          </p:nvSpPr>
          <p:spPr>
            <a:xfrm>
              <a:off x="2236942" y="4383326"/>
              <a:ext cx="110912" cy="110912"/>
            </a:xfrm>
            <a:prstGeom prst="ellipse">
              <a:avLst/>
            </a:prstGeom>
            <a:noFill/>
            <a:ln w="19050">
              <a:solidFill>
                <a:srgbClr val="9450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8805C"/>
                </a:solidFill>
                <a:latin typeface="微软雅黑" panose="020B0503020204020204" pitchFamily="34" charset="-122"/>
                <a:ea typeface="微软雅黑" panose="020B0503020204020204" pitchFamily="34" charset="-122"/>
              </a:endParaRPr>
            </a:p>
          </p:txBody>
        </p:sp>
        <p:sp>
          <p:nvSpPr>
            <p:cNvPr id="17" name="椭圆 16"/>
            <p:cNvSpPr/>
            <p:nvPr/>
          </p:nvSpPr>
          <p:spPr>
            <a:xfrm>
              <a:off x="6597116" y="183004"/>
              <a:ext cx="725714" cy="725714"/>
            </a:xfrm>
            <a:prstGeom prst="ellipse">
              <a:avLst/>
            </a:prstGeom>
            <a:noFill/>
            <a:ln w="28575">
              <a:solidFill>
                <a:srgbClr val="9450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8805C"/>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2058989" y="1092901"/>
              <a:ext cx="2234705" cy="2365589"/>
              <a:chOff x="7120009" y="999213"/>
              <a:chExt cx="2234705" cy="2365589"/>
            </a:xfrm>
          </p:grpSpPr>
          <p:cxnSp>
            <p:nvCxnSpPr>
              <p:cNvPr id="43" name="直接连接符 42"/>
              <p:cNvCxnSpPr/>
              <p:nvPr/>
            </p:nvCxnSpPr>
            <p:spPr>
              <a:xfrm>
                <a:off x="7120009" y="1014453"/>
                <a:ext cx="180000"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7135293" y="999213"/>
                <a:ext cx="0" cy="2365589"/>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7125768" y="3347380"/>
                <a:ext cx="2228946"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4735576" y="908393"/>
              <a:ext cx="1730331" cy="2529142"/>
              <a:chOff x="5950383" y="1013818"/>
              <a:chExt cx="1730331" cy="2529142"/>
            </a:xfrm>
          </p:grpSpPr>
          <p:cxnSp>
            <p:nvCxnSpPr>
              <p:cNvPr id="40" name="直接连接符 39"/>
              <p:cNvCxnSpPr/>
              <p:nvPr/>
            </p:nvCxnSpPr>
            <p:spPr>
              <a:xfrm rot="10800000" flipH="1">
                <a:off x="6131255" y="1013818"/>
                <a:ext cx="745438"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V="1">
                <a:off x="5950383" y="2875642"/>
                <a:ext cx="0" cy="66696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rot="10800000" flipH="1">
                <a:off x="6394247" y="3542960"/>
                <a:ext cx="1286467"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grpSp>
        <p:sp>
          <p:nvSpPr>
            <p:cNvPr id="21" name="文本框 20"/>
            <p:cNvSpPr txBox="1"/>
            <p:nvPr/>
          </p:nvSpPr>
          <p:spPr>
            <a:xfrm>
              <a:off x="3840773" y="1354544"/>
              <a:ext cx="2680970" cy="1579880"/>
            </a:xfrm>
            <a:prstGeom prst="rect">
              <a:avLst/>
            </a:prstGeom>
            <a:noFill/>
          </p:spPr>
          <p:txBody>
            <a:bodyPr wrap="square" rtlCol="0">
              <a:noAutofit/>
            </a:bodyPr>
            <a:lstStyle/>
            <a:p>
              <a:r>
                <a:rPr lang="zh-CN" altLang="en-US" sz="9600" dirty="0">
                  <a:solidFill>
                    <a:srgbClr val="945043"/>
                  </a:solidFill>
                  <a:latin typeface="汉仪长美黑简" panose="02010609000101010101" pitchFamily="49" charset="-122"/>
                  <a:ea typeface="汉仪长美黑简" panose="02010609000101010101" pitchFamily="49" charset="-122"/>
                </a:rPr>
                <a:t>阿嬷</a:t>
              </a:r>
              <a:endParaRPr lang="zh-CN" altLang="en-US" sz="9600" dirty="0">
                <a:solidFill>
                  <a:srgbClr val="945043"/>
                </a:solidFill>
                <a:latin typeface="汉仪长美黑简" panose="02010609000101010101" pitchFamily="49" charset="-122"/>
                <a:ea typeface="汉仪长美黑简" panose="02010609000101010101" pitchFamily="49" charset="-122"/>
              </a:endParaRPr>
            </a:p>
          </p:txBody>
        </p:sp>
        <p:sp>
          <p:nvSpPr>
            <p:cNvPr id="22" name="文本框 21"/>
            <p:cNvSpPr txBox="1"/>
            <p:nvPr/>
          </p:nvSpPr>
          <p:spPr>
            <a:xfrm>
              <a:off x="4293698" y="2943595"/>
              <a:ext cx="700088" cy="1322070"/>
            </a:xfrm>
            <a:prstGeom prst="rect">
              <a:avLst/>
            </a:prstGeom>
            <a:noFill/>
          </p:spPr>
          <p:txBody>
            <a:bodyPr wrap="square" rtlCol="0">
              <a:spAutoFit/>
            </a:bodyPr>
            <a:lstStyle/>
            <a:p>
              <a:r>
                <a:rPr lang="zh-CN" altLang="en-US" sz="8000" dirty="0">
                  <a:solidFill>
                    <a:srgbClr val="A8805C"/>
                  </a:solidFill>
                  <a:latin typeface="汉仪长美黑简" panose="02010609000101010101" pitchFamily="49" charset="-122"/>
                  <a:ea typeface="汉仪长美黑简" panose="02010609000101010101" pitchFamily="49" charset="-122"/>
                </a:rPr>
                <a:t>情</a:t>
              </a:r>
              <a:endParaRPr lang="zh-CN" altLang="en-US" sz="8000" dirty="0">
                <a:solidFill>
                  <a:srgbClr val="A8805C"/>
                </a:solidFill>
                <a:latin typeface="汉仪长美黑简" panose="02010609000101010101" pitchFamily="49" charset="-122"/>
                <a:ea typeface="汉仪长美黑简" panose="02010609000101010101" pitchFamily="49" charset="-122"/>
              </a:endParaRPr>
            </a:p>
          </p:txBody>
        </p:sp>
        <p:sp>
          <p:nvSpPr>
            <p:cNvPr id="23" name="文本框 22"/>
            <p:cNvSpPr txBox="1"/>
            <p:nvPr/>
          </p:nvSpPr>
          <p:spPr>
            <a:xfrm>
              <a:off x="5166256" y="3898133"/>
              <a:ext cx="1298772" cy="1081383"/>
            </a:xfrm>
            <a:prstGeom prst="rect">
              <a:avLst/>
            </a:prstGeom>
            <a:noFill/>
          </p:spPr>
          <p:txBody>
            <a:bodyPr wrap="square" rtlCol="0">
              <a:noAutofit/>
            </a:bodyPr>
            <a:lstStyle/>
            <a:p>
              <a:r>
                <a:rPr lang="zh-CN" altLang="en-US" sz="8000" dirty="0">
                  <a:solidFill>
                    <a:srgbClr val="A8805C"/>
                  </a:solidFill>
                  <a:latin typeface="汉仪长美黑简" panose="02010609000101010101" pitchFamily="49" charset="-122"/>
                  <a:ea typeface="汉仪长美黑简" panose="02010609000101010101" pitchFamily="49" charset="-122"/>
                </a:rPr>
                <a:t>书</a:t>
              </a:r>
              <a:endParaRPr lang="zh-CN" altLang="en-US" sz="8000" dirty="0">
                <a:solidFill>
                  <a:srgbClr val="A8805C"/>
                </a:solidFill>
                <a:latin typeface="汉仪长美黑简" panose="02010609000101010101" pitchFamily="49" charset="-122"/>
                <a:ea typeface="汉仪长美黑简" panose="02010609000101010101" pitchFamily="49" charset="-122"/>
              </a:endParaRPr>
            </a:p>
          </p:txBody>
        </p:sp>
        <p:grpSp>
          <p:nvGrpSpPr>
            <p:cNvPr id="27" name="组合 26"/>
            <p:cNvGrpSpPr/>
            <p:nvPr/>
          </p:nvGrpSpPr>
          <p:grpSpPr>
            <a:xfrm>
              <a:off x="4628747" y="1092787"/>
              <a:ext cx="1953726" cy="1873250"/>
              <a:chOff x="9800441" y="999099"/>
              <a:chExt cx="1953726" cy="1873250"/>
            </a:xfrm>
          </p:grpSpPr>
          <p:cxnSp>
            <p:nvCxnSpPr>
              <p:cNvPr id="38" name="直接连接符 37"/>
              <p:cNvCxnSpPr/>
              <p:nvPr/>
            </p:nvCxnSpPr>
            <p:spPr>
              <a:xfrm>
                <a:off x="9800441" y="1141142"/>
                <a:ext cx="949791" cy="0"/>
              </a:xfrm>
              <a:prstGeom prst="line">
                <a:avLst/>
              </a:prstGeom>
              <a:ln w="19050">
                <a:solidFill>
                  <a:srgbClr val="945043"/>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11747182" y="999099"/>
                <a:ext cx="6985" cy="1873250"/>
              </a:xfrm>
              <a:prstGeom prst="line">
                <a:avLst/>
              </a:prstGeom>
              <a:ln w="19050">
                <a:solidFill>
                  <a:srgbClr val="945043"/>
                </a:solidFill>
                <a:prstDash val="sysDash"/>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rot="10800000">
              <a:off x="2206093" y="2350494"/>
              <a:ext cx="779003" cy="1008778"/>
              <a:chOff x="9500059" y="1142608"/>
              <a:chExt cx="779003" cy="1008778"/>
            </a:xfrm>
          </p:grpSpPr>
          <p:cxnSp>
            <p:nvCxnSpPr>
              <p:cNvPr id="36" name="直接连接符 35"/>
              <p:cNvCxnSpPr/>
              <p:nvPr/>
            </p:nvCxnSpPr>
            <p:spPr>
              <a:xfrm rot="10800000" flipH="1">
                <a:off x="9500059" y="1153207"/>
                <a:ext cx="779002" cy="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rot="10800000" flipH="1" flipV="1">
                <a:off x="10279062" y="1142608"/>
                <a:ext cx="0" cy="1008778"/>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grpSp>
        <p:cxnSp>
          <p:nvCxnSpPr>
            <p:cNvPr id="29" name="直接连接符 28"/>
            <p:cNvCxnSpPr/>
            <p:nvPr/>
          </p:nvCxnSpPr>
          <p:spPr>
            <a:xfrm flipH="1">
              <a:off x="2229250" y="1354513"/>
              <a:ext cx="0" cy="68400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3916197" y="2169385"/>
              <a:ext cx="0" cy="540000"/>
            </a:xfrm>
            <a:prstGeom prst="line">
              <a:avLst/>
            </a:prstGeom>
            <a:ln w="19050">
              <a:solidFill>
                <a:srgbClr val="945043"/>
              </a:solidFill>
              <a:prstDash val="sys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4766668" y="3591926"/>
              <a:ext cx="0" cy="50400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5103272" y="4265665"/>
              <a:ext cx="0" cy="36000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4141975" y="479120"/>
              <a:ext cx="2323053" cy="337185"/>
            </a:xfrm>
            <a:prstGeom prst="rect">
              <a:avLst/>
            </a:prstGeom>
            <a:noFill/>
          </p:spPr>
          <p:txBody>
            <a:bodyPr wrap="square" rtlCol="0">
              <a:spAutoFit/>
            </a:bodyPr>
            <a:lstStyle/>
            <a:p>
              <a:pPr algn="dist"/>
              <a:r>
                <a:rPr lang="zh-CN" altLang="en-US" sz="1600" dirty="0">
                  <a:solidFill>
                    <a:srgbClr val="A8805C"/>
                  </a:solidFill>
                  <a:latin typeface="微软雅黑" panose="020B0503020204020204" pitchFamily="34" charset="-122"/>
                  <a:ea typeface="微软雅黑" panose="020B0503020204020204" pitchFamily="34" charset="-122"/>
                </a:rPr>
                <a:t>传播现象分析</a:t>
              </a:r>
              <a:endParaRPr lang="zh-CN" altLang="en-US" sz="1600" dirty="0">
                <a:solidFill>
                  <a:srgbClr val="A8805C"/>
                </a:solidFill>
                <a:latin typeface="微软雅黑" panose="020B0503020204020204" pitchFamily="34" charset="-122"/>
                <a:ea typeface="微软雅黑" panose="020B0503020204020204" pitchFamily="34" charset="-122"/>
              </a:endParaRPr>
            </a:p>
          </p:txBody>
        </p:sp>
        <p:sp>
          <p:nvSpPr>
            <p:cNvPr id="34" name="椭圆 33"/>
            <p:cNvSpPr/>
            <p:nvPr/>
          </p:nvSpPr>
          <p:spPr>
            <a:xfrm>
              <a:off x="6172822" y="182948"/>
              <a:ext cx="183448" cy="221219"/>
            </a:xfrm>
            <a:prstGeom prst="ellipse">
              <a:avLst/>
            </a:prstGeom>
            <a:noFill/>
            <a:ln w="19050">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8805C"/>
                </a:solidFill>
                <a:latin typeface="微软雅黑" panose="020B0503020204020204" pitchFamily="34" charset="-122"/>
                <a:ea typeface="微软雅黑" panose="020B0503020204020204" pitchFamily="34" charset="-122"/>
              </a:endParaRPr>
            </a:p>
          </p:txBody>
        </p:sp>
        <p:sp>
          <p:nvSpPr>
            <p:cNvPr id="35" name="矩形 34"/>
            <p:cNvSpPr/>
            <p:nvPr/>
          </p:nvSpPr>
          <p:spPr>
            <a:xfrm>
              <a:off x="2347880" y="2023887"/>
              <a:ext cx="1492916" cy="829945"/>
            </a:xfrm>
            <a:prstGeom prst="rect">
              <a:avLst/>
            </a:prstGeom>
          </p:spPr>
          <p:txBody>
            <a:bodyPr wrap="square">
              <a:spAutoFit/>
            </a:bodyPr>
            <a:lstStyle/>
            <a:p>
              <a:r>
                <a:rPr lang="zh-CN" altLang="en-US" sz="1600" dirty="0">
                  <a:solidFill>
                    <a:srgbClr val="945043"/>
                  </a:solidFill>
                  <a:latin typeface="微软雅黑" panose="020B0503020204020204" pitchFamily="34" charset="-122"/>
                  <a:ea typeface="微软雅黑" panose="020B0503020204020204" pitchFamily="34" charset="-122"/>
                </a:rPr>
                <a:t>爆火的传播现象多理论分析报告</a:t>
              </a:r>
              <a:endParaRPr lang="zh-CN" altLang="en-US" sz="1600" dirty="0">
                <a:solidFill>
                  <a:srgbClr val="945043"/>
                </a:solidFill>
                <a:latin typeface="微软雅黑" panose="020B0503020204020204" pitchFamily="34" charset="-122"/>
                <a:ea typeface="微软雅黑" panose="020B0503020204020204" pitchFamily="34" charset="-122"/>
              </a:endParaRPr>
            </a:p>
          </p:txBody>
        </p:sp>
        <p:pic>
          <p:nvPicPr>
            <p:cNvPr id="47" name="图片 46"/>
            <p:cNvPicPr>
              <a:picLocks noChangeAspect="1"/>
            </p:cNvPicPr>
            <p:nvPr/>
          </p:nvPicPr>
          <p:blipFill>
            <a:blip r:embed="rId2" cstate="screen"/>
            <a:stretch>
              <a:fillRect/>
            </a:stretch>
          </p:blipFill>
          <p:spPr>
            <a:xfrm rot="16438735">
              <a:off x="1325051" y="405946"/>
              <a:ext cx="1161550" cy="983093"/>
            </a:xfrm>
            <a:prstGeom prst="rect">
              <a:avLst/>
            </a:prstGeom>
          </p:spPr>
        </p:pic>
        <p:sp>
          <p:nvSpPr>
            <p:cNvPr id="18" name="文本框 17"/>
            <p:cNvSpPr txBox="1"/>
            <p:nvPr/>
          </p:nvSpPr>
          <p:spPr>
            <a:xfrm>
              <a:off x="2427397" y="91334"/>
              <a:ext cx="1864360" cy="1938020"/>
            </a:xfrm>
            <a:prstGeom prst="rect">
              <a:avLst/>
            </a:prstGeom>
            <a:noFill/>
          </p:spPr>
          <p:txBody>
            <a:bodyPr wrap="square" rtlCol="0">
              <a:spAutoFit/>
            </a:bodyPr>
            <a:lstStyle/>
            <a:p>
              <a:r>
                <a:rPr lang="zh-CN" altLang="en-US" sz="12000" dirty="0">
                  <a:solidFill>
                    <a:srgbClr val="A8805C"/>
                  </a:solidFill>
                  <a:latin typeface="汉仪长美黑简" panose="02010609000101010101" pitchFamily="49" charset="-122"/>
                  <a:ea typeface="汉仪长美黑简" panose="02010609000101010101" pitchFamily="49" charset="-122"/>
                </a:rPr>
                <a:t>给</a:t>
              </a:r>
              <a:endParaRPr lang="zh-CN" altLang="en-US" sz="12000" dirty="0">
                <a:solidFill>
                  <a:srgbClr val="A8805C"/>
                </a:solidFill>
                <a:latin typeface="汉仪长美黑简" panose="02010609000101010101" pitchFamily="49" charset="-122"/>
                <a:ea typeface="汉仪长美黑简" panose="02010609000101010101" pitchFamily="49" charset="-122"/>
              </a:endParaRPr>
            </a:p>
          </p:txBody>
        </p:sp>
      </p:grpSp>
      <p:sp>
        <p:nvSpPr>
          <p:cNvPr id="2" name="文本框 1"/>
          <p:cNvSpPr txBox="1"/>
          <p:nvPr/>
        </p:nvSpPr>
        <p:spPr>
          <a:xfrm>
            <a:off x="6208678" y="3293836"/>
            <a:ext cx="1586893" cy="1219971"/>
          </a:xfrm>
          <a:prstGeom prst="rect">
            <a:avLst/>
          </a:prstGeom>
          <a:noFill/>
        </p:spPr>
        <p:txBody>
          <a:bodyPr wrap="square" rtlCol="0">
            <a:noAutofit/>
          </a:bodyPr>
          <a:p>
            <a:r>
              <a:rPr lang="zh-CN" altLang="en-US" sz="8000" dirty="0">
                <a:solidFill>
                  <a:srgbClr val="945043"/>
                </a:solidFill>
                <a:latin typeface="汉仪长美黑简" panose="02010609000101010101" pitchFamily="49" charset="-122"/>
                <a:ea typeface="汉仪长美黑简" panose="02010609000101010101" pitchFamily="49" charset="-122"/>
              </a:rPr>
              <a:t>的</a:t>
            </a:r>
            <a:endParaRPr lang="en-US" altLang="zh-CN" sz="10000" dirty="0">
              <a:solidFill>
                <a:srgbClr val="945043"/>
              </a:solidFill>
              <a:latin typeface="汉仪长美黑简" panose="02010609000101010101" pitchFamily="49" charset="-122"/>
              <a:ea typeface="汉仪长美黑简" panose="02010609000101010101" pitchFamily="49"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par>
                                <p:cTn id="9" presetID="22" presetClass="entr" presetSubtype="4"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down)">
                                      <p:cBhvr>
                                        <p:cTn id="11"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653143" y="595086"/>
            <a:ext cx="10871200" cy="6067776"/>
          </a:xfrm>
          <a:prstGeom prst="rect">
            <a:avLst/>
          </a:prstGeom>
          <a:noFill/>
          <a:ln w="28575">
            <a:solidFill>
              <a:srgbClr val="BD9C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16" name="图片 15"/>
          <p:cNvPicPr>
            <a:picLocks noChangeAspect="1"/>
          </p:cNvPicPr>
          <p:nvPr/>
        </p:nvPicPr>
        <p:blipFill>
          <a:blip r:embed="rId1" cstate="screen">
            <a:extLst>
              <a:ext uri="{BEBA8EAE-BF5A-486C-A8C5-ECC9F3942E4B}">
                <a14:imgProps xmlns:a14="http://schemas.microsoft.com/office/drawing/2010/main">
                  <a14:imgLayer r:embed="rId2">
                    <a14:imgEffect>
                      <a14:backgroundRemoval t="8969" b="89238" l="3300" r="97500">
                        <a14:foregroundMark x1="3350" y1="29596" x2="16150" y2="72197"/>
                        <a14:foregroundMark x1="16150" y1="72197" x2="50500" y2="24215"/>
                        <a14:foregroundMark x1="50500" y1="24215" x2="54650" y2="42601"/>
                        <a14:foregroundMark x1="54650" y1="42601" x2="72700" y2="17489"/>
                        <a14:foregroundMark x1="72700" y1="17489" x2="87300" y2="49776"/>
                        <a14:foregroundMark x1="87300" y1="49776" x2="91600" y2="42152"/>
                        <a14:foregroundMark x1="91600" y1="42152" x2="91650" y2="42152"/>
                        <a14:foregroundMark x1="3700" y1="35874" x2="5500" y2="39910"/>
                        <a14:foregroundMark x1="95600" y1="39910" x2="97500" y2="52018"/>
                        <a14:foregroundMark x1="45600" y1="15247" x2="45600" y2="15247"/>
                        <a14:foregroundMark x1="45950" y1="14798" x2="45950" y2="14798"/>
                        <a14:foregroundMark x1="46500" y1="14798" x2="46500" y2="14798"/>
                        <a14:foregroundMark x1="65900" y1="13901" x2="65900" y2="13901"/>
                        <a14:foregroundMark x1="59550" y1="14350" x2="59550" y2="14350"/>
                        <a14:foregroundMark x1="73850" y1="14350" x2="73850" y2="14350"/>
                        <a14:foregroundMark x1="87650" y1="14350" x2="87650" y2="14350"/>
                        <a14:foregroundMark x1="79200" y1="13901" x2="79850" y2="15247"/>
                        <a14:foregroundMark x1="93200" y1="13453" x2="94150" y2="14350"/>
                        <a14:foregroundMark x1="51300" y1="13453" x2="52050" y2="13453"/>
                        <a14:foregroundMark x1="23400" y1="16143" x2="24250" y2="16143"/>
                        <a14:foregroundMark x1="31100" y1="16592" x2="32900" y2="19283"/>
                        <a14:foregroundMark x1="31550" y1="15247" x2="32400" y2="16592"/>
                        <a14:foregroundMark x1="37350" y1="16143" x2="38500" y2="17040"/>
                        <a14:foregroundMark x1="3300" y1="16143" x2="4450" y2="17489"/>
                        <a14:foregroundMark x1="17350" y1="17937" x2="19150" y2="17937"/>
                      </a14:backgroundRemoval>
                    </a14:imgEffect>
                  </a14:imgLayer>
                </a14:imgProps>
              </a:ext>
            </a:extLst>
          </a:blip>
          <a:srcRect l="708" b="39985"/>
          <a:stretch>
            <a:fillRect/>
          </a:stretch>
        </p:blipFill>
        <p:spPr>
          <a:xfrm>
            <a:off x="-14514" y="6042152"/>
            <a:ext cx="12206514" cy="815848"/>
          </a:xfrm>
          <a:custGeom>
            <a:avLst/>
            <a:gdLst>
              <a:gd name="connsiteX0" fmla="*/ 0 w 12206514"/>
              <a:gd name="connsiteY0" fmla="*/ 0 h 815848"/>
              <a:gd name="connsiteX1" fmla="*/ 12206514 w 12206514"/>
              <a:gd name="connsiteY1" fmla="*/ 0 h 815848"/>
              <a:gd name="connsiteX2" fmla="*/ 12206514 w 12206514"/>
              <a:gd name="connsiteY2" fmla="*/ 815848 h 815848"/>
              <a:gd name="connsiteX3" fmla="*/ 0 w 12206514"/>
              <a:gd name="connsiteY3" fmla="*/ 815848 h 815848"/>
            </a:gdLst>
            <a:ahLst/>
            <a:cxnLst>
              <a:cxn ang="0">
                <a:pos x="connsiteX0" y="connsiteY0"/>
              </a:cxn>
              <a:cxn ang="0">
                <a:pos x="connsiteX1" y="connsiteY1"/>
              </a:cxn>
              <a:cxn ang="0">
                <a:pos x="connsiteX2" y="connsiteY2"/>
              </a:cxn>
              <a:cxn ang="0">
                <a:pos x="connsiteX3" y="connsiteY3"/>
              </a:cxn>
            </a:cxnLst>
            <a:rect l="l" t="t" r="r" b="b"/>
            <a:pathLst>
              <a:path w="12206514" h="815847">
                <a:moveTo>
                  <a:pt x="0" y="0"/>
                </a:moveTo>
                <a:lnTo>
                  <a:pt x="12206514" y="0"/>
                </a:lnTo>
                <a:lnTo>
                  <a:pt x="12206514" y="815848"/>
                </a:lnTo>
                <a:lnTo>
                  <a:pt x="0" y="815848"/>
                </a:lnTo>
                <a:close/>
              </a:path>
            </a:pathLst>
          </a:custGeom>
        </p:spPr>
      </p:pic>
      <p:sp>
        <p:nvSpPr>
          <p:cNvPr id="17" name="椭圆 16"/>
          <p:cNvSpPr/>
          <p:nvPr/>
        </p:nvSpPr>
        <p:spPr>
          <a:xfrm>
            <a:off x="5465506" y="5406171"/>
            <a:ext cx="187813" cy="18781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cs typeface="+mn-ea"/>
              <a:sym typeface="+mn-lt"/>
            </a:endParaRPr>
          </a:p>
        </p:txBody>
      </p:sp>
      <p:pic>
        <p:nvPicPr>
          <p:cNvPr id="5" name="图片 4"/>
          <p:cNvPicPr>
            <a:picLocks noChangeAspect="1"/>
          </p:cNvPicPr>
          <p:nvPr/>
        </p:nvPicPr>
        <p:blipFill>
          <a:blip r:embed="rId3"/>
          <a:stretch>
            <a:fillRect/>
          </a:stretch>
        </p:blipFill>
        <p:spPr>
          <a:xfrm>
            <a:off x="-1876607" y="1540202"/>
            <a:ext cx="7200900" cy="4800600"/>
          </a:xfrm>
          <a:prstGeom prst="rect">
            <a:avLst/>
          </a:prstGeom>
        </p:spPr>
      </p:pic>
      <p:grpSp>
        <p:nvGrpSpPr>
          <p:cNvPr id="63" name="组合 62"/>
          <p:cNvGrpSpPr/>
          <p:nvPr/>
        </p:nvGrpSpPr>
        <p:grpSpPr>
          <a:xfrm>
            <a:off x="6129510" y="1281334"/>
            <a:ext cx="4877072" cy="3624083"/>
            <a:chOff x="6205710" y="1768637"/>
            <a:chExt cx="4877072" cy="3624083"/>
          </a:xfrm>
        </p:grpSpPr>
        <p:pic>
          <p:nvPicPr>
            <p:cNvPr id="62" name="图片 61"/>
            <p:cNvPicPr>
              <a:picLocks noChangeAspect="1"/>
            </p:cNvPicPr>
            <p:nvPr/>
          </p:nvPicPr>
          <p:blipFill>
            <a:blip r:embed="rId4" cstate="screen">
              <a:extLst>
                <a:ext uri="{BEBA8EAE-BF5A-486C-A8C5-ECC9F3942E4B}">
                  <a14:imgProps xmlns:a14="http://schemas.microsoft.com/office/drawing/2010/main">
                    <a14:imgLayer r:embed="rId5">
                      <a14:imgEffect>
                        <a14:backgroundRemoval t="0" b="100000" l="0" r="100000">
                          <a14:foregroundMark x1="0" y1="93258" x2="98864" y2="77528"/>
                        </a14:backgroundRemoval>
                      </a14:imgEffect>
                    </a14:imgLayer>
                  </a14:imgProps>
                </a:ext>
              </a:extLst>
            </a:blip>
            <a:srcRect/>
            <a:stretch>
              <a:fillRect/>
            </a:stretch>
          </p:blipFill>
          <p:spPr>
            <a:xfrm>
              <a:off x="6218300" y="4852720"/>
              <a:ext cx="540000" cy="540000"/>
            </a:xfrm>
            <a:custGeom>
              <a:avLst/>
              <a:gdLst>
                <a:gd name="connsiteX0" fmla="*/ 270000 w 540000"/>
                <a:gd name="connsiteY0" fmla="*/ 0 h 540000"/>
                <a:gd name="connsiteX1" fmla="*/ 540000 w 540000"/>
                <a:gd name="connsiteY1" fmla="*/ 270000 h 540000"/>
                <a:gd name="connsiteX2" fmla="*/ 270000 w 540000"/>
                <a:gd name="connsiteY2" fmla="*/ 540000 h 540000"/>
                <a:gd name="connsiteX3" fmla="*/ 0 w 540000"/>
                <a:gd name="connsiteY3" fmla="*/ 270000 h 540000"/>
                <a:gd name="connsiteX4" fmla="*/ 270000 w 540000"/>
                <a:gd name="connsiteY4" fmla="*/ 0 h 5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540000">
                  <a:moveTo>
                    <a:pt x="270000" y="0"/>
                  </a:moveTo>
                  <a:cubicBezTo>
                    <a:pt x="419117" y="0"/>
                    <a:pt x="540000" y="120883"/>
                    <a:pt x="540000" y="270000"/>
                  </a:cubicBezTo>
                  <a:cubicBezTo>
                    <a:pt x="540000" y="419117"/>
                    <a:pt x="419117" y="540000"/>
                    <a:pt x="270000" y="540000"/>
                  </a:cubicBezTo>
                  <a:cubicBezTo>
                    <a:pt x="120883" y="540000"/>
                    <a:pt x="0" y="419117"/>
                    <a:pt x="0" y="270000"/>
                  </a:cubicBezTo>
                  <a:cubicBezTo>
                    <a:pt x="0" y="120883"/>
                    <a:pt x="120883" y="0"/>
                    <a:pt x="270000" y="0"/>
                  </a:cubicBezTo>
                  <a:close/>
                </a:path>
              </a:pathLst>
            </a:custGeom>
          </p:spPr>
        </p:pic>
        <p:pic>
          <p:nvPicPr>
            <p:cNvPr id="61" name="图片 60"/>
            <p:cNvPicPr>
              <a:picLocks noChangeAspect="1"/>
            </p:cNvPicPr>
            <p:nvPr/>
          </p:nvPicPr>
          <p:blipFill>
            <a:blip r:embed="rId4" cstate="screen">
              <a:extLst>
                <a:ext uri="{BEBA8EAE-BF5A-486C-A8C5-ECC9F3942E4B}">
                  <a14:imgProps xmlns:a14="http://schemas.microsoft.com/office/drawing/2010/main">
                    <a14:imgLayer r:embed="rId5">
                      <a14:imgEffect>
                        <a14:backgroundRemoval t="0" b="100000" l="0" r="100000">
                          <a14:foregroundMark x1="0" y1="93258" x2="98864" y2="77528"/>
                        </a14:backgroundRemoval>
                      </a14:imgEffect>
                    </a14:imgLayer>
                  </a14:imgProps>
                </a:ext>
              </a:extLst>
            </a:blip>
            <a:srcRect/>
            <a:stretch>
              <a:fillRect/>
            </a:stretch>
          </p:blipFill>
          <p:spPr>
            <a:xfrm>
              <a:off x="6207302" y="3833752"/>
              <a:ext cx="540000" cy="540000"/>
            </a:xfrm>
            <a:custGeom>
              <a:avLst/>
              <a:gdLst>
                <a:gd name="connsiteX0" fmla="*/ 270000 w 540000"/>
                <a:gd name="connsiteY0" fmla="*/ 0 h 540000"/>
                <a:gd name="connsiteX1" fmla="*/ 540000 w 540000"/>
                <a:gd name="connsiteY1" fmla="*/ 270000 h 540000"/>
                <a:gd name="connsiteX2" fmla="*/ 270000 w 540000"/>
                <a:gd name="connsiteY2" fmla="*/ 540000 h 540000"/>
                <a:gd name="connsiteX3" fmla="*/ 0 w 540000"/>
                <a:gd name="connsiteY3" fmla="*/ 270000 h 540000"/>
                <a:gd name="connsiteX4" fmla="*/ 270000 w 540000"/>
                <a:gd name="connsiteY4" fmla="*/ 0 h 5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540000">
                  <a:moveTo>
                    <a:pt x="270000" y="0"/>
                  </a:moveTo>
                  <a:cubicBezTo>
                    <a:pt x="419117" y="0"/>
                    <a:pt x="540000" y="120883"/>
                    <a:pt x="540000" y="270000"/>
                  </a:cubicBezTo>
                  <a:cubicBezTo>
                    <a:pt x="540000" y="419117"/>
                    <a:pt x="419117" y="540000"/>
                    <a:pt x="270000" y="540000"/>
                  </a:cubicBezTo>
                  <a:cubicBezTo>
                    <a:pt x="120883" y="540000"/>
                    <a:pt x="0" y="419117"/>
                    <a:pt x="0" y="270000"/>
                  </a:cubicBezTo>
                  <a:cubicBezTo>
                    <a:pt x="0" y="120883"/>
                    <a:pt x="120883" y="0"/>
                    <a:pt x="270000" y="0"/>
                  </a:cubicBezTo>
                  <a:close/>
                </a:path>
              </a:pathLst>
            </a:custGeom>
          </p:spPr>
        </p:pic>
        <p:pic>
          <p:nvPicPr>
            <p:cNvPr id="60" name="图片 59"/>
            <p:cNvPicPr>
              <a:picLocks noChangeAspect="1"/>
            </p:cNvPicPr>
            <p:nvPr/>
          </p:nvPicPr>
          <p:blipFill>
            <a:blip r:embed="rId4" cstate="screen">
              <a:extLst>
                <a:ext uri="{BEBA8EAE-BF5A-486C-A8C5-ECC9F3942E4B}">
                  <a14:imgProps xmlns:a14="http://schemas.microsoft.com/office/drawing/2010/main">
                    <a14:imgLayer r:embed="rId5">
                      <a14:imgEffect>
                        <a14:backgroundRemoval t="0" b="100000" l="0" r="100000">
                          <a14:foregroundMark x1="0" y1="93258" x2="98864" y2="77528"/>
                        </a14:backgroundRemoval>
                      </a14:imgEffect>
                    </a14:imgLayer>
                  </a14:imgProps>
                </a:ext>
              </a:extLst>
            </a:blip>
            <a:srcRect/>
            <a:stretch>
              <a:fillRect/>
            </a:stretch>
          </p:blipFill>
          <p:spPr>
            <a:xfrm>
              <a:off x="6205710" y="2772621"/>
              <a:ext cx="540000" cy="540000"/>
            </a:xfrm>
            <a:custGeom>
              <a:avLst/>
              <a:gdLst>
                <a:gd name="connsiteX0" fmla="*/ 270000 w 540000"/>
                <a:gd name="connsiteY0" fmla="*/ 0 h 540000"/>
                <a:gd name="connsiteX1" fmla="*/ 540000 w 540000"/>
                <a:gd name="connsiteY1" fmla="*/ 270000 h 540000"/>
                <a:gd name="connsiteX2" fmla="*/ 270000 w 540000"/>
                <a:gd name="connsiteY2" fmla="*/ 540000 h 540000"/>
                <a:gd name="connsiteX3" fmla="*/ 0 w 540000"/>
                <a:gd name="connsiteY3" fmla="*/ 270000 h 540000"/>
                <a:gd name="connsiteX4" fmla="*/ 270000 w 540000"/>
                <a:gd name="connsiteY4" fmla="*/ 0 h 5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540000">
                  <a:moveTo>
                    <a:pt x="270000" y="0"/>
                  </a:moveTo>
                  <a:cubicBezTo>
                    <a:pt x="419117" y="0"/>
                    <a:pt x="540000" y="120883"/>
                    <a:pt x="540000" y="270000"/>
                  </a:cubicBezTo>
                  <a:cubicBezTo>
                    <a:pt x="540000" y="419117"/>
                    <a:pt x="419117" y="540000"/>
                    <a:pt x="270000" y="540000"/>
                  </a:cubicBezTo>
                  <a:cubicBezTo>
                    <a:pt x="120883" y="540000"/>
                    <a:pt x="0" y="419117"/>
                    <a:pt x="0" y="270000"/>
                  </a:cubicBezTo>
                  <a:cubicBezTo>
                    <a:pt x="0" y="120883"/>
                    <a:pt x="120883" y="0"/>
                    <a:pt x="270000" y="0"/>
                  </a:cubicBezTo>
                  <a:close/>
                </a:path>
              </a:pathLst>
            </a:custGeom>
          </p:spPr>
        </p:pic>
        <p:pic>
          <p:nvPicPr>
            <p:cNvPr id="58" name="图片 57"/>
            <p:cNvPicPr>
              <a:picLocks noChangeAspect="1"/>
            </p:cNvPicPr>
            <p:nvPr/>
          </p:nvPicPr>
          <p:blipFill>
            <a:blip r:embed="rId4" cstate="screen">
              <a:extLst>
                <a:ext uri="{BEBA8EAE-BF5A-486C-A8C5-ECC9F3942E4B}">
                  <a14:imgProps xmlns:a14="http://schemas.microsoft.com/office/drawing/2010/main">
                    <a14:imgLayer r:embed="rId5">
                      <a14:imgEffect>
                        <a14:backgroundRemoval t="0" b="100000" l="0" r="100000">
                          <a14:foregroundMark x1="0" y1="93258" x2="98864" y2="77528"/>
                        </a14:backgroundRemoval>
                      </a14:imgEffect>
                    </a14:imgLayer>
                  </a14:imgProps>
                </a:ext>
              </a:extLst>
            </a:blip>
            <a:srcRect/>
            <a:stretch>
              <a:fillRect/>
            </a:stretch>
          </p:blipFill>
          <p:spPr>
            <a:xfrm>
              <a:off x="6212880" y="1786005"/>
              <a:ext cx="540000" cy="540000"/>
            </a:xfrm>
            <a:custGeom>
              <a:avLst/>
              <a:gdLst>
                <a:gd name="connsiteX0" fmla="*/ 270000 w 540000"/>
                <a:gd name="connsiteY0" fmla="*/ 0 h 540000"/>
                <a:gd name="connsiteX1" fmla="*/ 540000 w 540000"/>
                <a:gd name="connsiteY1" fmla="*/ 270000 h 540000"/>
                <a:gd name="connsiteX2" fmla="*/ 270000 w 540000"/>
                <a:gd name="connsiteY2" fmla="*/ 540000 h 540000"/>
                <a:gd name="connsiteX3" fmla="*/ 0 w 540000"/>
                <a:gd name="connsiteY3" fmla="*/ 270000 h 540000"/>
                <a:gd name="connsiteX4" fmla="*/ 270000 w 540000"/>
                <a:gd name="connsiteY4" fmla="*/ 0 h 5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540000">
                  <a:moveTo>
                    <a:pt x="270000" y="0"/>
                  </a:moveTo>
                  <a:cubicBezTo>
                    <a:pt x="419117" y="0"/>
                    <a:pt x="540000" y="120883"/>
                    <a:pt x="540000" y="270000"/>
                  </a:cubicBezTo>
                  <a:cubicBezTo>
                    <a:pt x="540000" y="419117"/>
                    <a:pt x="419117" y="540000"/>
                    <a:pt x="270000" y="540000"/>
                  </a:cubicBezTo>
                  <a:cubicBezTo>
                    <a:pt x="120883" y="540000"/>
                    <a:pt x="0" y="419117"/>
                    <a:pt x="0" y="270000"/>
                  </a:cubicBezTo>
                  <a:cubicBezTo>
                    <a:pt x="0" y="120883"/>
                    <a:pt x="120883" y="0"/>
                    <a:pt x="270000" y="0"/>
                  </a:cubicBezTo>
                  <a:close/>
                </a:path>
              </a:pathLst>
            </a:custGeom>
          </p:spPr>
        </p:pic>
        <p:sp>
          <p:nvSpPr>
            <p:cNvPr id="31" name="文本框 30"/>
            <p:cNvSpPr txBox="1"/>
            <p:nvPr/>
          </p:nvSpPr>
          <p:spPr>
            <a:xfrm>
              <a:off x="6915355" y="1768637"/>
              <a:ext cx="3568315" cy="521970"/>
            </a:xfrm>
            <a:prstGeom prst="rect">
              <a:avLst/>
            </a:prstGeom>
            <a:noFill/>
          </p:spPr>
          <p:txBody>
            <a:bodyPr wrap="square" rtlCol="0">
              <a:spAutoFit/>
            </a:bodyPr>
            <a:lstStyle/>
            <a:p>
              <a:pPr algn="l"/>
              <a:r>
                <a:rPr lang="zh-CN" altLang="en-US" sz="2800" dirty="0">
                  <a:solidFill>
                    <a:srgbClr val="685652"/>
                  </a:solidFill>
                  <a:latin typeface="汉仪长美黑简" panose="02010609000101010101" pitchFamily="49" charset="-122"/>
                  <a:ea typeface="汉仪长美黑简" panose="02010609000101010101" pitchFamily="49" charset="-122"/>
                </a:rPr>
                <a:t>绪论</a:t>
              </a:r>
              <a:endParaRPr lang="zh-CN" altLang="en-US" sz="2800" dirty="0">
                <a:solidFill>
                  <a:srgbClr val="685652"/>
                </a:solidFill>
                <a:latin typeface="汉仪长美黑简" panose="02010609000101010101" pitchFamily="49" charset="-122"/>
                <a:ea typeface="汉仪长美黑简" panose="02010609000101010101" pitchFamily="49" charset="-122"/>
              </a:endParaRPr>
            </a:p>
          </p:txBody>
        </p:sp>
        <p:sp>
          <p:nvSpPr>
            <p:cNvPr id="34" name="文本框 33"/>
            <p:cNvSpPr txBox="1"/>
            <p:nvPr/>
          </p:nvSpPr>
          <p:spPr>
            <a:xfrm>
              <a:off x="6915544" y="2773551"/>
              <a:ext cx="3568315" cy="521970"/>
            </a:xfrm>
            <a:prstGeom prst="rect">
              <a:avLst/>
            </a:prstGeom>
            <a:noFill/>
          </p:spPr>
          <p:txBody>
            <a:bodyPr wrap="square" rtlCol="0">
              <a:spAutoFit/>
            </a:bodyPr>
            <a:lstStyle/>
            <a:p>
              <a:pPr algn="dist"/>
              <a:r>
                <a:rPr lang="zh-CN" altLang="en-US" sz="2800" dirty="0">
                  <a:solidFill>
                    <a:srgbClr val="685652"/>
                  </a:solidFill>
                  <a:latin typeface="汉仪长美黑简" panose="02010609000101010101" pitchFamily="49" charset="-122"/>
                  <a:ea typeface="汉仪长美黑简" panose="02010609000101010101" pitchFamily="49" charset="-122"/>
                </a:rPr>
                <a:t>现象脉络与传播特征</a:t>
              </a:r>
              <a:endParaRPr lang="zh-CN" altLang="en-US" sz="2800" dirty="0">
                <a:solidFill>
                  <a:srgbClr val="685652"/>
                </a:solidFill>
                <a:latin typeface="汉仪长美黑简" panose="02010609000101010101" pitchFamily="49" charset="-122"/>
                <a:ea typeface="汉仪长美黑简" panose="02010609000101010101" pitchFamily="49" charset="-122"/>
              </a:endParaRPr>
            </a:p>
          </p:txBody>
        </p:sp>
        <p:sp>
          <p:nvSpPr>
            <p:cNvPr id="37" name="文本框 36"/>
            <p:cNvSpPr txBox="1"/>
            <p:nvPr/>
          </p:nvSpPr>
          <p:spPr>
            <a:xfrm>
              <a:off x="6915348" y="3820536"/>
              <a:ext cx="4167434" cy="953135"/>
            </a:xfrm>
            <a:prstGeom prst="rect">
              <a:avLst/>
            </a:prstGeom>
            <a:noFill/>
          </p:spPr>
          <p:txBody>
            <a:bodyPr wrap="square" rtlCol="0">
              <a:noAutofit/>
            </a:bodyPr>
            <a:lstStyle/>
            <a:p>
              <a:pPr algn="l"/>
              <a:r>
                <a:rPr lang="zh-CN" altLang="en-US" sz="2800" dirty="0">
                  <a:solidFill>
                    <a:srgbClr val="685652"/>
                  </a:solidFill>
                  <a:latin typeface="汉仪长美黑简" panose="02010609000101010101" pitchFamily="49" charset="-122"/>
                  <a:ea typeface="汉仪长美黑简" panose="02010609000101010101" pitchFamily="49" charset="-122"/>
                </a:rPr>
                <a:t>多理论视角下的深度解析</a:t>
              </a:r>
              <a:endParaRPr lang="zh-CN" altLang="en-US" sz="2800" dirty="0">
                <a:solidFill>
                  <a:srgbClr val="685652"/>
                </a:solidFill>
                <a:latin typeface="汉仪长美黑简" panose="02010609000101010101" pitchFamily="49" charset="-122"/>
                <a:ea typeface="汉仪长美黑简" panose="02010609000101010101" pitchFamily="49" charset="-122"/>
              </a:endParaRPr>
            </a:p>
          </p:txBody>
        </p:sp>
        <p:sp>
          <p:nvSpPr>
            <p:cNvPr id="40" name="文本框 39"/>
            <p:cNvSpPr txBox="1"/>
            <p:nvPr/>
          </p:nvSpPr>
          <p:spPr>
            <a:xfrm>
              <a:off x="6915854" y="4843008"/>
              <a:ext cx="3568315" cy="521970"/>
            </a:xfrm>
            <a:prstGeom prst="rect">
              <a:avLst/>
            </a:prstGeom>
            <a:noFill/>
          </p:spPr>
          <p:txBody>
            <a:bodyPr wrap="square" rtlCol="0">
              <a:spAutoFit/>
            </a:bodyPr>
            <a:lstStyle/>
            <a:p>
              <a:pPr algn="l"/>
              <a:r>
                <a:rPr lang="zh-CN" altLang="en-US" sz="2800" dirty="0">
                  <a:solidFill>
                    <a:srgbClr val="685652"/>
                  </a:solidFill>
                  <a:latin typeface="汉仪长美黑简" panose="02010609000101010101" pitchFamily="49" charset="-122"/>
                  <a:ea typeface="汉仪长美黑简" panose="02010609000101010101" pitchFamily="49" charset="-122"/>
                </a:rPr>
                <a:t>传播隐忧与深层成因</a:t>
              </a:r>
              <a:endParaRPr lang="zh-CN" altLang="en-US" sz="2800" dirty="0">
                <a:solidFill>
                  <a:srgbClr val="685652"/>
                </a:solidFill>
                <a:latin typeface="汉仪长美黑简" panose="02010609000101010101" pitchFamily="49" charset="-122"/>
                <a:ea typeface="汉仪长美黑简" panose="02010609000101010101" pitchFamily="49" charset="-122"/>
              </a:endParaRPr>
            </a:p>
          </p:txBody>
        </p:sp>
        <p:sp>
          <p:nvSpPr>
            <p:cNvPr id="46" name="文本框 45"/>
            <p:cNvSpPr txBox="1"/>
            <p:nvPr/>
          </p:nvSpPr>
          <p:spPr>
            <a:xfrm>
              <a:off x="6251318" y="1831577"/>
              <a:ext cx="1241960" cy="400110"/>
            </a:xfrm>
            <a:prstGeom prst="rect">
              <a:avLst/>
            </a:prstGeom>
            <a:noFill/>
          </p:spPr>
          <p:txBody>
            <a:bodyPr wrap="square" rtlCol="0">
              <a:spAutoFit/>
            </a:bodyPr>
            <a:lstStyle/>
            <a:p>
              <a:r>
                <a:rPr lang="en-US" altLang="zh-CN" sz="2000" b="1" dirty="0">
                  <a:solidFill>
                    <a:schemeClr val="bg1"/>
                  </a:solidFill>
                  <a:latin typeface="微软雅黑" panose="020B0503020204020204" pitchFamily="34" charset="-122"/>
                  <a:ea typeface="微软雅黑" panose="020B0503020204020204" pitchFamily="34" charset="-122"/>
                </a:rPr>
                <a:t>01</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6221564" y="2830036"/>
              <a:ext cx="1241960" cy="400110"/>
            </a:xfrm>
            <a:prstGeom prst="rect">
              <a:avLst/>
            </a:prstGeom>
            <a:noFill/>
          </p:spPr>
          <p:txBody>
            <a:bodyPr wrap="square" rtlCol="0">
              <a:spAutoFit/>
            </a:bodyPr>
            <a:lstStyle/>
            <a:p>
              <a:r>
                <a:rPr lang="en-US" altLang="zh-CN" sz="2000" b="1" dirty="0">
                  <a:solidFill>
                    <a:schemeClr val="bg1"/>
                  </a:solidFill>
                  <a:latin typeface="微软雅黑" panose="020B0503020204020204" pitchFamily="34" charset="-122"/>
                  <a:ea typeface="微软雅黑" panose="020B0503020204020204" pitchFamily="34" charset="-122"/>
                </a:rPr>
                <a:t>02</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8" name="文本框 47"/>
            <p:cNvSpPr txBox="1"/>
            <p:nvPr/>
          </p:nvSpPr>
          <p:spPr>
            <a:xfrm>
              <a:off x="6213944" y="3897000"/>
              <a:ext cx="1241960" cy="400110"/>
            </a:xfrm>
            <a:prstGeom prst="rect">
              <a:avLst/>
            </a:prstGeom>
            <a:noFill/>
          </p:spPr>
          <p:txBody>
            <a:bodyPr wrap="square" rtlCol="0">
              <a:spAutoFit/>
            </a:bodyPr>
            <a:lstStyle/>
            <a:p>
              <a:r>
                <a:rPr lang="en-US" altLang="zh-CN" sz="2000" b="1" dirty="0">
                  <a:solidFill>
                    <a:schemeClr val="bg1"/>
                  </a:solidFill>
                  <a:latin typeface="微软雅黑" panose="020B0503020204020204" pitchFamily="34" charset="-122"/>
                  <a:ea typeface="微软雅黑" panose="020B0503020204020204" pitchFamily="34" charset="-122"/>
                </a:rPr>
                <a:t>03</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6218244" y="4927827"/>
              <a:ext cx="1241960" cy="400110"/>
            </a:xfrm>
            <a:prstGeom prst="rect">
              <a:avLst/>
            </a:prstGeom>
            <a:noFill/>
          </p:spPr>
          <p:txBody>
            <a:bodyPr wrap="square" rtlCol="0">
              <a:spAutoFit/>
            </a:bodyPr>
            <a:lstStyle/>
            <a:p>
              <a:r>
                <a:rPr lang="en-US" altLang="zh-CN" sz="2000" b="1" dirty="0">
                  <a:solidFill>
                    <a:schemeClr val="bg1"/>
                  </a:solidFill>
                  <a:latin typeface="微软雅黑" panose="020B0503020204020204" pitchFamily="34" charset="-122"/>
                  <a:ea typeface="微软雅黑" panose="020B0503020204020204" pitchFamily="34" charset="-122"/>
                </a:rPr>
                <a:t>04</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grpSp>
      <p:grpSp>
        <p:nvGrpSpPr>
          <p:cNvPr id="55" name="组合 54"/>
          <p:cNvGrpSpPr/>
          <p:nvPr/>
        </p:nvGrpSpPr>
        <p:grpSpPr>
          <a:xfrm>
            <a:off x="2449007" y="1604572"/>
            <a:ext cx="3104516" cy="2856127"/>
            <a:chOff x="2238055" y="1098613"/>
            <a:chExt cx="3104516" cy="2856127"/>
          </a:xfrm>
        </p:grpSpPr>
        <p:sp>
          <p:nvSpPr>
            <p:cNvPr id="20" name="弧形 19"/>
            <p:cNvSpPr/>
            <p:nvPr/>
          </p:nvSpPr>
          <p:spPr>
            <a:xfrm>
              <a:off x="2805778" y="1170649"/>
              <a:ext cx="1453403" cy="1453404"/>
            </a:xfrm>
            <a:prstGeom prst="arc">
              <a:avLst>
                <a:gd name="adj1" fmla="val 7207609"/>
                <a:gd name="adj2" fmla="val 19145922"/>
              </a:avLst>
            </a:prstGeom>
            <a:ln w="22225" cap="rnd">
              <a:solidFill>
                <a:srgbClr val="A8805C"/>
              </a:solidFil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cxnSp>
          <p:nvCxnSpPr>
            <p:cNvPr id="28" name="直接连接符 27"/>
            <p:cNvCxnSpPr/>
            <p:nvPr/>
          </p:nvCxnSpPr>
          <p:spPr>
            <a:xfrm flipV="1">
              <a:off x="4386252" y="1853330"/>
              <a:ext cx="441238" cy="441237"/>
            </a:xfrm>
            <a:prstGeom prst="line">
              <a:avLst/>
            </a:prstGeom>
            <a:ln>
              <a:solidFill>
                <a:srgbClr val="A8805C"/>
              </a:solidFill>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flipH="1" flipV="1">
              <a:off x="2238055" y="2762920"/>
              <a:ext cx="777943" cy="1171674"/>
              <a:chOff x="2642874" y="1816140"/>
              <a:chExt cx="819067" cy="1233611"/>
            </a:xfrm>
          </p:grpSpPr>
          <p:cxnSp>
            <p:nvCxnSpPr>
              <p:cNvPr id="24" name="直接连接符 23"/>
              <p:cNvCxnSpPr/>
              <p:nvPr/>
            </p:nvCxnSpPr>
            <p:spPr>
              <a:xfrm flipV="1">
                <a:off x="2698407" y="1816140"/>
                <a:ext cx="763534" cy="763534"/>
              </a:xfrm>
              <a:prstGeom prst="line">
                <a:avLst/>
              </a:prstGeom>
              <a:ln>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2652903" y="2585188"/>
                <a:ext cx="464563" cy="464563"/>
              </a:xfrm>
              <a:prstGeom prst="line">
                <a:avLst/>
              </a:prstGeom>
              <a:ln>
                <a:solidFill>
                  <a:srgbClr val="945043"/>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2642874" y="2544528"/>
                <a:ext cx="75806" cy="75806"/>
              </a:xfrm>
              <a:prstGeom prst="ellipse">
                <a:avLst/>
              </a:prstGeom>
              <a:solidFill>
                <a:srgbClr val="A88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grpSp>
        <p:sp>
          <p:nvSpPr>
            <p:cNvPr id="23" name="文本框 22"/>
            <p:cNvSpPr txBox="1"/>
            <p:nvPr/>
          </p:nvSpPr>
          <p:spPr>
            <a:xfrm>
              <a:off x="3737679" y="3123868"/>
              <a:ext cx="1604892" cy="369332"/>
            </a:xfrm>
            <a:prstGeom prst="rect">
              <a:avLst/>
            </a:prstGeom>
            <a:noFill/>
          </p:spPr>
          <p:txBody>
            <a:bodyPr wrap="square" rtlCol="0">
              <a:spAutoFit/>
            </a:bodyPr>
            <a:lstStyle/>
            <a:p>
              <a:pPr algn="dist"/>
              <a:r>
                <a:rPr lang="en-US" altLang="zh-CN" b="1" dirty="0">
                  <a:solidFill>
                    <a:srgbClr val="A8805C"/>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CONTENTS</a:t>
              </a:r>
              <a:endParaRPr lang="zh-CN" altLang="en-US" b="1" dirty="0">
                <a:solidFill>
                  <a:srgbClr val="A8805C"/>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51" name="椭圆 50"/>
            <p:cNvSpPr/>
            <p:nvPr/>
          </p:nvSpPr>
          <p:spPr>
            <a:xfrm>
              <a:off x="2894927" y="1263193"/>
              <a:ext cx="1275057" cy="1275057"/>
            </a:xfrm>
            <a:prstGeom prst="ellipse">
              <a:avLst/>
            </a:prstGeom>
            <a:noFill/>
            <a:ln>
              <a:solidFill>
                <a:srgbClr val="A8805C"/>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52" name="矩形 51"/>
            <p:cNvSpPr/>
            <p:nvPr/>
          </p:nvSpPr>
          <p:spPr>
            <a:xfrm rot="7949756">
              <a:off x="3131208" y="1868136"/>
              <a:ext cx="1321960" cy="594435"/>
            </a:xfrm>
            <a:prstGeom prst="rect">
              <a:avLst/>
            </a:prstGeom>
            <a:solidFill>
              <a:srgbClr val="FBF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2964354" y="1402706"/>
              <a:ext cx="1200329" cy="2552034"/>
            </a:xfrm>
            <a:prstGeom prst="rect">
              <a:avLst/>
            </a:prstGeom>
            <a:noFill/>
          </p:spPr>
          <p:txBody>
            <a:bodyPr vert="eaVert" wrap="square" rtlCol="0">
              <a:spAutoFit/>
            </a:bodyPr>
            <a:lstStyle/>
            <a:p>
              <a:r>
                <a:rPr lang="zh-CN" altLang="en-US" sz="6600" dirty="0">
                  <a:solidFill>
                    <a:srgbClr val="945043"/>
                  </a:solidFill>
                  <a:latin typeface="汉仪长美黑简" panose="02010609000101010101" pitchFamily="49" charset="-122"/>
                  <a:ea typeface="汉仪长美黑简" panose="02010609000101010101" pitchFamily="49" charset="-122"/>
                  <a:cs typeface="+mn-ea"/>
                  <a:sym typeface="+mn-lt"/>
                </a:rPr>
                <a:t>目</a:t>
              </a:r>
              <a:r>
                <a:rPr lang="zh-CN" altLang="en-US" sz="6600" dirty="0">
                  <a:solidFill>
                    <a:srgbClr val="A8805C"/>
                  </a:solidFill>
                  <a:latin typeface="汉仪长美黑简" panose="02010609000101010101" pitchFamily="49" charset="-122"/>
                  <a:ea typeface="汉仪长美黑简" panose="02010609000101010101" pitchFamily="49" charset="-122"/>
                  <a:cs typeface="+mn-ea"/>
                  <a:sym typeface="+mn-lt"/>
                </a:rPr>
                <a:t>录</a:t>
              </a:r>
              <a:endParaRPr lang="zh-CN" altLang="en-US" sz="6600" dirty="0">
                <a:solidFill>
                  <a:srgbClr val="A8805C"/>
                </a:solidFill>
                <a:latin typeface="汉仪长美黑简" panose="02010609000101010101" pitchFamily="49" charset="-122"/>
                <a:ea typeface="汉仪长美黑简" panose="02010609000101010101" pitchFamily="49" charset="-122"/>
                <a:cs typeface="+mn-ea"/>
                <a:sym typeface="+mn-lt"/>
              </a:endParaRPr>
            </a:p>
          </p:txBody>
        </p:sp>
        <p:cxnSp>
          <p:nvCxnSpPr>
            <p:cNvPr id="27" name="直接连接符 26"/>
            <p:cNvCxnSpPr/>
            <p:nvPr/>
          </p:nvCxnSpPr>
          <p:spPr>
            <a:xfrm flipV="1">
              <a:off x="4429471" y="1098613"/>
              <a:ext cx="725199" cy="725197"/>
            </a:xfrm>
            <a:prstGeom prst="line">
              <a:avLst/>
            </a:prstGeom>
            <a:ln>
              <a:solidFill>
                <a:srgbClr val="945043"/>
              </a:solidFill>
            </a:ln>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4393471" y="1785916"/>
              <a:ext cx="72000" cy="72000"/>
            </a:xfrm>
            <a:prstGeom prst="ellipse">
              <a:avLst/>
            </a:prstGeom>
            <a:solidFill>
              <a:srgbClr val="9450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cs typeface="+mn-ea"/>
                <a:sym typeface="+mn-lt"/>
              </a:endParaRPr>
            </a:p>
          </p:txBody>
        </p:sp>
      </p:grpSp>
      <p:sp>
        <p:nvSpPr>
          <p:cNvPr id="2" name="文本框 1"/>
          <p:cNvSpPr txBox="1"/>
          <p:nvPr/>
        </p:nvSpPr>
        <p:spPr>
          <a:xfrm>
            <a:off x="6863889" y="5239126"/>
            <a:ext cx="3568315" cy="521970"/>
          </a:xfrm>
          <a:prstGeom prst="rect">
            <a:avLst/>
          </a:prstGeom>
          <a:noFill/>
        </p:spPr>
        <p:txBody>
          <a:bodyPr wrap="square" rtlCol="0">
            <a:spAutoFit/>
          </a:bodyPr>
          <a:lstStyle/>
          <a:p>
            <a:pPr algn="l"/>
            <a:r>
              <a:rPr lang="zh-CN" altLang="en-US" sz="2800" dirty="0">
                <a:solidFill>
                  <a:srgbClr val="685652"/>
                </a:solidFill>
                <a:latin typeface="汉仪长美黑简" panose="02010609000101010101" pitchFamily="49" charset="-122"/>
                <a:ea typeface="汉仪长美黑简" panose="02010609000101010101" pitchFamily="49" charset="-122"/>
              </a:rPr>
              <a:t>治理路径与反思</a:t>
            </a:r>
            <a:endParaRPr lang="zh-CN" altLang="en-US" sz="2800" dirty="0">
              <a:solidFill>
                <a:srgbClr val="685652"/>
              </a:solidFill>
              <a:latin typeface="汉仪长美黑简" panose="02010609000101010101" pitchFamily="49" charset="-122"/>
              <a:ea typeface="汉仪长美黑简" panose="02010609000101010101" pitchFamily="49" charset="-122"/>
            </a:endParaRPr>
          </a:p>
        </p:txBody>
      </p:sp>
      <p:pic>
        <p:nvPicPr>
          <p:cNvPr id="4" name="图片 3"/>
          <p:cNvPicPr>
            <a:picLocks noChangeAspect="1"/>
          </p:cNvPicPr>
          <p:nvPr/>
        </p:nvPicPr>
        <p:blipFill>
          <a:blip r:embed="rId4" cstate="screen">
            <a:extLst>
              <a:ext uri="{BEBA8EAE-BF5A-486C-A8C5-ECC9F3942E4B}">
                <a14:imgProps xmlns:a14="http://schemas.microsoft.com/office/drawing/2010/main">
                  <a14:imgLayer r:embed="rId5">
                    <a14:imgEffect>
                      <a14:backgroundRemoval t="0" b="100000" l="0" r="100000">
                        <a14:foregroundMark x1="0" y1="93258" x2="98864" y2="77528"/>
                      </a14:backgroundRemoval>
                    </a14:imgEffect>
                  </a14:imgLayer>
                </a14:imgProps>
              </a:ext>
            </a:extLst>
          </a:blip>
          <a:srcRect/>
          <a:stretch>
            <a:fillRect/>
          </a:stretch>
        </p:blipFill>
        <p:spPr>
          <a:xfrm>
            <a:off x="6142044" y="5239107"/>
            <a:ext cx="540000" cy="540000"/>
          </a:xfrm>
          <a:custGeom>
            <a:avLst/>
            <a:gdLst>
              <a:gd name="connsiteX0" fmla="*/ 270000 w 540000"/>
              <a:gd name="connsiteY0" fmla="*/ 0 h 540000"/>
              <a:gd name="connsiteX1" fmla="*/ 540000 w 540000"/>
              <a:gd name="connsiteY1" fmla="*/ 270000 h 540000"/>
              <a:gd name="connsiteX2" fmla="*/ 270000 w 540000"/>
              <a:gd name="connsiteY2" fmla="*/ 540000 h 540000"/>
              <a:gd name="connsiteX3" fmla="*/ 0 w 540000"/>
              <a:gd name="connsiteY3" fmla="*/ 270000 h 540000"/>
              <a:gd name="connsiteX4" fmla="*/ 270000 w 540000"/>
              <a:gd name="connsiteY4" fmla="*/ 0 h 54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000" h="540000">
                <a:moveTo>
                  <a:pt x="270000" y="0"/>
                </a:moveTo>
                <a:cubicBezTo>
                  <a:pt x="419117" y="0"/>
                  <a:pt x="540000" y="120883"/>
                  <a:pt x="540000" y="270000"/>
                </a:cubicBezTo>
                <a:cubicBezTo>
                  <a:pt x="540000" y="419117"/>
                  <a:pt x="419117" y="540000"/>
                  <a:pt x="270000" y="540000"/>
                </a:cubicBezTo>
                <a:cubicBezTo>
                  <a:pt x="120883" y="540000"/>
                  <a:pt x="0" y="419117"/>
                  <a:pt x="0" y="270000"/>
                </a:cubicBezTo>
                <a:cubicBezTo>
                  <a:pt x="0" y="120883"/>
                  <a:pt x="120883" y="0"/>
                  <a:pt x="270000" y="0"/>
                </a:cubicBezTo>
                <a:close/>
              </a:path>
            </a:pathLst>
          </a:custGeom>
        </p:spPr>
      </p:pic>
      <p:sp>
        <p:nvSpPr>
          <p:cNvPr id="3" name="文本框 2"/>
          <p:cNvSpPr txBox="1"/>
          <p:nvPr/>
        </p:nvSpPr>
        <p:spPr>
          <a:xfrm>
            <a:off x="6175086" y="5309429"/>
            <a:ext cx="1241960" cy="398780"/>
          </a:xfrm>
          <a:prstGeom prst="rect">
            <a:avLst/>
          </a:prstGeom>
          <a:noFill/>
        </p:spPr>
        <p:txBody>
          <a:bodyPr wrap="square" rtlCol="0">
            <a:spAutoFit/>
          </a:bodyPr>
          <a:lstStyle/>
          <a:p>
            <a:r>
              <a:rPr lang="en-US" altLang="zh-CN" sz="2000" b="1" dirty="0">
                <a:solidFill>
                  <a:schemeClr val="bg1"/>
                </a:solidFill>
                <a:latin typeface="微软雅黑" panose="020B0503020204020204" pitchFamily="34" charset="-122"/>
                <a:ea typeface="微软雅黑" panose="020B0503020204020204" pitchFamily="34" charset="-122"/>
              </a:rPr>
              <a:t>0</a:t>
            </a:r>
            <a:r>
              <a:rPr lang="en-US" altLang="zh-CN" sz="20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5</a:t>
            </a:r>
            <a:endParaRPr lang="en-US" altLang="zh-CN">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组合 53"/>
          <p:cNvGrpSpPr/>
          <p:nvPr/>
        </p:nvGrpSpPr>
        <p:grpSpPr>
          <a:xfrm>
            <a:off x="2256550" y="1133037"/>
            <a:ext cx="7706599" cy="4782426"/>
            <a:chOff x="2256550" y="1133037"/>
            <a:chExt cx="7706599" cy="4782426"/>
          </a:xfrm>
        </p:grpSpPr>
        <p:grpSp>
          <p:nvGrpSpPr>
            <p:cNvPr id="44" name="组合 43"/>
            <p:cNvGrpSpPr/>
            <p:nvPr/>
          </p:nvGrpSpPr>
          <p:grpSpPr>
            <a:xfrm>
              <a:off x="2256550" y="1133037"/>
              <a:ext cx="7706599" cy="4782426"/>
              <a:chOff x="2256550" y="1133037"/>
              <a:chExt cx="7706599" cy="4782426"/>
            </a:xfrm>
          </p:grpSpPr>
          <p:pic>
            <p:nvPicPr>
              <p:cNvPr id="37" name="图片 36"/>
              <p:cNvPicPr>
                <a:picLocks noChangeAspect="1"/>
              </p:cNvPicPr>
              <p:nvPr/>
            </p:nvPicPr>
            <p:blipFill>
              <a:blip r:embed="rId1" cstate="screen"/>
              <a:srcRect/>
              <a:stretch>
                <a:fillRect/>
              </a:stretch>
            </p:blipFill>
            <p:spPr>
              <a:xfrm>
                <a:off x="2256550" y="1133037"/>
                <a:ext cx="7706599" cy="4609771"/>
              </a:xfrm>
              <a:custGeom>
                <a:avLst/>
                <a:gdLst>
                  <a:gd name="connsiteX0" fmla="*/ 75384 w 7297898"/>
                  <a:gd name="connsiteY0" fmla="*/ 75384 h 4444795"/>
                  <a:gd name="connsiteX1" fmla="*/ 75384 w 7297898"/>
                  <a:gd name="connsiteY1" fmla="*/ 4369411 h 4444795"/>
                  <a:gd name="connsiteX2" fmla="*/ 7222514 w 7297898"/>
                  <a:gd name="connsiteY2" fmla="*/ 4369411 h 4444795"/>
                  <a:gd name="connsiteX3" fmla="*/ 7222514 w 7297898"/>
                  <a:gd name="connsiteY3" fmla="*/ 75384 h 4444795"/>
                  <a:gd name="connsiteX4" fmla="*/ 0 w 7297898"/>
                  <a:gd name="connsiteY4" fmla="*/ 0 h 4444795"/>
                  <a:gd name="connsiteX5" fmla="*/ 7297898 w 7297898"/>
                  <a:gd name="connsiteY5" fmla="*/ 0 h 4444795"/>
                  <a:gd name="connsiteX6" fmla="*/ 7297898 w 7297898"/>
                  <a:gd name="connsiteY6" fmla="*/ 4444795 h 4444795"/>
                  <a:gd name="connsiteX7" fmla="*/ 0 w 7297898"/>
                  <a:gd name="connsiteY7" fmla="*/ 4444795 h 4444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97898" h="4444795">
                    <a:moveTo>
                      <a:pt x="75384" y="75384"/>
                    </a:moveTo>
                    <a:lnTo>
                      <a:pt x="75384" y="4369411"/>
                    </a:lnTo>
                    <a:lnTo>
                      <a:pt x="7222514" y="4369411"/>
                    </a:lnTo>
                    <a:lnTo>
                      <a:pt x="7222514" y="75384"/>
                    </a:lnTo>
                    <a:close/>
                    <a:moveTo>
                      <a:pt x="0" y="0"/>
                    </a:moveTo>
                    <a:lnTo>
                      <a:pt x="7297898" y="0"/>
                    </a:lnTo>
                    <a:lnTo>
                      <a:pt x="7297898" y="4444795"/>
                    </a:lnTo>
                    <a:lnTo>
                      <a:pt x="0" y="4444795"/>
                    </a:lnTo>
                    <a:close/>
                  </a:path>
                </a:pathLst>
              </a:custGeom>
            </p:spPr>
          </p:pic>
          <p:grpSp>
            <p:nvGrpSpPr>
              <p:cNvPr id="43" name="组合 42"/>
              <p:cNvGrpSpPr/>
              <p:nvPr/>
            </p:nvGrpSpPr>
            <p:grpSpPr>
              <a:xfrm>
                <a:off x="7451839" y="4394025"/>
                <a:ext cx="2488146" cy="1521438"/>
                <a:chOff x="7242289" y="4298775"/>
                <a:chExt cx="2488146" cy="1521438"/>
              </a:xfrm>
            </p:grpSpPr>
            <p:pic>
              <p:nvPicPr>
                <p:cNvPr id="41" name="图片 40"/>
                <p:cNvPicPr>
                  <a:picLocks noChangeAspect="1"/>
                </p:cNvPicPr>
                <p:nvPr/>
              </p:nvPicPr>
              <p:blipFill>
                <a:blip r:embed="rId2" cstate="screen">
                  <a:extLst>
                    <a:ext uri="{BEBA8EAE-BF5A-486C-A8C5-ECC9F3942E4B}">
                      <a14:imgProps xmlns:a14="http://schemas.microsoft.com/office/drawing/2010/main">
                        <a14:imgLayer r:embed="rId3">
                          <a14:imgEffect>
                            <a14:backgroundRemoval t="6641" b="90323" l="2186" r="89930">
                              <a14:foregroundMark x1="7338" y1="26376" x2="4840" y2="66034"/>
                              <a14:foregroundMark x1="67838" y1="89184" x2="70023" y2="90323"/>
                              <a14:foregroundMark x1="2888" y1="44592" x2="3201" y2="72486"/>
                              <a14:foregroundMark x1="2186" y1="50664" x2="2654" y2="58824"/>
                              <a14:foregroundMark x1="5855" y1="30361" x2="9524" y2="20304"/>
                              <a14:foregroundMark x1="21311" y1="9108" x2="27322" y2="6641"/>
                              <a14:foregroundMark x1="29899" y1="10057" x2="35207" y2="10057"/>
                              <a14:backgroundMark x1="3201" y1="17457" x2="3201" y2="27514"/>
                              <a14:backgroundMark x1="9290" y1="16129" x2="12959" y2="12713"/>
                              <a14:backgroundMark x1="12412" y1="9108" x2="20453" y2="5503"/>
                              <a14:backgroundMark x1="21233" y1="3226" x2="23888" y2="2846"/>
                              <a14:backgroundMark x1="21702" y1="4554" x2="24122" y2="4364"/>
                              <a14:backgroundMark x1="26308" y1="2846" x2="27713" y2="3226"/>
                              <a14:backgroundMark x1="26932" y1="1139" x2="29664" y2="3226"/>
                            </a14:backgroundRemoval>
                          </a14:imgEffect>
                        </a14:imgLayer>
                      </a14:imgProps>
                    </a:ext>
                  </a:extLst>
                </a:blip>
                <a:stretch>
                  <a:fillRect/>
                </a:stretch>
              </p:blipFill>
              <p:spPr>
                <a:xfrm flipH="1">
                  <a:off x="7242289" y="4796596"/>
                  <a:ext cx="2488146" cy="1023617"/>
                </a:xfrm>
                <a:custGeom>
                  <a:avLst/>
                  <a:gdLst>
                    <a:gd name="connsiteX0" fmla="*/ 2488146 w 2488146"/>
                    <a:gd name="connsiteY0" fmla="*/ 0 h 1023617"/>
                    <a:gd name="connsiteX1" fmla="*/ 54801 w 2488146"/>
                    <a:gd name="connsiteY1" fmla="*/ 0 h 1023617"/>
                    <a:gd name="connsiteX2" fmla="*/ 54801 w 2488146"/>
                    <a:gd name="connsiteY2" fmla="*/ 1023616 h 1023617"/>
                    <a:gd name="connsiteX3" fmla="*/ 0 w 2488146"/>
                    <a:gd name="connsiteY3" fmla="*/ 1023616 h 1023617"/>
                    <a:gd name="connsiteX4" fmla="*/ 0 w 2488146"/>
                    <a:gd name="connsiteY4" fmla="*/ 1023617 h 1023617"/>
                    <a:gd name="connsiteX5" fmla="*/ 2488146 w 2488146"/>
                    <a:gd name="connsiteY5" fmla="*/ 1023617 h 102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8146" h="1023617">
                      <a:moveTo>
                        <a:pt x="2488146" y="0"/>
                      </a:moveTo>
                      <a:lnTo>
                        <a:pt x="54801" y="0"/>
                      </a:lnTo>
                      <a:lnTo>
                        <a:pt x="54801" y="1023616"/>
                      </a:lnTo>
                      <a:lnTo>
                        <a:pt x="0" y="1023616"/>
                      </a:lnTo>
                      <a:lnTo>
                        <a:pt x="0" y="1023617"/>
                      </a:lnTo>
                      <a:lnTo>
                        <a:pt x="2488146" y="1023617"/>
                      </a:lnTo>
                      <a:close/>
                    </a:path>
                  </a:pathLst>
                </a:custGeom>
              </p:spPr>
            </p:pic>
            <p:pic>
              <p:nvPicPr>
                <p:cNvPr id="42" name="图片 41"/>
                <p:cNvPicPr>
                  <a:picLocks noChangeAspect="1"/>
                </p:cNvPicPr>
                <p:nvPr/>
              </p:nvPicPr>
              <p:blipFill>
                <a:blip r:embed="rId4" cstate="screen"/>
                <a:stretch>
                  <a:fillRect/>
                </a:stretch>
              </p:blipFill>
              <p:spPr>
                <a:xfrm rot="16438735">
                  <a:off x="8313454" y="4359620"/>
                  <a:ext cx="995642" cy="873952"/>
                </a:xfrm>
                <a:prstGeom prst="rect">
                  <a:avLst/>
                </a:prstGeom>
              </p:spPr>
            </p:pic>
          </p:grpSp>
        </p:grpSp>
        <p:sp>
          <p:nvSpPr>
            <p:cNvPr id="45" name="文本框 44"/>
            <p:cNvSpPr txBox="1"/>
            <p:nvPr/>
          </p:nvSpPr>
          <p:spPr>
            <a:xfrm>
              <a:off x="3900296" y="2955957"/>
              <a:ext cx="4423107" cy="922020"/>
            </a:xfrm>
            <a:prstGeom prst="rect">
              <a:avLst/>
            </a:prstGeom>
            <a:noFill/>
          </p:spPr>
          <p:txBody>
            <a:bodyPr wrap="square" rtlCol="0">
              <a:spAutoFit/>
            </a:bodyPr>
            <a:lstStyle/>
            <a:p>
              <a:pPr algn="ctr"/>
              <a:r>
                <a:rPr lang="zh-CN" altLang="en-US" sz="5400" dirty="0">
                  <a:solidFill>
                    <a:srgbClr val="685652"/>
                  </a:solidFill>
                  <a:latin typeface="汉仪长美黑简" panose="02010609000101010101" pitchFamily="49" charset="-122"/>
                  <a:ea typeface="汉仪长美黑简" panose="02010609000101010101" pitchFamily="49" charset="-122"/>
                </a:rPr>
                <a:t>绪论</a:t>
              </a:r>
              <a:endParaRPr lang="zh-CN" altLang="en-US">
                <a:latin typeface="汉仪长美黑简" panose="02010609000101010101" pitchFamily="49" charset="-122"/>
                <a:ea typeface="汉仪长美黑简" panose="02010609000101010101" pitchFamily="49" charset="-122"/>
              </a:endParaRPr>
            </a:p>
          </p:txBody>
        </p:sp>
        <p:sp>
          <p:nvSpPr>
            <p:cNvPr id="46" name="文本框 45"/>
            <p:cNvSpPr txBox="1"/>
            <p:nvPr/>
          </p:nvSpPr>
          <p:spPr>
            <a:xfrm>
              <a:off x="5129029" y="3803653"/>
              <a:ext cx="2016760" cy="922020"/>
            </a:xfrm>
            <a:prstGeom prst="rect">
              <a:avLst/>
            </a:prstGeom>
            <a:noFill/>
          </p:spPr>
          <p:txBody>
            <a:bodyPr wrap="none" rtlCol="0">
              <a:spAutoFit/>
            </a:bodyPr>
            <a:lstStyle>
              <a:defPPr>
                <a:defRPr lang="zh-CN"/>
              </a:defPPr>
              <a:lvl1pPr algn="dist">
                <a:defRPr sz="2800">
                  <a:solidFill>
                    <a:srgbClr val="685652"/>
                  </a:solidFill>
                  <a:latin typeface="微软雅黑" panose="020B0503020204020204" pitchFamily="34" charset="-122"/>
                  <a:ea typeface="微软雅黑" panose="020B0503020204020204" pitchFamily="34" charset="-122"/>
                </a:defRPr>
              </a:lvl1pPr>
            </a:lstStyle>
            <a:p>
              <a:pPr algn="l"/>
              <a:r>
                <a:rPr lang="zh-CN" altLang="en-US" sz="1800" b="1" dirty="0"/>
                <a:t>互联网深度发展</a:t>
              </a:r>
              <a:endParaRPr lang="zh-CN" altLang="en-US" sz="1800" b="1" dirty="0"/>
            </a:p>
            <a:p>
              <a:pPr algn="l"/>
              <a:r>
                <a:rPr lang="zh-CN" altLang="en-US" sz="1800" b="1" dirty="0"/>
                <a:t>推动文化消费进入</a:t>
              </a:r>
              <a:endParaRPr lang="zh-CN" altLang="en-US" sz="1800" b="1" dirty="0"/>
            </a:p>
            <a:p>
              <a:pPr algn="l"/>
              <a:r>
                <a:rPr lang="zh-CN" altLang="en-US" sz="1800" b="1" dirty="0"/>
                <a:t>“后流量时代”</a:t>
              </a:r>
              <a:endParaRPr lang="zh-CN" altLang="en-US" sz="1800" b="1" dirty="0"/>
            </a:p>
          </p:txBody>
        </p:sp>
        <p:grpSp>
          <p:nvGrpSpPr>
            <p:cNvPr id="53" name="组合 52"/>
            <p:cNvGrpSpPr/>
            <p:nvPr/>
          </p:nvGrpSpPr>
          <p:grpSpPr>
            <a:xfrm>
              <a:off x="5543550" y="1897158"/>
              <a:ext cx="1374008" cy="1219095"/>
              <a:chOff x="5524500" y="1859058"/>
              <a:chExt cx="1374008" cy="1219095"/>
            </a:xfrm>
          </p:grpSpPr>
          <p:pic>
            <p:nvPicPr>
              <p:cNvPr id="52" name="图片 51"/>
              <p:cNvPicPr>
                <a:picLocks noChangeAspect="1"/>
              </p:cNvPicPr>
              <p:nvPr/>
            </p:nvPicPr>
            <p:blipFill>
              <a:blip r:embed="rId5" cstate="screen">
                <a:extLst>
                  <a:ext uri="{BEBA8EAE-BF5A-486C-A8C5-ECC9F3942E4B}">
                    <a14:imgProps xmlns:a14="http://schemas.microsoft.com/office/drawing/2010/main">
                      <a14:imgLayer r:embed="rId6">
                        <a14:imgEffect>
                          <a14:backgroundRemoval t="0" b="100000" l="0" r="85062"/>
                        </a14:imgEffect>
                      </a14:imgLayer>
                    </a14:imgProps>
                  </a:ext>
                </a:extLst>
              </a:blip>
              <a:srcRect/>
              <a:stretch>
                <a:fillRect/>
              </a:stretch>
            </p:blipFill>
            <p:spPr>
              <a:xfrm rot="17712206">
                <a:off x="6237928" y="1891741"/>
                <a:ext cx="693264" cy="627897"/>
              </a:xfrm>
              <a:custGeom>
                <a:avLst/>
                <a:gdLst>
                  <a:gd name="connsiteX0" fmla="*/ 865274 w 865274"/>
                  <a:gd name="connsiteY0" fmla="*/ 41247 h 783688"/>
                  <a:gd name="connsiteX1" fmla="*/ 865274 w 865274"/>
                  <a:gd name="connsiteY1" fmla="*/ 643449 h 783688"/>
                  <a:gd name="connsiteX2" fmla="*/ 334830 w 865274"/>
                  <a:gd name="connsiteY2" fmla="*/ 783688 h 783688"/>
                  <a:gd name="connsiteX3" fmla="*/ 0 w 865274"/>
                  <a:gd name="connsiteY3" fmla="*/ 259958 h 783688"/>
                  <a:gd name="connsiteX4" fmla="*/ 296442 w 865274"/>
                  <a:gd name="connsiteY4" fmla="*/ 120441 h 783688"/>
                  <a:gd name="connsiteX5" fmla="*/ 249497 w 865274"/>
                  <a:gd name="connsiteY5" fmla="*/ 20692 h 783688"/>
                  <a:gd name="connsiteX6" fmla="*/ 343386 w 865274"/>
                  <a:gd name="connsiteY6" fmla="*/ 0 h 78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274" h="783688">
                    <a:moveTo>
                      <a:pt x="865274" y="41247"/>
                    </a:moveTo>
                    <a:lnTo>
                      <a:pt x="865274" y="643449"/>
                    </a:lnTo>
                    <a:lnTo>
                      <a:pt x="334830" y="783688"/>
                    </a:lnTo>
                    <a:lnTo>
                      <a:pt x="0" y="259958"/>
                    </a:lnTo>
                    <a:lnTo>
                      <a:pt x="296442" y="120441"/>
                    </a:lnTo>
                    <a:lnTo>
                      <a:pt x="249497" y="20692"/>
                    </a:lnTo>
                    <a:lnTo>
                      <a:pt x="343386" y="0"/>
                    </a:lnTo>
                    <a:close/>
                  </a:path>
                </a:pathLst>
              </a:custGeom>
            </p:spPr>
          </p:pic>
          <p:sp>
            <p:nvSpPr>
              <p:cNvPr id="49" name="文本框 48"/>
              <p:cNvSpPr txBox="1"/>
              <p:nvPr/>
            </p:nvSpPr>
            <p:spPr>
              <a:xfrm>
                <a:off x="5524500" y="2062490"/>
                <a:ext cx="1187806" cy="1015663"/>
              </a:xfrm>
              <a:prstGeom prst="rect">
                <a:avLst/>
              </a:prstGeom>
              <a:noFill/>
            </p:spPr>
            <p:txBody>
              <a:bodyPr wrap="square" rtlCol="0">
                <a:spAutoFit/>
              </a:bodyPr>
              <a:lstStyle/>
              <a:p>
                <a:r>
                  <a:rPr lang="en-US" altLang="zh-CN" sz="6000" b="1" dirty="0">
                    <a:ln>
                      <a:solidFill>
                        <a:srgbClr val="685652"/>
                      </a:solidFill>
                    </a:ln>
                    <a:solidFill>
                      <a:srgbClr val="AE8867"/>
                    </a:solidFill>
                    <a:latin typeface="微软雅黑" panose="020B0503020204020204" pitchFamily="34" charset="-122"/>
                    <a:ea typeface="微软雅黑" panose="020B0503020204020204" pitchFamily="34" charset="-122"/>
                  </a:rPr>
                  <a:t>01</a:t>
                </a:r>
                <a:endParaRPr lang="zh-CN" altLang="en-US" sz="6000" b="1" dirty="0">
                  <a:ln>
                    <a:solidFill>
                      <a:srgbClr val="685652"/>
                    </a:solidFill>
                  </a:ln>
                  <a:solidFill>
                    <a:srgbClr val="AE8867"/>
                  </a:solidFill>
                  <a:latin typeface="微软雅黑" panose="020B0503020204020204" pitchFamily="34" charset="-122"/>
                  <a:ea typeface="微软雅黑" panose="020B0503020204020204" pitchFamily="34" charset="-122"/>
                </a:endParaRPr>
              </a:p>
            </p:txBody>
          </p:sp>
        </p:grpSp>
      </p:grpSp>
      <p:grpSp>
        <p:nvGrpSpPr>
          <p:cNvPr id="57" name="组合 56"/>
          <p:cNvGrpSpPr/>
          <p:nvPr/>
        </p:nvGrpSpPr>
        <p:grpSpPr>
          <a:xfrm>
            <a:off x="8171003" y="1401833"/>
            <a:ext cx="1506397" cy="2726545"/>
            <a:chOff x="8171003" y="1401833"/>
            <a:chExt cx="1506397" cy="2726545"/>
          </a:xfrm>
        </p:grpSpPr>
        <p:cxnSp>
          <p:nvCxnSpPr>
            <p:cNvPr id="58" name="直接连接符 57"/>
            <p:cNvCxnSpPr/>
            <p:nvPr/>
          </p:nvCxnSpPr>
          <p:spPr>
            <a:xfrm flipH="1">
              <a:off x="9677400" y="1401833"/>
              <a:ext cx="0" cy="2726545"/>
            </a:xfrm>
            <a:prstGeom prst="line">
              <a:avLst/>
            </a:prstGeom>
            <a:ln w="19050">
              <a:solidFill>
                <a:srgbClr val="BD9C7D"/>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8171003" y="1413016"/>
              <a:ext cx="1506397" cy="0"/>
            </a:xfrm>
            <a:prstGeom prst="line">
              <a:avLst/>
            </a:prstGeom>
            <a:ln w="19050">
              <a:solidFill>
                <a:srgbClr val="BD9C7D"/>
              </a:solidFill>
              <a:prstDash val="dash"/>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7"/>
          <a:stretch>
            <a:fillRect/>
          </a:stretch>
        </p:blipFill>
        <p:spPr>
          <a:xfrm>
            <a:off x="-1200825" y="1133040"/>
            <a:ext cx="7200900" cy="48006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l="-20" r="-20"/>
          </a:stretch>
        </a:blipFill>
        <a:effectLst/>
      </p:bgPr>
    </p:bg>
    <p:spTree>
      <p:nvGrpSpPr>
        <p:cNvPr id="1" name=""/>
        <p:cNvGrpSpPr/>
        <p:nvPr/>
      </p:nvGrpSpPr>
      <p:grpSpPr>
        <a:xfrm>
          <a:off x="0" y="0"/>
          <a:ext cx="0" cy="0"/>
          <a:chOff x="0" y="0"/>
          <a:chExt cx="0" cy="0"/>
        </a:xfrm>
      </p:grpSpPr>
      <p:sp>
        <p:nvSpPr>
          <p:cNvPr id="3" name="矩形 2"/>
          <p:cNvSpPr/>
          <p:nvPr/>
        </p:nvSpPr>
        <p:spPr>
          <a:xfrm>
            <a:off x="400050" y="438150"/>
            <a:ext cx="11391900" cy="6129462"/>
          </a:xfrm>
          <a:prstGeom prst="rect">
            <a:avLst/>
          </a:prstGeom>
          <a:noFill/>
          <a:ln w="28575">
            <a:solidFill>
              <a:srgbClr val="BD9C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6" name="文本框 25"/>
          <p:cNvSpPr txBox="1"/>
          <p:nvPr/>
        </p:nvSpPr>
        <p:spPr>
          <a:xfrm>
            <a:off x="4211212" y="1304904"/>
            <a:ext cx="3892904" cy="147637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b="1" dirty="0">
                <a:solidFill>
                  <a:srgbClr val="685652"/>
                </a:solidFill>
                <a:latin typeface="微软雅黑" panose="020B0503020204020204" pitchFamily="34" charset="-122"/>
                <a:ea typeface="微软雅黑" panose="020B0503020204020204" pitchFamily="34" charset="-122"/>
              </a:rPr>
              <a:t>电影市场长期依赖流量明星与</a:t>
            </a:r>
            <a:r>
              <a:rPr lang="en-US" altLang="zh-CN" b="1" dirty="0">
                <a:solidFill>
                  <a:srgbClr val="685652"/>
                </a:solidFill>
                <a:latin typeface="微软雅黑" panose="020B0503020204020204" pitchFamily="34" charset="-122"/>
                <a:ea typeface="微软雅黑" panose="020B0503020204020204" pitchFamily="34" charset="-122"/>
              </a:rPr>
              <a:t>IP</a:t>
            </a:r>
            <a:r>
              <a:rPr lang="zh-CN" altLang="en-US" b="1" dirty="0">
                <a:solidFill>
                  <a:srgbClr val="685652"/>
                </a:solidFill>
                <a:latin typeface="微软雅黑" panose="020B0503020204020204" pitchFamily="34" charset="-122"/>
                <a:ea typeface="微软雅黑" panose="020B0503020204020204" pitchFamily="34" charset="-122"/>
              </a:rPr>
              <a:t>叙事，同质化严重，观众审美疲劳加剧</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7367078" y="2062321"/>
            <a:ext cx="3714622" cy="147637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b="1" dirty="0">
                <a:solidFill>
                  <a:srgbClr val="685652"/>
                </a:solidFill>
                <a:latin typeface="微软雅黑" panose="020B0503020204020204" pitchFamily="34" charset="-122"/>
                <a:ea typeface="微软雅黑" panose="020B0503020204020204" pitchFamily="34" charset="-122"/>
              </a:rPr>
              <a:t>抖音、小红书等社交平台中出现情感共鸣取代视觉轰炸的传播逻辑</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4211253" y="2935789"/>
            <a:ext cx="5438013" cy="203009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b="1" dirty="0">
                <a:solidFill>
                  <a:srgbClr val="685652"/>
                </a:solidFill>
                <a:latin typeface="微软雅黑" panose="020B0503020204020204" pitchFamily="34" charset="-122"/>
                <a:ea typeface="微软雅黑" panose="020B0503020204020204" pitchFamily="34" charset="-122"/>
              </a:rPr>
              <a:t>2026年五一档，成本仅1400万元、全素人出演、全程潮汕方言的《给阿嬷的情书》上演现象级逆袭</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6071620" y="3718023"/>
            <a:ext cx="5010136" cy="3415030"/>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b="1" dirty="0">
                <a:solidFill>
                  <a:srgbClr val="685652"/>
                </a:solidFill>
                <a:latin typeface="微软雅黑" panose="020B0503020204020204" pitchFamily="34" charset="-122"/>
                <a:ea typeface="微软雅黑" panose="020B0503020204020204" pitchFamily="34" charset="-122"/>
              </a:rPr>
              <a:t>首日排片1.6%、票房377万元，凭借豆瓣9.1分口碑，18天突破5.28亿元，最终剑指17亿元，投资回报率超25倍。这一“三无”影片的爆火，折射出中国本土内容传播的创新性转向</a:t>
            </a:r>
            <a:endParaRPr lang="zh-CN" altLang="en-US" b="1" dirty="0">
              <a:solidFill>
                <a:srgbClr val="685652"/>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02016" y="372414"/>
            <a:ext cx="3279409" cy="932511"/>
            <a:chOff x="502016" y="372414"/>
            <a:chExt cx="3279409" cy="932511"/>
          </a:xfrm>
        </p:grpSpPr>
        <p:sp>
          <p:nvSpPr>
            <p:cNvPr id="11" name="文本框 10"/>
            <p:cNvSpPr txBox="1"/>
            <p:nvPr/>
          </p:nvSpPr>
          <p:spPr>
            <a:xfrm>
              <a:off x="1078698" y="828590"/>
              <a:ext cx="2702324" cy="398780"/>
            </a:xfrm>
            <a:prstGeom prst="rect">
              <a:avLst/>
            </a:prstGeom>
            <a:noFill/>
          </p:spPr>
          <p:txBody>
            <a:bodyPr wrap="square" rtlCol="0">
              <a:spAutoFit/>
            </a:bodyPr>
            <a:lstStyle>
              <a:defPPr>
                <a:defRPr lang="zh-CN"/>
              </a:defPPr>
              <a:lvl1pPr algn="dist">
                <a:defRPr sz="2000">
                  <a:solidFill>
                    <a:srgbClr val="685652"/>
                  </a:solidFill>
                  <a:latin typeface="汉仪长美黑简" panose="02010609000101010101" pitchFamily="49" charset="-122"/>
                  <a:ea typeface="汉仪长美黑简" panose="02010609000101010101" pitchFamily="49" charset="-122"/>
                </a:defRPr>
              </a:lvl1pPr>
            </a:lstStyle>
            <a:p>
              <a:r>
                <a:rPr lang="zh-CN" altLang="en-US" dirty="0">
                  <a:solidFill>
                    <a:srgbClr val="685652"/>
                  </a:solidFill>
                  <a:latin typeface="汉仪长美黑简" charset="0"/>
                  <a:ea typeface="汉仪长美黑简" charset="0"/>
                </a:rPr>
                <a:t>现象解释</a:t>
              </a:r>
              <a:endParaRPr lang="zh-CN" altLang="en-US"/>
            </a:p>
          </p:txBody>
        </p:sp>
        <p:pic>
          <p:nvPicPr>
            <p:cNvPr id="12" name="图片 11" descr="图片包含 桌子, 小, 游戏机, 花瓶&#10;&#10;描述已自动生成"/>
            <p:cNvPicPr>
              <a:picLocks noChangeAspect="1"/>
            </p:cNvPicPr>
            <p:nvPr/>
          </p:nvPicPr>
          <p:blipFill>
            <a:blip r:embed="rId2" cstate="screen">
              <a:extLst>
                <a:ext uri="{BEBA8EAE-BF5A-486C-A8C5-ECC9F3942E4B}">
                  <a14:imgProps xmlns:a14="http://schemas.microsoft.com/office/drawing/2010/main">
                    <a14:imgLayer r:embed="rId3">
                      <a14:imgEffect>
                        <a14:backgroundRemoval t="9934" b="90177" l="9878" r="89970">
                          <a14:foregroundMark x1="21429" y1="28477" x2="32067" y2="36865"/>
                          <a14:foregroundMark x1="32219" y1="25497" x2="32067" y2="24172"/>
                          <a14:foregroundMark x1="28116" y1="39183" x2="32219" y2="39845"/>
                          <a14:foregroundMark x1="19605" y1="34658" x2="20821" y2="34989"/>
                          <a14:foregroundMark x1="53343" y1="32009" x2="54711" y2="32671"/>
                          <a14:foregroundMark x1="59271" y1="42163" x2="61094" y2="43157"/>
                          <a14:foregroundMark x1="63222" y1="32671" x2="63222" y2="32340"/>
                          <a14:foregroundMark x1="50608" y1="90177" x2="51520" y2="89956"/>
                          <a14:foregroundMark x1="36170" y1="40618" x2="38602" y2="43488"/>
                          <a14:foregroundMark x1="43769" y1="49890" x2="44681" y2="50221"/>
                        </a14:backgroundRemoval>
                      </a14:imgEffect>
                    </a14:imgLayer>
                  </a14:imgProps>
                </a:ext>
              </a:extLst>
            </a:blip>
            <a:stretch>
              <a:fillRect/>
            </a:stretch>
          </p:blipFill>
          <p:spPr>
            <a:xfrm>
              <a:off x="502016" y="372414"/>
              <a:ext cx="698926" cy="932511"/>
            </a:xfrm>
            <a:prstGeom prst="rect">
              <a:avLst/>
            </a:prstGeom>
          </p:spPr>
        </p:pic>
        <p:cxnSp>
          <p:nvCxnSpPr>
            <p:cNvPr id="14" name="直接连接符 13"/>
            <p:cNvCxnSpPr/>
            <p:nvPr/>
          </p:nvCxnSpPr>
          <p:spPr>
            <a:xfrm>
              <a:off x="766763" y="1214438"/>
              <a:ext cx="3014662" cy="0"/>
            </a:xfrm>
            <a:prstGeom prst="line">
              <a:avLst/>
            </a:prstGeom>
            <a:ln w="12700">
              <a:solidFill>
                <a:srgbClr val="685652"/>
              </a:solidFill>
            </a:ln>
          </p:spPr>
          <p:style>
            <a:lnRef idx="1">
              <a:schemeClr val="accent1"/>
            </a:lnRef>
            <a:fillRef idx="0">
              <a:schemeClr val="accent1"/>
            </a:fillRef>
            <a:effectRef idx="0">
              <a:schemeClr val="accent1"/>
            </a:effectRef>
            <a:fontRef idx="minor">
              <a:schemeClr val="tx1"/>
            </a:fontRef>
          </p:style>
        </p:cxnSp>
      </p:grpSp>
      <p:sp>
        <p:nvSpPr>
          <p:cNvPr id="5" name="文本框 4"/>
          <p:cNvSpPr txBox="1"/>
          <p:nvPr/>
        </p:nvSpPr>
        <p:spPr>
          <a:xfrm>
            <a:off x="4211253" y="5211477"/>
            <a:ext cx="7101976" cy="147637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r>
              <a:rPr lang="zh-CN" altLang="en-US" b="1" dirty="0">
                <a:solidFill>
                  <a:srgbClr val="685652"/>
                </a:solidFill>
                <a:latin typeface="微软雅黑" panose="020B0503020204020204" pitchFamily="34" charset="-122"/>
                <a:ea typeface="微软雅黑" panose="020B0503020204020204" pitchFamily="34" charset="-122"/>
              </a:rPr>
              <a:t>本文将这一传播现象界定为“高情感浓度、低工业化配置的本土内容，在社交媒体生态中通过口碑裂变与圈层跨越实现的</a:t>
            </a:r>
            <a:endParaRPr lang="zh-CN" altLang="en-US" b="1" dirty="0">
              <a:solidFill>
                <a:srgbClr val="685652"/>
              </a:solidFill>
              <a:latin typeface="微软雅黑" panose="020B0503020204020204" pitchFamily="34" charset="-122"/>
              <a:ea typeface="微软雅黑" panose="020B0503020204020204" pitchFamily="34" charset="-122"/>
            </a:endParaRPr>
          </a:p>
          <a:p>
            <a:pPr algn="ctr"/>
            <a:r>
              <a:rPr lang="zh-CN" altLang="en-US" b="1" dirty="0">
                <a:solidFill>
                  <a:srgbClr val="685652"/>
                </a:solidFill>
                <a:latin typeface="微软雅黑" panose="020B0503020204020204" pitchFamily="34" charset="-122"/>
                <a:ea typeface="微软雅黑" panose="020B0503020204020204" pitchFamily="34" charset="-122"/>
              </a:rPr>
              <a:t>逆袭式传播</a:t>
            </a:r>
            <a:endParaRPr lang="zh-CN" altLang="en-US" b="1" dirty="0">
              <a:solidFill>
                <a:srgbClr val="68565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00050" y="438150"/>
            <a:ext cx="11391900" cy="6129462"/>
          </a:xfrm>
          <a:prstGeom prst="rect">
            <a:avLst/>
          </a:prstGeom>
          <a:noFill/>
          <a:ln w="28575">
            <a:solidFill>
              <a:srgbClr val="BD9C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cstate="screen">
            <a:extLst>
              <a:ext uri="{BEBA8EAE-BF5A-486C-A8C5-ECC9F3942E4B}">
                <a14:imgProps xmlns:a14="http://schemas.microsoft.com/office/drawing/2010/main">
                  <a14:imgLayer r:embed="rId2">
                    <a14:imgEffect>
                      <a14:backgroundRemoval t="8969" b="89238" l="3300" r="97500">
                        <a14:foregroundMark x1="3350" y1="29596" x2="16150" y2="72197"/>
                        <a14:foregroundMark x1="16150" y1="72197" x2="50500" y2="24215"/>
                        <a14:foregroundMark x1="50500" y1="24215" x2="54650" y2="42601"/>
                        <a14:foregroundMark x1="54650" y1="42601" x2="72700" y2="17489"/>
                        <a14:foregroundMark x1="72700" y1="17489" x2="87300" y2="49776"/>
                        <a14:foregroundMark x1="87300" y1="49776" x2="91600" y2="42152"/>
                        <a14:foregroundMark x1="91600" y1="42152" x2="91650" y2="42152"/>
                        <a14:foregroundMark x1="3700" y1="35874" x2="5500" y2="39910"/>
                        <a14:foregroundMark x1="95600" y1="39910" x2="97500" y2="52018"/>
                        <a14:foregroundMark x1="45600" y1="15247" x2="45600" y2="15247"/>
                        <a14:foregroundMark x1="45950" y1="14798" x2="45950" y2="14798"/>
                        <a14:foregroundMark x1="46500" y1="14798" x2="46500" y2="14798"/>
                        <a14:foregroundMark x1="65900" y1="13901" x2="65900" y2="13901"/>
                        <a14:foregroundMark x1="59550" y1="14350" x2="59550" y2="14350"/>
                        <a14:foregroundMark x1="73850" y1="14350" x2="73850" y2="14350"/>
                        <a14:foregroundMark x1="87650" y1="14350" x2="87650" y2="14350"/>
                        <a14:foregroundMark x1="79200" y1="13901" x2="79850" y2="15247"/>
                        <a14:foregroundMark x1="93200" y1="13453" x2="94150" y2="14350"/>
                        <a14:foregroundMark x1="51300" y1="13453" x2="52050" y2="13453"/>
                        <a14:foregroundMark x1="23400" y1="16143" x2="24250" y2="16143"/>
                        <a14:foregroundMark x1="31100" y1="16592" x2="32900" y2="19283"/>
                        <a14:foregroundMark x1="31550" y1="15247" x2="32400" y2="16592"/>
                        <a14:foregroundMark x1="37350" y1="16143" x2="38500" y2="17040"/>
                        <a14:foregroundMark x1="3300" y1="16143" x2="4450" y2="17489"/>
                        <a14:foregroundMark x1="17350" y1="17937" x2="19150" y2="17937"/>
                      </a14:backgroundRemoval>
                    </a14:imgEffect>
                  </a14:imgLayer>
                </a14:imgProps>
              </a:ext>
            </a:extLst>
          </a:blip>
          <a:srcRect l="459" b="58084"/>
          <a:stretch>
            <a:fillRect/>
          </a:stretch>
        </p:blipFill>
        <p:spPr>
          <a:xfrm>
            <a:off x="0" y="6288194"/>
            <a:ext cx="12237156" cy="569806"/>
          </a:xfrm>
          <a:custGeom>
            <a:avLst/>
            <a:gdLst>
              <a:gd name="connsiteX0" fmla="*/ 0 w 12237156"/>
              <a:gd name="connsiteY0" fmla="*/ 0 h 569806"/>
              <a:gd name="connsiteX1" fmla="*/ 12237156 w 12237156"/>
              <a:gd name="connsiteY1" fmla="*/ 0 h 569806"/>
              <a:gd name="connsiteX2" fmla="*/ 12237156 w 12237156"/>
              <a:gd name="connsiteY2" fmla="*/ 569806 h 569806"/>
              <a:gd name="connsiteX3" fmla="*/ 0 w 12237156"/>
              <a:gd name="connsiteY3" fmla="*/ 569806 h 569806"/>
            </a:gdLst>
            <a:ahLst/>
            <a:cxnLst>
              <a:cxn ang="0">
                <a:pos x="connsiteX0" y="connsiteY0"/>
              </a:cxn>
              <a:cxn ang="0">
                <a:pos x="connsiteX1" y="connsiteY1"/>
              </a:cxn>
              <a:cxn ang="0">
                <a:pos x="connsiteX2" y="connsiteY2"/>
              </a:cxn>
              <a:cxn ang="0">
                <a:pos x="connsiteX3" y="connsiteY3"/>
              </a:cxn>
            </a:cxnLst>
            <a:rect l="l" t="t" r="r" b="b"/>
            <a:pathLst>
              <a:path w="12237156" h="569806">
                <a:moveTo>
                  <a:pt x="0" y="0"/>
                </a:moveTo>
                <a:lnTo>
                  <a:pt x="12237156" y="0"/>
                </a:lnTo>
                <a:lnTo>
                  <a:pt x="12237156" y="569806"/>
                </a:lnTo>
                <a:lnTo>
                  <a:pt x="0" y="569806"/>
                </a:lnTo>
                <a:close/>
              </a:path>
            </a:pathLst>
          </a:custGeom>
        </p:spPr>
      </p:pic>
      <p:cxnSp>
        <p:nvCxnSpPr>
          <p:cNvPr id="13" name="直接连接符 12"/>
          <p:cNvCxnSpPr/>
          <p:nvPr/>
        </p:nvCxnSpPr>
        <p:spPr>
          <a:xfrm>
            <a:off x="502041" y="3626607"/>
            <a:ext cx="5810741" cy="0"/>
          </a:xfrm>
          <a:prstGeom prst="line">
            <a:avLst/>
          </a:prstGeom>
          <a:ln w="28575">
            <a:solidFill>
              <a:srgbClr val="A8805C"/>
            </a:solidFill>
          </a:ln>
        </p:spPr>
        <p:style>
          <a:lnRef idx="1">
            <a:schemeClr val="accent1"/>
          </a:lnRef>
          <a:fillRef idx="0">
            <a:schemeClr val="accent1"/>
          </a:fillRef>
          <a:effectRef idx="0">
            <a:schemeClr val="accent1"/>
          </a:effectRef>
          <a:fontRef idx="minor">
            <a:schemeClr val="tx1"/>
          </a:fontRef>
        </p:style>
      </p:cxnSp>
      <p:pic>
        <p:nvPicPr>
          <p:cNvPr id="22" name="图片 21"/>
          <p:cNvPicPr>
            <a:picLocks noChangeAspect="1"/>
          </p:cNvPicPr>
          <p:nvPr/>
        </p:nvPicPr>
        <p:blipFill>
          <a:blip r:embed="rId3" cstate="screen">
            <a:extLst>
              <a:ext uri="{BEBA8EAE-BF5A-486C-A8C5-ECC9F3942E4B}">
                <a14:imgProps xmlns:a14="http://schemas.microsoft.com/office/drawing/2010/main">
                  <a14:imgLayer r:embed="rId4">
                    <a14:imgEffect>
                      <a14:backgroundRemoval t="0" b="100000" l="0" r="100000">
                        <a14:foregroundMark x1="0" y1="66304" x2="88043" y2="98913"/>
                      </a14:backgroundRemoval>
                    </a14:imgEffect>
                  </a14:imgLayer>
                </a14:imgProps>
              </a:ext>
            </a:extLst>
          </a:blip>
          <a:srcRect/>
          <a:stretch>
            <a:fillRect/>
          </a:stretch>
        </p:blipFill>
        <p:spPr>
          <a:xfrm>
            <a:off x="1813939" y="3344056"/>
            <a:ext cx="565018" cy="565018"/>
          </a:xfrm>
          <a:custGeom>
            <a:avLst/>
            <a:gdLst>
              <a:gd name="connsiteX0" fmla="*/ 282509 w 565018"/>
              <a:gd name="connsiteY0" fmla="*/ 0 h 565018"/>
              <a:gd name="connsiteX1" fmla="*/ 565018 w 565018"/>
              <a:gd name="connsiteY1" fmla="*/ 282509 h 565018"/>
              <a:gd name="connsiteX2" fmla="*/ 282509 w 565018"/>
              <a:gd name="connsiteY2" fmla="*/ 565018 h 565018"/>
              <a:gd name="connsiteX3" fmla="*/ 0 w 565018"/>
              <a:gd name="connsiteY3" fmla="*/ 282509 h 565018"/>
              <a:gd name="connsiteX4" fmla="*/ 282509 w 565018"/>
              <a:gd name="connsiteY4" fmla="*/ 0 h 565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018" h="565018">
                <a:moveTo>
                  <a:pt x="282509" y="0"/>
                </a:moveTo>
                <a:cubicBezTo>
                  <a:pt x="438534" y="0"/>
                  <a:pt x="565018" y="126484"/>
                  <a:pt x="565018" y="282509"/>
                </a:cubicBezTo>
                <a:cubicBezTo>
                  <a:pt x="565018" y="438534"/>
                  <a:pt x="438534" y="565018"/>
                  <a:pt x="282509" y="565018"/>
                </a:cubicBezTo>
                <a:cubicBezTo>
                  <a:pt x="126484" y="565018"/>
                  <a:pt x="0" y="438534"/>
                  <a:pt x="0" y="282509"/>
                </a:cubicBezTo>
                <a:cubicBezTo>
                  <a:pt x="0" y="126484"/>
                  <a:pt x="126484" y="0"/>
                  <a:pt x="282509" y="0"/>
                </a:cubicBezTo>
                <a:close/>
              </a:path>
            </a:pathLst>
          </a:custGeom>
        </p:spPr>
      </p:pic>
      <p:pic>
        <p:nvPicPr>
          <p:cNvPr id="25" name="图片 24"/>
          <p:cNvPicPr>
            <a:picLocks noChangeAspect="1"/>
          </p:cNvPicPr>
          <p:nvPr/>
        </p:nvPicPr>
        <p:blipFill>
          <a:blip r:embed="rId5" cstate="screen">
            <a:extLst>
              <a:ext uri="{BEBA8EAE-BF5A-486C-A8C5-ECC9F3942E4B}">
                <a14:imgProps xmlns:a14="http://schemas.microsoft.com/office/drawing/2010/main">
                  <a14:imgLayer r:embed="rId6">
                    <a14:imgEffect>
                      <a14:backgroundRemoval t="0" b="100000" l="0" r="100000">
                        <a14:foregroundMark x1="98913" y1="88172" x2="31522" y2="98925"/>
                      </a14:backgroundRemoval>
                    </a14:imgEffect>
                  </a14:imgLayer>
                </a14:imgProps>
              </a:ext>
            </a:extLst>
          </a:blip>
          <a:srcRect/>
          <a:stretch>
            <a:fillRect/>
          </a:stretch>
        </p:blipFill>
        <p:spPr>
          <a:xfrm>
            <a:off x="3792533" y="3344056"/>
            <a:ext cx="565019" cy="565018"/>
          </a:xfrm>
          <a:custGeom>
            <a:avLst/>
            <a:gdLst>
              <a:gd name="connsiteX0" fmla="*/ 282509 w 565019"/>
              <a:gd name="connsiteY0" fmla="*/ 0 h 565018"/>
              <a:gd name="connsiteX1" fmla="*/ 565019 w 565019"/>
              <a:gd name="connsiteY1" fmla="*/ 282509 h 565018"/>
              <a:gd name="connsiteX2" fmla="*/ 282509 w 565019"/>
              <a:gd name="connsiteY2" fmla="*/ 565018 h 565018"/>
              <a:gd name="connsiteX3" fmla="*/ 0 w 565019"/>
              <a:gd name="connsiteY3" fmla="*/ 282509 h 565018"/>
              <a:gd name="connsiteX4" fmla="*/ 282509 w 565019"/>
              <a:gd name="connsiteY4" fmla="*/ 0 h 565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019" h="565018">
                <a:moveTo>
                  <a:pt x="282509" y="0"/>
                </a:moveTo>
                <a:cubicBezTo>
                  <a:pt x="438534" y="0"/>
                  <a:pt x="565019" y="126484"/>
                  <a:pt x="565019" y="282509"/>
                </a:cubicBezTo>
                <a:cubicBezTo>
                  <a:pt x="565019" y="438534"/>
                  <a:pt x="438534" y="565018"/>
                  <a:pt x="282509" y="565018"/>
                </a:cubicBezTo>
                <a:cubicBezTo>
                  <a:pt x="126484" y="565018"/>
                  <a:pt x="0" y="438534"/>
                  <a:pt x="0" y="282509"/>
                </a:cubicBezTo>
                <a:cubicBezTo>
                  <a:pt x="0" y="126484"/>
                  <a:pt x="126484" y="0"/>
                  <a:pt x="282509" y="0"/>
                </a:cubicBezTo>
                <a:close/>
              </a:path>
            </a:pathLst>
          </a:custGeom>
        </p:spPr>
      </p:pic>
      <p:pic>
        <p:nvPicPr>
          <p:cNvPr id="26" name="图片 25"/>
          <p:cNvPicPr>
            <a:picLocks noChangeAspect="1"/>
          </p:cNvPicPr>
          <p:nvPr/>
        </p:nvPicPr>
        <p:blipFill>
          <a:blip r:embed="rId7" cstate="screen">
            <a:extLst>
              <a:ext uri="{BEBA8EAE-BF5A-486C-A8C5-ECC9F3942E4B}">
                <a14:imgProps xmlns:a14="http://schemas.microsoft.com/office/drawing/2010/main">
                  <a14:imgLayer r:embed="rId8">
                    <a14:imgEffect>
                      <a14:backgroundRemoval t="0" b="100000" l="0" r="100000">
                        <a14:foregroundMark x1="0" y1="54839" x2="98913" y2="39785"/>
                      </a14:backgroundRemoval>
                    </a14:imgEffect>
                  </a14:imgLayer>
                </a14:imgProps>
              </a:ext>
            </a:extLst>
          </a:blip>
          <a:srcRect/>
          <a:stretch>
            <a:fillRect/>
          </a:stretch>
        </p:blipFill>
        <p:spPr>
          <a:xfrm>
            <a:off x="5815227" y="3335175"/>
            <a:ext cx="565018" cy="565018"/>
          </a:xfrm>
          <a:custGeom>
            <a:avLst/>
            <a:gdLst>
              <a:gd name="connsiteX0" fmla="*/ 282509 w 565018"/>
              <a:gd name="connsiteY0" fmla="*/ 0 h 565018"/>
              <a:gd name="connsiteX1" fmla="*/ 565018 w 565018"/>
              <a:gd name="connsiteY1" fmla="*/ 282509 h 565018"/>
              <a:gd name="connsiteX2" fmla="*/ 282509 w 565018"/>
              <a:gd name="connsiteY2" fmla="*/ 565018 h 565018"/>
              <a:gd name="connsiteX3" fmla="*/ 0 w 565018"/>
              <a:gd name="connsiteY3" fmla="*/ 282509 h 565018"/>
              <a:gd name="connsiteX4" fmla="*/ 282509 w 565018"/>
              <a:gd name="connsiteY4" fmla="*/ 0 h 565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018" h="565018">
                <a:moveTo>
                  <a:pt x="282509" y="0"/>
                </a:moveTo>
                <a:cubicBezTo>
                  <a:pt x="438535" y="0"/>
                  <a:pt x="565018" y="126484"/>
                  <a:pt x="565018" y="282509"/>
                </a:cubicBezTo>
                <a:cubicBezTo>
                  <a:pt x="565018" y="438534"/>
                  <a:pt x="438535" y="565018"/>
                  <a:pt x="282509" y="565018"/>
                </a:cubicBezTo>
                <a:cubicBezTo>
                  <a:pt x="126484" y="565018"/>
                  <a:pt x="0" y="438534"/>
                  <a:pt x="0" y="282509"/>
                </a:cubicBezTo>
                <a:cubicBezTo>
                  <a:pt x="0" y="126484"/>
                  <a:pt x="126484" y="0"/>
                  <a:pt x="282509" y="0"/>
                </a:cubicBezTo>
                <a:close/>
              </a:path>
            </a:pathLst>
          </a:custGeom>
        </p:spPr>
      </p:pic>
      <p:sp>
        <p:nvSpPr>
          <p:cNvPr id="12" name="椭圆 11"/>
          <p:cNvSpPr/>
          <p:nvPr/>
        </p:nvSpPr>
        <p:spPr>
          <a:xfrm>
            <a:off x="2007387" y="3541341"/>
            <a:ext cx="180000" cy="1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9" name="椭圆 28"/>
          <p:cNvSpPr/>
          <p:nvPr/>
        </p:nvSpPr>
        <p:spPr>
          <a:xfrm>
            <a:off x="3988489" y="3536565"/>
            <a:ext cx="180000" cy="1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0" name="椭圆 29"/>
          <p:cNvSpPr/>
          <p:nvPr/>
        </p:nvSpPr>
        <p:spPr>
          <a:xfrm>
            <a:off x="6006000" y="3527684"/>
            <a:ext cx="180000" cy="1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33" name="文本框 32"/>
          <p:cNvSpPr txBox="1"/>
          <p:nvPr/>
        </p:nvSpPr>
        <p:spPr>
          <a:xfrm>
            <a:off x="1926253" y="2965895"/>
            <a:ext cx="340443" cy="370878"/>
          </a:xfrm>
          <a:prstGeom prst="rect">
            <a:avLst/>
          </a:prstGeom>
          <a:noFill/>
        </p:spPr>
        <p:txBody>
          <a:bodyPr wrap="square" rtlCol="0">
            <a:noAutofit/>
          </a:bodyPr>
          <a:lstStyle/>
          <a:p>
            <a:r>
              <a:rPr lang="zh-CN" altLang="en-US" dirty="0">
                <a:solidFill>
                  <a:srgbClr val="A8805C"/>
                </a:solidFill>
                <a:latin typeface="微软雅黑" panose="020B0503020204020204" pitchFamily="34" charset="-122"/>
                <a:ea typeface="微软雅黑" panose="020B0503020204020204" pitchFamily="34" charset="-122"/>
              </a:rPr>
              <a:t>1</a:t>
            </a:r>
            <a:endParaRPr lang="zh-CN" altLang="en-US">
              <a:latin typeface="微软雅黑" panose="020B0503020204020204" pitchFamily="34" charset="-122"/>
              <a:ea typeface="微软雅黑" panose="020B0503020204020204" pitchFamily="34" charset="-122"/>
            </a:endParaRPr>
          </a:p>
        </p:txBody>
      </p:sp>
      <p:sp>
        <p:nvSpPr>
          <p:cNvPr id="34" name="文本框 33"/>
          <p:cNvSpPr txBox="1"/>
          <p:nvPr/>
        </p:nvSpPr>
        <p:spPr>
          <a:xfrm>
            <a:off x="3988519" y="3909125"/>
            <a:ext cx="1457675" cy="368300"/>
          </a:xfrm>
          <a:prstGeom prst="rect">
            <a:avLst/>
          </a:prstGeom>
          <a:noFill/>
        </p:spPr>
        <p:txBody>
          <a:bodyPr wrap="square" rtlCol="0">
            <a:spAutoFit/>
          </a:bodyPr>
          <a:lstStyle/>
          <a:p>
            <a:r>
              <a:rPr lang="en-US" altLang="zh-CN" dirty="0">
                <a:solidFill>
                  <a:srgbClr val="A8805C"/>
                </a:solidFill>
                <a:latin typeface="微软雅黑" panose="020B0503020204020204" pitchFamily="34" charset="-122"/>
                <a:ea typeface="微软雅黑" panose="020B0503020204020204" pitchFamily="34" charset="-122"/>
              </a:rPr>
              <a:t>2</a:t>
            </a:r>
            <a:endParaRPr lang="zh-CN" altLang="en-US" dirty="0">
              <a:solidFill>
                <a:srgbClr val="A8805C"/>
              </a:solidFill>
              <a:latin typeface="微软雅黑" panose="020B0503020204020204" pitchFamily="34" charset="-122"/>
              <a:ea typeface="微软雅黑" panose="020B0503020204020204" pitchFamily="34" charset="-122"/>
            </a:endParaRPr>
          </a:p>
        </p:txBody>
      </p:sp>
      <p:sp>
        <p:nvSpPr>
          <p:cNvPr id="35" name="文本框 34"/>
          <p:cNvSpPr txBox="1"/>
          <p:nvPr/>
        </p:nvSpPr>
        <p:spPr>
          <a:xfrm>
            <a:off x="5900465" y="2965895"/>
            <a:ext cx="413271" cy="369570"/>
          </a:xfrm>
          <a:prstGeom prst="rect">
            <a:avLst/>
          </a:prstGeom>
          <a:noFill/>
        </p:spPr>
        <p:txBody>
          <a:bodyPr wrap="square" rtlCol="0">
            <a:noAutofit/>
          </a:bodyPr>
          <a:lstStyle/>
          <a:p>
            <a:r>
              <a:rPr lang="zh-CN" altLang="en-US" dirty="0">
                <a:solidFill>
                  <a:srgbClr val="A8805C"/>
                </a:solidFill>
                <a:latin typeface="微软雅黑" panose="020B0503020204020204" pitchFamily="34" charset="-122"/>
                <a:ea typeface="微软雅黑" panose="020B0503020204020204" pitchFamily="34" charset="-122"/>
              </a:rPr>
              <a:t>3</a:t>
            </a:r>
            <a:endParaRPr lang="zh-CN" altLang="en-US">
              <a:latin typeface="微软雅黑" panose="020B0503020204020204" pitchFamily="34" charset="-122"/>
              <a:ea typeface="微软雅黑" panose="020B0503020204020204" pitchFamily="34" charset="-122"/>
            </a:endParaRPr>
          </a:p>
        </p:txBody>
      </p:sp>
      <p:sp>
        <p:nvSpPr>
          <p:cNvPr id="41" name="文本框 40"/>
          <p:cNvSpPr txBox="1"/>
          <p:nvPr/>
        </p:nvSpPr>
        <p:spPr>
          <a:xfrm>
            <a:off x="1201862" y="4176694"/>
            <a:ext cx="1884264" cy="147637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r>
              <a:rPr lang="zh-CN" altLang="en-US" b="1" dirty="0">
                <a:solidFill>
                  <a:srgbClr val="685652"/>
                </a:solidFill>
                <a:latin typeface="微软雅黑" panose="020B0503020204020204" pitchFamily="34" charset="-122"/>
                <a:ea typeface="微软雅黑" panose="020B0503020204020204" pitchFamily="34" charset="-122"/>
              </a:rPr>
              <a:t>内容上以方言、素人、家庭叙事等“去精致化”符号形成对商业大片的冲击</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5156433" y="4170653"/>
            <a:ext cx="1884264" cy="92202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r>
              <a:rPr lang="zh-CN" altLang="en-US" b="1" dirty="0">
                <a:solidFill>
                  <a:srgbClr val="685652"/>
                </a:solidFill>
                <a:latin typeface="微软雅黑" panose="020B0503020204020204" pitchFamily="34" charset="-122"/>
                <a:ea typeface="微软雅黑" panose="020B0503020204020204" pitchFamily="34" charset="-122"/>
              </a:rPr>
              <a:t>受众互动、二次创作等持续注入传播势能</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7040703" y="1214455"/>
            <a:ext cx="3944728" cy="147637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r>
              <a:rPr lang="zh-CN" altLang="en-US" b="1" dirty="0">
                <a:solidFill>
                  <a:srgbClr val="685652"/>
                </a:solidFill>
                <a:latin typeface="微软雅黑" panose="020B0503020204020204" pitchFamily="34" charset="-122"/>
                <a:ea typeface="微软雅黑" panose="020B0503020204020204" pitchFamily="34" charset="-122"/>
              </a:rPr>
              <a:t>研究整合共情传播、使用与满足、两级传播、沉默螺旋及文化研究等理论</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7632068" y="2001590"/>
            <a:ext cx="3139217" cy="325003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dirty="0">
                <a:solidFill>
                  <a:srgbClr val="685652"/>
                </a:solidFill>
                <a:latin typeface="微软雅黑" panose="020B0503020204020204" pitchFamily="34" charset="-122"/>
                <a:ea typeface="微软雅黑" panose="020B0503020204020204" pitchFamily="34" charset="-122"/>
              </a:rPr>
              <a:t>通过个案追踪与非参与式观察，对豆瓣、抖音、微博、小红书等平台进行话语分析，既验证经典理论的数字时代适用性，也为中小成本内容创作者提供可参照的破圈路径，并辩证揭示口碑极化与创作同质化的潜在风险。</a:t>
            </a:r>
            <a:endParaRPr lang="zh-CN" altLang="en-US" dirty="0">
              <a:solidFill>
                <a:srgbClr val="685652"/>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3144442" y="1687461"/>
            <a:ext cx="1884264" cy="147637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r>
              <a:rPr lang="zh-CN" altLang="en-US" b="1" dirty="0">
                <a:solidFill>
                  <a:srgbClr val="685652"/>
                </a:solidFill>
                <a:latin typeface="微软雅黑" panose="020B0503020204020204" pitchFamily="34" charset="-122"/>
                <a:ea typeface="微软雅黑" panose="020B0503020204020204" pitchFamily="34" charset="-122"/>
              </a:rPr>
              <a:t>播上摒弃前置宣发，依赖观众自发推荐，借助主流媒体背书实现层级跃迁</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078698" y="828590"/>
            <a:ext cx="2702324" cy="398780"/>
          </a:xfrm>
          <a:prstGeom prst="rect">
            <a:avLst/>
          </a:prstGeom>
          <a:noFill/>
        </p:spPr>
        <p:txBody>
          <a:bodyPr wrap="square" rtlCol="0">
            <a:spAutoFit/>
          </a:bodyPr>
          <a:lstStyle>
            <a:defPPr>
              <a:defRPr lang="zh-CN"/>
            </a:defPPr>
            <a:lvl1pPr algn="dist">
              <a:defRPr sz="2000">
                <a:solidFill>
                  <a:srgbClr val="685652"/>
                </a:solidFill>
                <a:latin typeface="汉仪长美黑简" panose="02010609000101010101" pitchFamily="49" charset="-122"/>
                <a:ea typeface="汉仪长美黑简" panose="02010609000101010101" pitchFamily="49" charset="-122"/>
              </a:defRPr>
            </a:lvl1pPr>
          </a:lstStyle>
          <a:p>
            <a:r>
              <a:rPr lang="zh-CN" altLang="en-US" dirty="0">
                <a:solidFill>
                  <a:srgbClr val="685652"/>
                </a:solidFill>
                <a:latin typeface="汉仪长美黑简" charset="0"/>
                <a:ea typeface="汉仪长美黑简" charset="0"/>
              </a:rPr>
              <a:t>传播的核心表现</a:t>
            </a:r>
            <a:endParaRPr lang="zh-CN" altLang="en-US">
              <a:latin typeface="汉仪长美黑简" charset="0"/>
              <a:ea typeface="汉仪长美黑简" charset="0"/>
            </a:endParaRPr>
          </a:p>
        </p:txBody>
      </p:sp>
      <p:pic>
        <p:nvPicPr>
          <p:cNvPr id="15" name="图片 14" descr="图片包含 桌子, 小, 游戏机, 花瓶&#10;&#10;描述已自动生成"/>
          <p:cNvPicPr>
            <a:picLocks noChangeAspect="1"/>
          </p:cNvPicPr>
          <p:nvPr/>
        </p:nvPicPr>
        <p:blipFill>
          <a:blip r:embed="rId9" cstate="screen">
            <a:extLst>
              <a:ext uri="{BEBA8EAE-BF5A-486C-A8C5-ECC9F3942E4B}">
                <a14:imgProps xmlns:a14="http://schemas.microsoft.com/office/drawing/2010/main">
                  <a14:imgLayer r:embed="rId10">
                    <a14:imgEffect>
                      <a14:backgroundRemoval t="9934" b="90177" l="9878" r="89970">
                        <a14:foregroundMark x1="21429" y1="28477" x2="32067" y2="36865"/>
                        <a14:foregroundMark x1="32219" y1="25497" x2="32067" y2="24172"/>
                        <a14:foregroundMark x1="28116" y1="39183" x2="32219" y2="39845"/>
                        <a14:foregroundMark x1="19605" y1="34658" x2="20821" y2="34989"/>
                        <a14:foregroundMark x1="53343" y1="32009" x2="54711" y2="32671"/>
                        <a14:foregroundMark x1="59271" y1="42163" x2="61094" y2="43157"/>
                        <a14:foregroundMark x1="63222" y1="32671" x2="63222" y2="32340"/>
                        <a14:foregroundMark x1="50608" y1="90177" x2="51520" y2="89956"/>
                        <a14:foregroundMark x1="36170" y1="40618" x2="38602" y2="43488"/>
                        <a14:foregroundMark x1="43769" y1="49890" x2="44681" y2="50221"/>
                      </a14:backgroundRemoval>
                    </a14:imgEffect>
                  </a14:imgLayer>
                </a14:imgProps>
              </a:ext>
            </a:extLst>
          </a:blip>
          <a:stretch>
            <a:fillRect/>
          </a:stretch>
        </p:blipFill>
        <p:spPr>
          <a:xfrm>
            <a:off x="502016" y="372414"/>
            <a:ext cx="698926" cy="932511"/>
          </a:xfrm>
          <a:prstGeom prst="rect">
            <a:avLst/>
          </a:prstGeom>
        </p:spPr>
      </p:pic>
      <p:cxnSp>
        <p:nvCxnSpPr>
          <p:cNvPr id="16" name="直接连接符 15"/>
          <p:cNvCxnSpPr/>
          <p:nvPr/>
        </p:nvCxnSpPr>
        <p:spPr>
          <a:xfrm>
            <a:off x="766763" y="1214438"/>
            <a:ext cx="3014662" cy="0"/>
          </a:xfrm>
          <a:prstGeom prst="line">
            <a:avLst/>
          </a:prstGeom>
          <a:ln w="12700">
            <a:solidFill>
              <a:srgbClr val="685652"/>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76144" y="1133037"/>
            <a:ext cx="9587005" cy="4859075"/>
            <a:chOff x="376144" y="1133037"/>
            <a:chExt cx="9587005" cy="4859075"/>
          </a:xfrm>
        </p:grpSpPr>
        <p:grpSp>
          <p:nvGrpSpPr>
            <p:cNvPr id="9" name="组合 8"/>
            <p:cNvGrpSpPr/>
            <p:nvPr/>
          </p:nvGrpSpPr>
          <p:grpSpPr>
            <a:xfrm>
              <a:off x="376144" y="1133037"/>
              <a:ext cx="9587005" cy="4859075"/>
              <a:chOff x="376144" y="1133037"/>
              <a:chExt cx="9587005" cy="4859075"/>
            </a:xfrm>
          </p:grpSpPr>
          <p:pic>
            <p:nvPicPr>
              <p:cNvPr id="15" name="图片 14"/>
              <p:cNvPicPr>
                <a:picLocks noChangeAspect="1"/>
              </p:cNvPicPr>
              <p:nvPr/>
            </p:nvPicPr>
            <p:blipFill>
              <a:blip r:embed="rId1" cstate="screen"/>
              <a:srcRect/>
              <a:stretch>
                <a:fillRect/>
              </a:stretch>
            </p:blipFill>
            <p:spPr>
              <a:xfrm>
                <a:off x="2256550" y="1133037"/>
                <a:ext cx="7706599" cy="4609771"/>
              </a:xfrm>
              <a:custGeom>
                <a:avLst/>
                <a:gdLst>
                  <a:gd name="connsiteX0" fmla="*/ 75384 w 7297898"/>
                  <a:gd name="connsiteY0" fmla="*/ 75384 h 4444795"/>
                  <a:gd name="connsiteX1" fmla="*/ 75384 w 7297898"/>
                  <a:gd name="connsiteY1" fmla="*/ 4369411 h 4444795"/>
                  <a:gd name="connsiteX2" fmla="*/ 7222514 w 7297898"/>
                  <a:gd name="connsiteY2" fmla="*/ 4369411 h 4444795"/>
                  <a:gd name="connsiteX3" fmla="*/ 7222514 w 7297898"/>
                  <a:gd name="connsiteY3" fmla="*/ 75384 h 4444795"/>
                  <a:gd name="connsiteX4" fmla="*/ 0 w 7297898"/>
                  <a:gd name="connsiteY4" fmla="*/ 0 h 4444795"/>
                  <a:gd name="connsiteX5" fmla="*/ 7297898 w 7297898"/>
                  <a:gd name="connsiteY5" fmla="*/ 0 h 4444795"/>
                  <a:gd name="connsiteX6" fmla="*/ 7297898 w 7297898"/>
                  <a:gd name="connsiteY6" fmla="*/ 4444795 h 4444795"/>
                  <a:gd name="connsiteX7" fmla="*/ 0 w 7297898"/>
                  <a:gd name="connsiteY7" fmla="*/ 4444795 h 4444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97898" h="4444795">
                    <a:moveTo>
                      <a:pt x="75384" y="75384"/>
                    </a:moveTo>
                    <a:lnTo>
                      <a:pt x="75384" y="4369411"/>
                    </a:lnTo>
                    <a:lnTo>
                      <a:pt x="7222514" y="4369411"/>
                    </a:lnTo>
                    <a:lnTo>
                      <a:pt x="7222514" y="75384"/>
                    </a:lnTo>
                    <a:close/>
                    <a:moveTo>
                      <a:pt x="0" y="0"/>
                    </a:moveTo>
                    <a:lnTo>
                      <a:pt x="7297898" y="0"/>
                    </a:lnTo>
                    <a:lnTo>
                      <a:pt x="7297898" y="4444795"/>
                    </a:lnTo>
                    <a:lnTo>
                      <a:pt x="0" y="4444795"/>
                    </a:lnTo>
                    <a:close/>
                  </a:path>
                </a:pathLst>
              </a:custGeom>
            </p:spPr>
          </p:pic>
          <p:grpSp>
            <p:nvGrpSpPr>
              <p:cNvPr id="16" name="组合 15"/>
              <p:cNvGrpSpPr/>
              <p:nvPr/>
            </p:nvGrpSpPr>
            <p:grpSpPr>
              <a:xfrm>
                <a:off x="376144" y="1382783"/>
                <a:ext cx="5071377" cy="4609329"/>
                <a:chOff x="3448510" y="1555158"/>
                <a:chExt cx="5071377" cy="4444369"/>
              </a:xfrm>
            </p:grpSpPr>
            <p:pic>
              <p:nvPicPr>
                <p:cNvPr id="20" name="图片 19"/>
                <p:cNvPicPr>
                  <a:picLocks noChangeAspect="1"/>
                </p:cNvPicPr>
                <p:nvPr/>
              </p:nvPicPr>
              <p:blipFill>
                <a:blip r:embed="rId2" cstate="screen">
                  <a:extLst>
                    <a:ext uri="{BEBA8EAE-BF5A-486C-A8C5-ECC9F3942E4B}">
                      <a14:imgProps xmlns:a14="http://schemas.microsoft.com/office/drawing/2010/main">
                        <a14:imgLayer r:embed="rId3">
                          <a14:imgEffect>
                            <a14:backgroundRemoval t="0" b="100000" l="0" r="85827"/>
                          </a14:imgEffect>
                        </a14:imgLayer>
                      </a14:imgProps>
                    </a:ext>
                  </a:extLst>
                </a:blip>
                <a:srcRect/>
                <a:stretch>
                  <a:fillRect/>
                </a:stretch>
              </p:blipFill>
              <p:spPr>
                <a:xfrm rot="3887794" flipH="1">
                  <a:off x="3361424" y="2385654"/>
                  <a:ext cx="1553029" cy="1378857"/>
                </a:xfrm>
                <a:custGeom>
                  <a:avLst/>
                  <a:gdLst>
                    <a:gd name="connsiteX0" fmla="*/ 667657 w 1553029"/>
                    <a:gd name="connsiteY0" fmla="*/ 0 h 1378857"/>
                    <a:gd name="connsiteX1" fmla="*/ 1553029 w 1553029"/>
                    <a:gd name="connsiteY1" fmla="*/ 72571 h 1378857"/>
                    <a:gd name="connsiteX2" fmla="*/ 1553029 w 1553029"/>
                    <a:gd name="connsiteY2" fmla="*/ 1132114 h 1378857"/>
                    <a:gd name="connsiteX3" fmla="*/ 653143 w 1553029"/>
                    <a:gd name="connsiteY3" fmla="*/ 1378857 h 1378857"/>
                    <a:gd name="connsiteX4" fmla="*/ 0 w 1553029"/>
                    <a:gd name="connsiteY4" fmla="*/ 319314 h 1378857"/>
                    <a:gd name="connsiteX5" fmla="*/ 159657 w 1553029"/>
                    <a:gd name="connsiteY5" fmla="*/ 116114 h 1378857"/>
                    <a:gd name="connsiteX6" fmla="*/ 667657 w 1553029"/>
                    <a:gd name="connsiteY6" fmla="*/ 0 h 1378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029" h="1378857">
                      <a:moveTo>
                        <a:pt x="667657" y="0"/>
                      </a:moveTo>
                      <a:lnTo>
                        <a:pt x="1553029" y="72571"/>
                      </a:lnTo>
                      <a:lnTo>
                        <a:pt x="1553029" y="1132114"/>
                      </a:lnTo>
                      <a:lnTo>
                        <a:pt x="653143" y="1378857"/>
                      </a:lnTo>
                      <a:lnTo>
                        <a:pt x="0" y="319314"/>
                      </a:lnTo>
                      <a:lnTo>
                        <a:pt x="159657" y="116114"/>
                      </a:lnTo>
                      <a:lnTo>
                        <a:pt x="667657" y="0"/>
                      </a:lnTo>
                      <a:close/>
                    </a:path>
                  </a:pathLst>
                </a:custGeom>
              </p:spPr>
            </p:pic>
            <p:pic>
              <p:nvPicPr>
                <p:cNvPr id="21" name="图片 20"/>
                <p:cNvPicPr>
                  <a:picLocks noChangeAspect="1"/>
                </p:cNvPicPr>
                <p:nvPr/>
              </p:nvPicPr>
              <p:blipFill>
                <a:blip r:embed="rId4" cstate="screen"/>
                <a:stretch>
                  <a:fillRect/>
                </a:stretch>
              </p:blipFill>
              <p:spPr>
                <a:xfrm rot="16438735">
                  <a:off x="4126356" y="2754632"/>
                  <a:ext cx="1478203" cy="1297533"/>
                </a:xfrm>
                <a:prstGeom prst="rect">
                  <a:avLst/>
                </a:prstGeom>
              </p:spPr>
            </p:pic>
            <p:pic>
              <p:nvPicPr>
                <p:cNvPr id="22" name="图片 21"/>
                <p:cNvPicPr>
                  <a:picLocks noChangeAspect="1"/>
                </p:cNvPicPr>
                <p:nvPr/>
              </p:nvPicPr>
              <p:blipFill>
                <a:blip r:embed="rId5">
                  <a:extLst>
                    <a:ext uri="{BEBA8EAE-BF5A-486C-A8C5-ECC9F3942E4B}">
                      <a14:imgProps xmlns:a14="http://schemas.microsoft.com/office/drawing/2010/main">
                        <a14:imgLayer r:embed="rId6">
                          <a14:imgEffect>
                            <a14:backgroundRemoval t="9877" b="93416" l="2315" r="89815">
                              <a14:foregroundMark x1="11111" y1="51852" x2="6327" y2="56516"/>
                              <a14:foregroundMark x1="2623" y1="58711" x2="2315" y2="57750"/>
                              <a14:foregroundMark x1="17593" y1="90123" x2="21296" y2="93416"/>
                              <a14:backgroundMark x1="13580" y1="35254" x2="12191" y2="40055"/>
                              <a14:backgroundMark x1="10648" y1="43759" x2="14352" y2="38546"/>
                            </a14:backgroundRemoval>
                          </a14:imgEffect>
                        </a14:imgLayer>
                      </a14:imgProps>
                    </a:ext>
                  </a:extLst>
                </a:blip>
                <a:stretch>
                  <a:fillRect/>
                </a:stretch>
              </p:blipFill>
              <p:spPr>
                <a:xfrm>
                  <a:off x="4569337" y="1555158"/>
                  <a:ext cx="3950550" cy="4444369"/>
                </a:xfrm>
                <a:prstGeom prst="rect">
                  <a:avLst/>
                </a:prstGeom>
              </p:spPr>
            </p:pic>
          </p:grpSp>
          <p:grpSp>
            <p:nvGrpSpPr>
              <p:cNvPr id="17" name="组合 16"/>
              <p:cNvGrpSpPr/>
              <p:nvPr/>
            </p:nvGrpSpPr>
            <p:grpSpPr>
              <a:xfrm>
                <a:off x="7451839" y="4394025"/>
                <a:ext cx="2488146" cy="1521438"/>
                <a:chOff x="7242289" y="4298775"/>
                <a:chExt cx="2488146" cy="1521438"/>
              </a:xfrm>
            </p:grpSpPr>
            <p:pic>
              <p:nvPicPr>
                <p:cNvPr id="18" name="图片 17"/>
                <p:cNvPicPr>
                  <a:picLocks noChangeAspect="1"/>
                </p:cNvPicPr>
                <p:nvPr/>
              </p:nvPicPr>
              <p:blipFill>
                <a:blip r:embed="rId7" cstate="screen">
                  <a:extLst>
                    <a:ext uri="{BEBA8EAE-BF5A-486C-A8C5-ECC9F3942E4B}">
                      <a14:imgProps xmlns:a14="http://schemas.microsoft.com/office/drawing/2010/main">
                        <a14:imgLayer r:embed="rId8">
                          <a14:imgEffect>
                            <a14:backgroundRemoval t="6641" b="90323" l="2186" r="89930">
                              <a14:foregroundMark x1="7338" y1="26376" x2="4840" y2="66034"/>
                              <a14:foregroundMark x1="67838" y1="89184" x2="70023" y2="90323"/>
                              <a14:foregroundMark x1="2888" y1="44592" x2="3201" y2="72486"/>
                              <a14:foregroundMark x1="2186" y1="50664" x2="2654" y2="58824"/>
                              <a14:foregroundMark x1="5855" y1="30361" x2="9524" y2="20304"/>
                              <a14:foregroundMark x1="21311" y1="9108" x2="27322" y2="6641"/>
                              <a14:foregroundMark x1="29899" y1="10057" x2="35207" y2="10057"/>
                              <a14:backgroundMark x1="3201" y1="17457" x2="3201" y2="27514"/>
                              <a14:backgroundMark x1="9290" y1="16129" x2="12959" y2="12713"/>
                              <a14:backgroundMark x1="12412" y1="9108" x2="20453" y2="5503"/>
                              <a14:backgroundMark x1="21233" y1="3226" x2="23888" y2="2846"/>
                              <a14:backgroundMark x1="21702" y1="4554" x2="24122" y2="4364"/>
                              <a14:backgroundMark x1="26308" y1="2846" x2="27713" y2="3226"/>
                              <a14:backgroundMark x1="26932" y1="1139" x2="29664" y2="3226"/>
                            </a14:backgroundRemoval>
                          </a14:imgEffect>
                        </a14:imgLayer>
                      </a14:imgProps>
                    </a:ext>
                  </a:extLst>
                </a:blip>
                <a:stretch>
                  <a:fillRect/>
                </a:stretch>
              </p:blipFill>
              <p:spPr>
                <a:xfrm flipH="1">
                  <a:off x="7242289" y="4796596"/>
                  <a:ext cx="2488146" cy="1023617"/>
                </a:xfrm>
                <a:custGeom>
                  <a:avLst/>
                  <a:gdLst>
                    <a:gd name="connsiteX0" fmla="*/ 2488146 w 2488146"/>
                    <a:gd name="connsiteY0" fmla="*/ 0 h 1023617"/>
                    <a:gd name="connsiteX1" fmla="*/ 54801 w 2488146"/>
                    <a:gd name="connsiteY1" fmla="*/ 0 h 1023617"/>
                    <a:gd name="connsiteX2" fmla="*/ 54801 w 2488146"/>
                    <a:gd name="connsiteY2" fmla="*/ 1023616 h 1023617"/>
                    <a:gd name="connsiteX3" fmla="*/ 0 w 2488146"/>
                    <a:gd name="connsiteY3" fmla="*/ 1023616 h 1023617"/>
                    <a:gd name="connsiteX4" fmla="*/ 0 w 2488146"/>
                    <a:gd name="connsiteY4" fmla="*/ 1023617 h 1023617"/>
                    <a:gd name="connsiteX5" fmla="*/ 2488146 w 2488146"/>
                    <a:gd name="connsiteY5" fmla="*/ 1023617 h 102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8146" h="1023617">
                      <a:moveTo>
                        <a:pt x="2488146" y="0"/>
                      </a:moveTo>
                      <a:lnTo>
                        <a:pt x="54801" y="0"/>
                      </a:lnTo>
                      <a:lnTo>
                        <a:pt x="54801" y="1023616"/>
                      </a:lnTo>
                      <a:lnTo>
                        <a:pt x="0" y="1023616"/>
                      </a:lnTo>
                      <a:lnTo>
                        <a:pt x="0" y="1023617"/>
                      </a:lnTo>
                      <a:lnTo>
                        <a:pt x="2488146" y="1023617"/>
                      </a:lnTo>
                      <a:close/>
                    </a:path>
                  </a:pathLst>
                </a:custGeom>
              </p:spPr>
            </p:pic>
            <p:pic>
              <p:nvPicPr>
                <p:cNvPr id="19" name="图片 18"/>
                <p:cNvPicPr>
                  <a:picLocks noChangeAspect="1"/>
                </p:cNvPicPr>
                <p:nvPr/>
              </p:nvPicPr>
              <p:blipFill>
                <a:blip r:embed="rId9" cstate="screen"/>
                <a:stretch>
                  <a:fillRect/>
                </a:stretch>
              </p:blipFill>
              <p:spPr>
                <a:xfrm rot="16438735">
                  <a:off x="8313454" y="4359620"/>
                  <a:ext cx="995642" cy="873952"/>
                </a:xfrm>
                <a:prstGeom prst="rect">
                  <a:avLst/>
                </a:prstGeom>
              </p:spPr>
            </p:pic>
          </p:grpSp>
        </p:grpSp>
        <p:sp>
          <p:nvSpPr>
            <p:cNvPr id="10" name="文本框 9"/>
            <p:cNvSpPr txBox="1"/>
            <p:nvPr/>
          </p:nvSpPr>
          <p:spPr>
            <a:xfrm>
              <a:off x="4060061" y="2965942"/>
              <a:ext cx="4423107" cy="1753235"/>
            </a:xfrm>
            <a:prstGeom prst="rect">
              <a:avLst/>
            </a:prstGeom>
            <a:noFill/>
          </p:spPr>
          <p:txBody>
            <a:bodyPr wrap="square" rtlCol="0">
              <a:spAutoFit/>
            </a:bodyPr>
            <a:lstStyle>
              <a:defPPr>
                <a:defRPr lang="zh-CN"/>
              </a:defPPr>
              <a:lvl1pPr algn="dist">
                <a:defRPr sz="5400">
                  <a:solidFill>
                    <a:srgbClr val="685652"/>
                  </a:solidFill>
                  <a:latin typeface="汉仪长美黑简" panose="02010609000101010101" pitchFamily="49" charset="-122"/>
                  <a:ea typeface="汉仪长美黑简" panose="02010609000101010101" pitchFamily="49" charset="-122"/>
                </a:defRPr>
              </a:lvl1pPr>
            </a:lstStyle>
            <a:p>
              <a:pPr algn="ctr"/>
              <a:r>
                <a:rPr lang="zh-CN" altLang="en-US" dirty="0"/>
                <a:t>现象脉络与传播特征</a:t>
              </a:r>
              <a:endParaRPr lang="zh-CN" altLang="en-US" dirty="0"/>
            </a:p>
          </p:txBody>
        </p:sp>
        <p:grpSp>
          <p:nvGrpSpPr>
            <p:cNvPr id="12" name="组合 11"/>
            <p:cNvGrpSpPr/>
            <p:nvPr/>
          </p:nvGrpSpPr>
          <p:grpSpPr>
            <a:xfrm>
              <a:off x="5543550" y="1878108"/>
              <a:ext cx="1431158" cy="1238145"/>
              <a:chOff x="5524500" y="1840008"/>
              <a:chExt cx="1431158" cy="1238145"/>
            </a:xfrm>
          </p:grpSpPr>
          <p:pic>
            <p:nvPicPr>
              <p:cNvPr id="13" name="图片 12"/>
              <p:cNvPicPr>
                <a:picLocks noChangeAspect="1"/>
              </p:cNvPicPr>
              <p:nvPr/>
            </p:nvPicPr>
            <p:blipFill>
              <a:blip r:embed="rId10" cstate="screen">
                <a:extLst>
                  <a:ext uri="{BEBA8EAE-BF5A-486C-A8C5-ECC9F3942E4B}">
                    <a14:imgProps xmlns:a14="http://schemas.microsoft.com/office/drawing/2010/main">
                      <a14:imgLayer r:embed="rId11">
                        <a14:imgEffect>
                          <a14:backgroundRemoval t="0" b="100000" l="0" r="85062"/>
                        </a14:imgEffect>
                      </a14:imgLayer>
                    </a14:imgProps>
                  </a:ext>
                </a:extLst>
              </a:blip>
              <a:srcRect/>
              <a:stretch>
                <a:fillRect/>
              </a:stretch>
            </p:blipFill>
            <p:spPr>
              <a:xfrm rot="17712206">
                <a:off x="6295078" y="1872691"/>
                <a:ext cx="693264" cy="627897"/>
              </a:xfrm>
              <a:custGeom>
                <a:avLst/>
                <a:gdLst>
                  <a:gd name="connsiteX0" fmla="*/ 865274 w 865274"/>
                  <a:gd name="connsiteY0" fmla="*/ 41247 h 783688"/>
                  <a:gd name="connsiteX1" fmla="*/ 865274 w 865274"/>
                  <a:gd name="connsiteY1" fmla="*/ 643449 h 783688"/>
                  <a:gd name="connsiteX2" fmla="*/ 334830 w 865274"/>
                  <a:gd name="connsiteY2" fmla="*/ 783688 h 783688"/>
                  <a:gd name="connsiteX3" fmla="*/ 0 w 865274"/>
                  <a:gd name="connsiteY3" fmla="*/ 259958 h 783688"/>
                  <a:gd name="connsiteX4" fmla="*/ 296442 w 865274"/>
                  <a:gd name="connsiteY4" fmla="*/ 120441 h 783688"/>
                  <a:gd name="connsiteX5" fmla="*/ 249497 w 865274"/>
                  <a:gd name="connsiteY5" fmla="*/ 20692 h 783688"/>
                  <a:gd name="connsiteX6" fmla="*/ 343386 w 865274"/>
                  <a:gd name="connsiteY6" fmla="*/ 0 h 78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274" h="783688">
                    <a:moveTo>
                      <a:pt x="865274" y="41247"/>
                    </a:moveTo>
                    <a:lnTo>
                      <a:pt x="865274" y="643449"/>
                    </a:lnTo>
                    <a:lnTo>
                      <a:pt x="334830" y="783688"/>
                    </a:lnTo>
                    <a:lnTo>
                      <a:pt x="0" y="259958"/>
                    </a:lnTo>
                    <a:lnTo>
                      <a:pt x="296442" y="120441"/>
                    </a:lnTo>
                    <a:lnTo>
                      <a:pt x="249497" y="20692"/>
                    </a:lnTo>
                    <a:lnTo>
                      <a:pt x="343386" y="0"/>
                    </a:lnTo>
                    <a:close/>
                  </a:path>
                </a:pathLst>
              </a:custGeom>
            </p:spPr>
          </p:pic>
          <p:sp>
            <p:nvSpPr>
              <p:cNvPr id="14" name="文本框 13"/>
              <p:cNvSpPr txBox="1"/>
              <p:nvPr/>
            </p:nvSpPr>
            <p:spPr>
              <a:xfrm>
                <a:off x="5524500" y="2062490"/>
                <a:ext cx="1187806" cy="1015663"/>
              </a:xfrm>
              <a:prstGeom prst="rect">
                <a:avLst/>
              </a:prstGeom>
              <a:noFill/>
            </p:spPr>
            <p:txBody>
              <a:bodyPr wrap="square" rtlCol="0">
                <a:spAutoFit/>
              </a:bodyPr>
              <a:lstStyle/>
              <a:p>
                <a:r>
                  <a:rPr lang="en-US" altLang="zh-CN" sz="6000" b="1" dirty="0">
                    <a:ln>
                      <a:solidFill>
                        <a:srgbClr val="685652"/>
                      </a:solidFill>
                    </a:ln>
                    <a:solidFill>
                      <a:srgbClr val="AE8867"/>
                    </a:solidFill>
                    <a:latin typeface="微软雅黑" panose="020B0503020204020204" pitchFamily="34" charset="-122"/>
                    <a:ea typeface="微软雅黑" panose="020B0503020204020204" pitchFamily="34" charset="-122"/>
                  </a:rPr>
                  <a:t>02</a:t>
                </a:r>
                <a:endParaRPr lang="zh-CN" altLang="en-US" sz="6000" b="1" dirty="0">
                  <a:ln>
                    <a:solidFill>
                      <a:srgbClr val="685652"/>
                    </a:solidFill>
                  </a:ln>
                  <a:solidFill>
                    <a:srgbClr val="AE8867"/>
                  </a:solidFill>
                  <a:latin typeface="微软雅黑" panose="020B0503020204020204" pitchFamily="34" charset="-122"/>
                  <a:ea typeface="微软雅黑" panose="020B0503020204020204" pitchFamily="34" charset="-122"/>
                </a:endParaRPr>
              </a:p>
            </p:txBody>
          </p:sp>
        </p:grpSp>
      </p:grpSp>
      <p:grpSp>
        <p:nvGrpSpPr>
          <p:cNvPr id="26" name="组合 25"/>
          <p:cNvGrpSpPr/>
          <p:nvPr/>
        </p:nvGrpSpPr>
        <p:grpSpPr>
          <a:xfrm>
            <a:off x="8171003" y="1401833"/>
            <a:ext cx="1506397" cy="2726545"/>
            <a:chOff x="8171003" y="1401833"/>
            <a:chExt cx="1506397" cy="2726545"/>
          </a:xfrm>
        </p:grpSpPr>
        <p:cxnSp>
          <p:nvCxnSpPr>
            <p:cNvPr id="23" name="直接连接符 22"/>
            <p:cNvCxnSpPr/>
            <p:nvPr/>
          </p:nvCxnSpPr>
          <p:spPr>
            <a:xfrm flipH="1">
              <a:off x="9677400" y="1401833"/>
              <a:ext cx="0" cy="2726545"/>
            </a:xfrm>
            <a:prstGeom prst="line">
              <a:avLst/>
            </a:prstGeom>
            <a:ln w="19050">
              <a:solidFill>
                <a:srgbClr val="BD9C7D"/>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8171003" y="1413016"/>
              <a:ext cx="1506397" cy="0"/>
            </a:xfrm>
            <a:prstGeom prst="line">
              <a:avLst/>
            </a:prstGeom>
            <a:ln w="19050">
              <a:solidFill>
                <a:srgbClr val="BD9C7D"/>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00050" y="438150"/>
            <a:ext cx="11391900" cy="6129462"/>
          </a:xfrm>
          <a:prstGeom prst="rect">
            <a:avLst/>
          </a:prstGeom>
          <a:noFill/>
          <a:ln w="28575">
            <a:solidFill>
              <a:srgbClr val="BD9C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cstate="screen">
            <a:extLst>
              <a:ext uri="{BEBA8EAE-BF5A-486C-A8C5-ECC9F3942E4B}">
                <a14:imgProps xmlns:a14="http://schemas.microsoft.com/office/drawing/2010/main">
                  <a14:imgLayer r:embed="rId2">
                    <a14:imgEffect>
                      <a14:backgroundRemoval t="8969" b="89238" l="3300" r="97500">
                        <a14:foregroundMark x1="3350" y1="29596" x2="16150" y2="72197"/>
                        <a14:foregroundMark x1="16150" y1="72197" x2="50500" y2="24215"/>
                        <a14:foregroundMark x1="50500" y1="24215" x2="54650" y2="42601"/>
                        <a14:foregroundMark x1="54650" y1="42601" x2="72700" y2="17489"/>
                        <a14:foregroundMark x1="72700" y1="17489" x2="87300" y2="49776"/>
                        <a14:foregroundMark x1="87300" y1="49776" x2="91600" y2="42152"/>
                        <a14:foregroundMark x1="91600" y1="42152" x2="91650" y2="42152"/>
                        <a14:foregroundMark x1="3700" y1="35874" x2="5500" y2="39910"/>
                        <a14:foregroundMark x1="95600" y1="39910" x2="97500" y2="52018"/>
                        <a14:foregroundMark x1="45600" y1="15247" x2="45600" y2="15247"/>
                        <a14:foregroundMark x1="45950" y1="14798" x2="45950" y2="14798"/>
                        <a14:foregroundMark x1="46500" y1="14798" x2="46500" y2="14798"/>
                        <a14:foregroundMark x1="65900" y1="13901" x2="65900" y2="13901"/>
                        <a14:foregroundMark x1="59550" y1="14350" x2="59550" y2="14350"/>
                        <a14:foregroundMark x1="73850" y1="14350" x2="73850" y2="14350"/>
                        <a14:foregroundMark x1="87650" y1="14350" x2="87650" y2="14350"/>
                        <a14:foregroundMark x1="79200" y1="13901" x2="79850" y2="15247"/>
                        <a14:foregroundMark x1="93200" y1="13453" x2="94150" y2="14350"/>
                        <a14:foregroundMark x1="51300" y1="13453" x2="52050" y2="13453"/>
                        <a14:foregroundMark x1="23400" y1="16143" x2="24250" y2="16143"/>
                        <a14:foregroundMark x1="31100" y1="16592" x2="32900" y2="19283"/>
                        <a14:foregroundMark x1="31550" y1="15247" x2="32400" y2="16592"/>
                        <a14:foregroundMark x1="37350" y1="16143" x2="38500" y2="17040"/>
                        <a14:foregroundMark x1="3300" y1="16143" x2="4450" y2="17489"/>
                        <a14:foregroundMark x1="17350" y1="17937" x2="19150" y2="17937"/>
                      </a14:backgroundRemoval>
                    </a14:imgEffect>
                  </a14:imgLayer>
                </a14:imgProps>
              </a:ext>
            </a:extLst>
          </a:blip>
          <a:srcRect l="459" b="58084"/>
          <a:stretch>
            <a:fillRect/>
          </a:stretch>
        </p:blipFill>
        <p:spPr>
          <a:xfrm>
            <a:off x="0" y="6288194"/>
            <a:ext cx="12237156" cy="569806"/>
          </a:xfrm>
          <a:custGeom>
            <a:avLst/>
            <a:gdLst>
              <a:gd name="connsiteX0" fmla="*/ 0 w 12237156"/>
              <a:gd name="connsiteY0" fmla="*/ 0 h 569806"/>
              <a:gd name="connsiteX1" fmla="*/ 12237156 w 12237156"/>
              <a:gd name="connsiteY1" fmla="*/ 0 h 569806"/>
              <a:gd name="connsiteX2" fmla="*/ 12237156 w 12237156"/>
              <a:gd name="connsiteY2" fmla="*/ 569806 h 569806"/>
              <a:gd name="connsiteX3" fmla="*/ 0 w 12237156"/>
              <a:gd name="connsiteY3" fmla="*/ 569806 h 569806"/>
            </a:gdLst>
            <a:ahLst/>
            <a:cxnLst>
              <a:cxn ang="0">
                <a:pos x="connsiteX0" y="connsiteY0"/>
              </a:cxn>
              <a:cxn ang="0">
                <a:pos x="connsiteX1" y="connsiteY1"/>
              </a:cxn>
              <a:cxn ang="0">
                <a:pos x="connsiteX2" y="connsiteY2"/>
              </a:cxn>
              <a:cxn ang="0">
                <a:pos x="connsiteX3" y="connsiteY3"/>
              </a:cxn>
            </a:cxnLst>
            <a:rect l="l" t="t" r="r" b="b"/>
            <a:pathLst>
              <a:path w="12237156" h="569806">
                <a:moveTo>
                  <a:pt x="0" y="0"/>
                </a:moveTo>
                <a:lnTo>
                  <a:pt x="12237156" y="0"/>
                </a:lnTo>
                <a:lnTo>
                  <a:pt x="12237156" y="569806"/>
                </a:lnTo>
                <a:lnTo>
                  <a:pt x="0" y="569806"/>
                </a:lnTo>
                <a:close/>
              </a:path>
            </a:pathLst>
          </a:custGeom>
        </p:spPr>
      </p:pic>
      <p:cxnSp>
        <p:nvCxnSpPr>
          <p:cNvPr id="15" name="直接连接符 14"/>
          <p:cNvCxnSpPr/>
          <p:nvPr/>
        </p:nvCxnSpPr>
        <p:spPr>
          <a:xfrm>
            <a:off x="5197061" y="1640090"/>
            <a:ext cx="931652" cy="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157120" y="3002288"/>
            <a:ext cx="971594" cy="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5406731" y="4864451"/>
            <a:ext cx="721961" cy="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sp>
        <p:nvSpPr>
          <p:cNvPr id="19" name="菱形 18"/>
          <p:cNvSpPr/>
          <p:nvPr/>
        </p:nvSpPr>
        <p:spPr>
          <a:xfrm>
            <a:off x="6053759" y="1355208"/>
            <a:ext cx="569806" cy="569806"/>
          </a:xfrm>
          <a:prstGeom prst="diamond">
            <a:avLst/>
          </a:prstGeom>
          <a:solidFill>
            <a:srgbClr val="A88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0" name="菱形 19"/>
          <p:cNvSpPr/>
          <p:nvPr/>
        </p:nvSpPr>
        <p:spPr>
          <a:xfrm>
            <a:off x="6053802" y="2717362"/>
            <a:ext cx="569806" cy="569806"/>
          </a:xfrm>
          <a:prstGeom prst="diamond">
            <a:avLst/>
          </a:prstGeom>
          <a:solidFill>
            <a:srgbClr val="A88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1" name="菱形 20"/>
          <p:cNvSpPr/>
          <p:nvPr/>
        </p:nvSpPr>
        <p:spPr>
          <a:xfrm>
            <a:off x="6053802" y="4579547"/>
            <a:ext cx="569806" cy="569806"/>
          </a:xfrm>
          <a:prstGeom prst="diamond">
            <a:avLst/>
          </a:prstGeom>
          <a:solidFill>
            <a:srgbClr val="A88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13" name="图片 12" descr="花瓶里插着花&#10;&#10;描述已自动生成"/>
          <p:cNvPicPr>
            <a:picLocks noChangeAspect="1"/>
          </p:cNvPicPr>
          <p:nvPr/>
        </p:nvPicPr>
        <p:blipFill>
          <a:blip r:embed="rId3">
            <a:extLst>
              <a:ext uri="{BEBA8EAE-BF5A-486C-A8C5-ECC9F3942E4B}">
                <a14:imgProps xmlns:a14="http://schemas.microsoft.com/office/drawing/2010/main">
                  <a14:imgLayer r:embed="rId4">
                    <a14:imgEffect>
                      <a14:backgroundRemoval t="7867" b="89988" l="10000" r="90000">
                        <a14:foregroundMark x1="57333" y1="77831" x2="57333" y2="84863"/>
                        <a14:foregroundMark x1="57333" y1="84863" x2="49333" y2="89750"/>
                        <a14:foregroundMark x1="49333" y1="89750" x2="48833" y2="89750"/>
                        <a14:foregroundMark x1="67500" y1="7867" x2="69833" y2="7986"/>
                      </a14:backgroundRemoval>
                    </a14:imgEffect>
                  </a14:imgLayer>
                </a14:imgProps>
              </a:ext>
            </a:extLst>
          </a:blip>
          <a:stretch>
            <a:fillRect/>
          </a:stretch>
        </p:blipFill>
        <p:spPr>
          <a:xfrm>
            <a:off x="2824350" y="438156"/>
            <a:ext cx="4212108" cy="5661761"/>
          </a:xfrm>
          <a:prstGeom prst="rect">
            <a:avLst/>
          </a:prstGeom>
        </p:spPr>
      </p:pic>
      <p:sp>
        <p:nvSpPr>
          <p:cNvPr id="26" name="文本框 25"/>
          <p:cNvSpPr txBox="1"/>
          <p:nvPr/>
        </p:nvSpPr>
        <p:spPr>
          <a:xfrm>
            <a:off x="6623565" y="1355195"/>
            <a:ext cx="825786" cy="37955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b="1" dirty="0">
                <a:solidFill>
                  <a:srgbClr val="685652"/>
                </a:solidFill>
                <a:latin typeface="微软雅黑" panose="020B0503020204020204" pitchFamily="34" charset="-122"/>
                <a:ea typeface="微软雅黑" panose="020B0503020204020204" pitchFamily="34" charset="-122"/>
              </a:rPr>
              <a:t>起源</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6623565" y="1734750"/>
            <a:ext cx="5048449" cy="73723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影片于2026年五一档上映，初期限于低成本、全素人、全方言的“三无”特点，首日排片仅1.6%，票房377万元。</a:t>
            </a:r>
            <a:endParaRPr lang="zh-CN" altLang="en-US" sz="1400" dirty="0">
              <a:solidFill>
                <a:srgbClr val="685652"/>
              </a:solidFill>
              <a:latin typeface="微软雅黑" panose="020B0503020204020204" pitchFamily="34" charset="-122"/>
              <a:ea typeface="微软雅黑" panose="020B0503020204020204" pitchFamily="34" charset="-122"/>
            </a:endParaRPr>
          </a:p>
        </p:txBody>
      </p:sp>
      <p:sp>
        <p:nvSpPr>
          <p:cNvPr id="44" name="文本框 43"/>
          <p:cNvSpPr txBox="1"/>
          <p:nvPr/>
        </p:nvSpPr>
        <p:spPr>
          <a:xfrm>
            <a:off x="6623565" y="2717406"/>
            <a:ext cx="825819" cy="369570"/>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b="1" dirty="0">
                <a:solidFill>
                  <a:srgbClr val="685652"/>
                </a:solidFill>
                <a:latin typeface="微软雅黑" panose="020B0503020204020204" pitchFamily="34" charset="-122"/>
                <a:ea typeface="微软雅黑" panose="020B0503020204020204" pitchFamily="34" charset="-122"/>
              </a:rPr>
              <a:t>演变</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45" name="文本框 44"/>
          <p:cNvSpPr txBox="1"/>
          <p:nvPr/>
        </p:nvSpPr>
        <p:spPr>
          <a:xfrm>
            <a:off x="6623565" y="3086963"/>
            <a:ext cx="2781781" cy="1060450"/>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凭借豆瓣9.</a:t>
            </a:r>
            <a:r>
              <a:rPr lang="zh-CN" altLang="en-US" sz="1400" dirty="0">
                <a:solidFill>
                  <a:srgbClr val="685652"/>
                </a:solidFill>
                <a:latin typeface="微软雅黑" panose="020B0503020204020204" pitchFamily="34" charset="-122"/>
                <a:ea typeface="微软雅黑" panose="020B0503020204020204" pitchFamily="34" charset="-122"/>
              </a:rPr>
              <a:t>2</a:t>
            </a:r>
            <a:r>
              <a:rPr lang="zh-CN" altLang="en-US" sz="1400" dirty="0">
                <a:solidFill>
                  <a:srgbClr val="685652"/>
                </a:solidFill>
                <a:latin typeface="微软雅黑" panose="020B0503020204020204" pitchFamily="34" charset="-122"/>
                <a:ea typeface="微软雅黑" panose="020B0503020204020204" pitchFamily="34" charset="-122"/>
              </a:rPr>
              <a:t>分的超高口碑，影片通过观众自发推荐和意见领袖扩散，实现票房逆袭，单日票房登顶，上映18天票房突破5.28亿元。</a:t>
            </a:r>
            <a:endParaRPr lang="zh-CN" altLang="en-US" sz="1400" dirty="0">
              <a:solidFill>
                <a:srgbClr val="685652"/>
              </a:solidFill>
              <a:latin typeface="微软雅黑" panose="020B0503020204020204" pitchFamily="34" charset="-122"/>
              <a:ea typeface="微软雅黑" panose="020B0503020204020204" pitchFamily="34" charset="-122"/>
            </a:endParaRPr>
          </a:p>
        </p:txBody>
      </p:sp>
      <p:sp>
        <p:nvSpPr>
          <p:cNvPr id="47" name="文本框 46"/>
          <p:cNvSpPr txBox="1"/>
          <p:nvPr/>
        </p:nvSpPr>
        <p:spPr>
          <a:xfrm>
            <a:off x="6623565" y="4679722"/>
            <a:ext cx="1704527" cy="369570"/>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b="1" dirty="0">
                <a:solidFill>
                  <a:srgbClr val="685652"/>
                </a:solidFill>
                <a:latin typeface="微软雅黑" panose="020B0503020204020204" pitchFamily="34" charset="-122"/>
                <a:ea typeface="微软雅黑" panose="020B0503020204020204" pitchFamily="34" charset="-122"/>
              </a:rPr>
              <a:t>当前传播态势</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48" name="文本框 47"/>
          <p:cNvSpPr txBox="1"/>
          <p:nvPr/>
        </p:nvSpPr>
        <p:spPr>
          <a:xfrm>
            <a:off x="6623565" y="5049278"/>
            <a:ext cx="2781811" cy="73723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票房最终剑指17亿元，形成全民讨论热潮，并获《人民日报》等主流媒体点评，完成从圈层到大众的破圈传播。</a:t>
            </a:r>
            <a:endParaRPr lang="zh-CN" altLang="en-US" sz="1400" dirty="0">
              <a:solidFill>
                <a:srgbClr val="685652"/>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6128667" y="1455304"/>
            <a:ext cx="796290" cy="368300"/>
          </a:xfrm>
          <a:prstGeom prst="rect">
            <a:avLst/>
          </a:prstGeom>
          <a:noFill/>
        </p:spPr>
        <p:txBody>
          <a:bodyPr wrap="squar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01</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6128692" y="2810569"/>
            <a:ext cx="904240" cy="368300"/>
          </a:xfrm>
          <a:prstGeom prst="rect">
            <a:avLst/>
          </a:prstGeom>
          <a:noFill/>
        </p:spPr>
        <p:txBody>
          <a:bodyPr wrap="squar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02</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6128692" y="4679722"/>
            <a:ext cx="784225" cy="368300"/>
          </a:xfrm>
          <a:prstGeom prst="rect">
            <a:avLst/>
          </a:prstGeom>
          <a:noFill/>
        </p:spPr>
        <p:txBody>
          <a:bodyPr wrap="square" rtlCol="0">
            <a:spAutoFit/>
          </a:bodyPr>
          <a:lstStyle/>
          <a:p>
            <a:r>
              <a:rPr lang="en-US" altLang="zh-CN" dirty="0">
                <a:solidFill>
                  <a:schemeClr val="bg1"/>
                </a:solidFill>
                <a:latin typeface="微软雅黑" panose="020B0503020204020204" pitchFamily="34" charset="-122"/>
                <a:ea typeface="微软雅黑" panose="020B0503020204020204" pitchFamily="34" charset="-122"/>
              </a:rPr>
              <a:t>03</a:t>
            </a:r>
            <a:endParaRPr lang="zh-CN" altLang="en-US"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02016" y="372414"/>
            <a:ext cx="3279409" cy="932511"/>
            <a:chOff x="502016" y="372414"/>
            <a:chExt cx="3279409" cy="932511"/>
          </a:xfrm>
        </p:grpSpPr>
        <p:sp>
          <p:nvSpPr>
            <p:cNvPr id="11" name="文本框 10"/>
            <p:cNvSpPr txBox="1"/>
            <p:nvPr/>
          </p:nvSpPr>
          <p:spPr>
            <a:xfrm>
              <a:off x="1078698" y="828590"/>
              <a:ext cx="2702324" cy="398780"/>
            </a:xfrm>
            <a:prstGeom prst="rect">
              <a:avLst/>
            </a:prstGeom>
            <a:noFill/>
          </p:spPr>
          <p:txBody>
            <a:bodyPr wrap="square" rtlCol="0">
              <a:spAutoFit/>
            </a:bodyPr>
            <a:lstStyle>
              <a:defPPr>
                <a:defRPr lang="zh-CN"/>
              </a:defPPr>
              <a:lvl1pPr algn="dist">
                <a:defRPr sz="2000">
                  <a:solidFill>
                    <a:srgbClr val="685652"/>
                  </a:solidFill>
                  <a:latin typeface="汉仪长美黑简" panose="02010609000101010101" pitchFamily="49" charset="-122"/>
                  <a:ea typeface="汉仪长美黑简" panose="02010609000101010101" pitchFamily="49" charset="-122"/>
                </a:defRPr>
              </a:lvl1pPr>
            </a:lstStyle>
            <a:p>
              <a:r>
                <a:rPr lang="zh-CN" altLang="en-US" dirty="0"/>
                <a:t>现象脉络</a:t>
              </a:r>
              <a:endParaRPr lang="zh-CN" altLang="en-US" dirty="0"/>
            </a:p>
          </p:txBody>
        </p:sp>
        <p:pic>
          <p:nvPicPr>
            <p:cNvPr id="12" name="图片 11" descr="图片包含 桌子, 小, 游戏机, 花瓶&#10;&#10;描述已自动生成"/>
            <p:cNvPicPr>
              <a:picLocks noChangeAspect="1"/>
            </p:cNvPicPr>
            <p:nvPr/>
          </p:nvPicPr>
          <p:blipFill>
            <a:blip r:embed="rId5" cstate="screen">
              <a:extLst>
                <a:ext uri="{BEBA8EAE-BF5A-486C-A8C5-ECC9F3942E4B}">
                  <a14:imgProps xmlns:a14="http://schemas.microsoft.com/office/drawing/2010/main">
                    <a14:imgLayer r:embed="rId6">
                      <a14:imgEffect>
                        <a14:backgroundRemoval t="9934" b="90177" l="9878" r="89970">
                          <a14:foregroundMark x1="21429" y1="28477" x2="32067" y2="36865"/>
                          <a14:foregroundMark x1="32219" y1="25497" x2="32067" y2="24172"/>
                          <a14:foregroundMark x1="28116" y1="39183" x2="32219" y2="39845"/>
                          <a14:foregroundMark x1="19605" y1="34658" x2="20821" y2="34989"/>
                          <a14:foregroundMark x1="53343" y1="32009" x2="54711" y2="32671"/>
                          <a14:foregroundMark x1="59271" y1="42163" x2="61094" y2="43157"/>
                          <a14:foregroundMark x1="63222" y1="32671" x2="63222" y2="32340"/>
                          <a14:foregroundMark x1="50608" y1="90177" x2="51520" y2="89956"/>
                          <a14:foregroundMark x1="36170" y1="40618" x2="38602" y2="43488"/>
                          <a14:foregroundMark x1="43769" y1="49890" x2="44681" y2="50221"/>
                        </a14:backgroundRemoval>
                      </a14:imgEffect>
                    </a14:imgLayer>
                  </a14:imgProps>
                </a:ext>
              </a:extLst>
            </a:blip>
            <a:stretch>
              <a:fillRect/>
            </a:stretch>
          </p:blipFill>
          <p:spPr>
            <a:xfrm>
              <a:off x="502016" y="372414"/>
              <a:ext cx="698926" cy="932511"/>
            </a:xfrm>
            <a:prstGeom prst="rect">
              <a:avLst/>
            </a:prstGeom>
          </p:spPr>
        </p:pic>
        <p:cxnSp>
          <p:nvCxnSpPr>
            <p:cNvPr id="14" name="直接连接符 13"/>
            <p:cNvCxnSpPr/>
            <p:nvPr/>
          </p:nvCxnSpPr>
          <p:spPr>
            <a:xfrm>
              <a:off x="766763" y="1214438"/>
              <a:ext cx="3014662" cy="0"/>
            </a:xfrm>
            <a:prstGeom prst="line">
              <a:avLst/>
            </a:prstGeom>
            <a:ln w="12700">
              <a:solidFill>
                <a:srgbClr val="685652"/>
              </a:solidFill>
            </a:ln>
          </p:spPr>
          <p:style>
            <a:lnRef idx="1">
              <a:schemeClr val="accent1"/>
            </a:lnRef>
            <a:fillRef idx="0">
              <a:schemeClr val="accent1"/>
            </a:fillRef>
            <a:effectRef idx="0">
              <a:schemeClr val="accent1"/>
            </a:effectRef>
            <a:fontRef idx="minor">
              <a:schemeClr val="tx1"/>
            </a:fontRef>
          </p:style>
        </p:cxnSp>
      </p:grpSp>
      <p:pic>
        <p:nvPicPr>
          <p:cNvPr id="6" name="图片 5" descr="post_object_image_4151603103"/>
          <p:cNvPicPr>
            <a:picLocks noChangeAspect="1"/>
          </p:cNvPicPr>
          <p:nvPr/>
        </p:nvPicPr>
        <p:blipFill>
          <a:blip r:embed="rId7"/>
          <a:srcRect t="5688" b="673"/>
          <a:stretch>
            <a:fillRect/>
          </a:stretch>
        </p:blipFill>
        <p:spPr>
          <a:xfrm>
            <a:off x="852230" y="1304882"/>
            <a:ext cx="2843655" cy="5158657"/>
          </a:xfrm>
          <a:prstGeom prst="rect">
            <a:avLst/>
          </a:prstGeom>
        </p:spPr>
      </p:pic>
      <p:pic>
        <p:nvPicPr>
          <p:cNvPr id="7" name="图片 6" descr="post_object_image_3901640076"/>
          <p:cNvPicPr>
            <a:picLocks noChangeAspect="1"/>
          </p:cNvPicPr>
          <p:nvPr/>
        </p:nvPicPr>
        <p:blipFill>
          <a:blip r:embed="rId8"/>
          <a:srcRect l="5534" t="-2986" b="1171"/>
          <a:stretch>
            <a:fillRect/>
          </a:stretch>
        </p:blipFill>
        <p:spPr>
          <a:xfrm>
            <a:off x="9456049" y="3002287"/>
            <a:ext cx="2215995" cy="319296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438150"/>
            <a:ext cx="12237156" cy="6419850"/>
            <a:chOff x="0" y="438150"/>
            <a:chExt cx="12237156" cy="6419850"/>
          </a:xfrm>
        </p:grpSpPr>
        <p:sp>
          <p:nvSpPr>
            <p:cNvPr id="3" name="矩形 2"/>
            <p:cNvSpPr/>
            <p:nvPr/>
          </p:nvSpPr>
          <p:spPr>
            <a:xfrm>
              <a:off x="400050" y="438150"/>
              <a:ext cx="11391900" cy="6129462"/>
            </a:xfrm>
            <a:prstGeom prst="rect">
              <a:avLst/>
            </a:prstGeom>
            <a:noFill/>
            <a:ln w="28575">
              <a:solidFill>
                <a:srgbClr val="BD9C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cstate="screen">
              <a:extLst>
                <a:ext uri="{BEBA8EAE-BF5A-486C-A8C5-ECC9F3942E4B}">
                  <a14:imgProps xmlns:a14="http://schemas.microsoft.com/office/drawing/2010/main">
                    <a14:imgLayer r:embed="rId2">
                      <a14:imgEffect>
                        <a14:backgroundRemoval t="8969" b="89238" l="3300" r="97500">
                          <a14:foregroundMark x1="3350" y1="29596" x2="16150" y2="72197"/>
                          <a14:foregroundMark x1="16150" y1="72197" x2="50500" y2="24215"/>
                          <a14:foregroundMark x1="50500" y1="24215" x2="54650" y2="42601"/>
                          <a14:foregroundMark x1="54650" y1="42601" x2="72700" y2="17489"/>
                          <a14:foregroundMark x1="72700" y1="17489" x2="87300" y2="49776"/>
                          <a14:foregroundMark x1="87300" y1="49776" x2="91600" y2="42152"/>
                          <a14:foregroundMark x1="91600" y1="42152" x2="91650" y2="42152"/>
                          <a14:foregroundMark x1="3700" y1="35874" x2="5500" y2="39910"/>
                          <a14:foregroundMark x1="95600" y1="39910" x2="97500" y2="52018"/>
                          <a14:foregroundMark x1="45600" y1="15247" x2="45600" y2="15247"/>
                          <a14:foregroundMark x1="45950" y1="14798" x2="45950" y2="14798"/>
                          <a14:foregroundMark x1="46500" y1="14798" x2="46500" y2="14798"/>
                          <a14:foregroundMark x1="65900" y1="13901" x2="65900" y2="13901"/>
                          <a14:foregroundMark x1="59550" y1="14350" x2="59550" y2="14350"/>
                          <a14:foregroundMark x1="73850" y1="14350" x2="73850" y2="14350"/>
                          <a14:foregroundMark x1="87650" y1="14350" x2="87650" y2="14350"/>
                          <a14:foregroundMark x1="79200" y1="13901" x2="79850" y2="15247"/>
                          <a14:foregroundMark x1="93200" y1="13453" x2="94150" y2="14350"/>
                          <a14:foregroundMark x1="51300" y1="13453" x2="52050" y2="13453"/>
                          <a14:foregroundMark x1="23400" y1="16143" x2="24250" y2="16143"/>
                          <a14:foregroundMark x1="31100" y1="16592" x2="32900" y2="19283"/>
                          <a14:foregroundMark x1="31550" y1="15247" x2="32400" y2="16592"/>
                          <a14:foregroundMark x1="37350" y1="16143" x2="38500" y2="17040"/>
                          <a14:foregroundMark x1="3300" y1="16143" x2="4450" y2="17489"/>
                          <a14:foregroundMark x1="17350" y1="17937" x2="19150" y2="17937"/>
                        </a14:backgroundRemoval>
                      </a14:imgEffect>
                    </a14:imgLayer>
                  </a14:imgProps>
                </a:ext>
              </a:extLst>
            </a:blip>
            <a:srcRect l="459" b="58084"/>
            <a:stretch>
              <a:fillRect/>
            </a:stretch>
          </p:blipFill>
          <p:spPr>
            <a:xfrm>
              <a:off x="0" y="6288194"/>
              <a:ext cx="12237156" cy="569806"/>
            </a:xfrm>
            <a:custGeom>
              <a:avLst/>
              <a:gdLst>
                <a:gd name="connsiteX0" fmla="*/ 0 w 12237156"/>
                <a:gd name="connsiteY0" fmla="*/ 0 h 569806"/>
                <a:gd name="connsiteX1" fmla="*/ 12237156 w 12237156"/>
                <a:gd name="connsiteY1" fmla="*/ 0 h 569806"/>
                <a:gd name="connsiteX2" fmla="*/ 12237156 w 12237156"/>
                <a:gd name="connsiteY2" fmla="*/ 569806 h 569806"/>
                <a:gd name="connsiteX3" fmla="*/ 0 w 12237156"/>
                <a:gd name="connsiteY3" fmla="*/ 569806 h 569806"/>
              </a:gdLst>
              <a:ahLst/>
              <a:cxnLst>
                <a:cxn ang="0">
                  <a:pos x="connsiteX0" y="connsiteY0"/>
                </a:cxn>
                <a:cxn ang="0">
                  <a:pos x="connsiteX1" y="connsiteY1"/>
                </a:cxn>
                <a:cxn ang="0">
                  <a:pos x="connsiteX2" y="connsiteY2"/>
                </a:cxn>
                <a:cxn ang="0">
                  <a:pos x="connsiteX3" y="connsiteY3"/>
                </a:cxn>
              </a:cxnLst>
              <a:rect l="l" t="t" r="r" b="b"/>
              <a:pathLst>
                <a:path w="12237156" h="569806">
                  <a:moveTo>
                    <a:pt x="0" y="0"/>
                  </a:moveTo>
                  <a:lnTo>
                    <a:pt x="12237156" y="0"/>
                  </a:lnTo>
                  <a:lnTo>
                    <a:pt x="12237156" y="569806"/>
                  </a:lnTo>
                  <a:lnTo>
                    <a:pt x="0" y="569806"/>
                  </a:lnTo>
                  <a:close/>
                </a:path>
              </a:pathLst>
            </a:custGeom>
          </p:spPr>
        </p:pic>
      </p:grpSp>
      <p:sp>
        <p:nvSpPr>
          <p:cNvPr id="12" name="缺角矩形 11"/>
          <p:cNvSpPr/>
          <p:nvPr/>
        </p:nvSpPr>
        <p:spPr>
          <a:xfrm>
            <a:off x="1098111" y="1490947"/>
            <a:ext cx="2378967" cy="4797211"/>
          </a:xfrm>
          <a:prstGeom prst="plaque">
            <a:avLst>
              <a:gd name="adj" fmla="val 11111"/>
            </a:avLst>
          </a:prstGeom>
          <a:noFill/>
          <a:ln w="28575">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3" name="缺角矩形 12"/>
          <p:cNvSpPr/>
          <p:nvPr/>
        </p:nvSpPr>
        <p:spPr>
          <a:xfrm>
            <a:off x="3644635" y="1490909"/>
            <a:ext cx="2378967" cy="4797249"/>
          </a:xfrm>
          <a:prstGeom prst="plaque">
            <a:avLst>
              <a:gd name="adj" fmla="val 11111"/>
            </a:avLst>
          </a:prstGeom>
          <a:noFill/>
          <a:ln w="28575">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4" name="缺角矩形 13"/>
          <p:cNvSpPr/>
          <p:nvPr/>
        </p:nvSpPr>
        <p:spPr>
          <a:xfrm>
            <a:off x="6191159" y="1490909"/>
            <a:ext cx="2378967" cy="4797249"/>
          </a:xfrm>
          <a:prstGeom prst="plaque">
            <a:avLst>
              <a:gd name="adj" fmla="val 11111"/>
            </a:avLst>
          </a:prstGeom>
          <a:noFill/>
          <a:ln w="28575">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15" name="缺角矩形 14"/>
          <p:cNvSpPr/>
          <p:nvPr/>
        </p:nvSpPr>
        <p:spPr>
          <a:xfrm>
            <a:off x="8737865" y="1490909"/>
            <a:ext cx="2378967" cy="4797249"/>
          </a:xfrm>
          <a:prstGeom prst="plaque">
            <a:avLst>
              <a:gd name="adj" fmla="val 11111"/>
            </a:avLst>
          </a:prstGeom>
          <a:noFill/>
          <a:ln w="28575">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22" name="图片 21"/>
          <p:cNvPicPr>
            <a:picLocks noChangeAspect="1"/>
          </p:cNvPicPr>
          <p:nvPr/>
        </p:nvPicPr>
        <p:blipFill>
          <a:blip r:embed="rId3" cstate="screen">
            <a:extLst>
              <a:ext uri="{BEBA8EAE-BF5A-486C-A8C5-ECC9F3942E4B}">
                <a14:imgProps xmlns:a14="http://schemas.microsoft.com/office/drawing/2010/main">
                  <a14:imgLayer r:embed="rId4">
                    <a14:imgEffect>
                      <a14:backgroundRemoval t="9122" b="92568" l="7763" r="90868">
                        <a14:foregroundMark x1="7763" y1="51014" x2="8676" y2="53378"/>
                        <a14:foregroundMark x1="27854" y1="15203" x2="31050" y2="15203"/>
                        <a14:foregroundMark x1="26941" y1="13514" x2="29680" y2="14189"/>
                        <a14:foregroundMark x1="75799" y1="19932" x2="79452" y2="18919"/>
                        <a14:foregroundMark x1="78539" y1="19595" x2="78539" y2="17230"/>
                        <a14:foregroundMark x1="91324" y1="31757" x2="89498" y2="31419"/>
                        <a14:foregroundMark x1="34247" y1="90203" x2="49315" y2="90878"/>
                        <a14:foregroundMark x1="56621" y1="92230" x2="62100" y2="92568"/>
                        <a14:foregroundMark x1="15068" y1="22973" x2="16438" y2="23649"/>
                        <a14:backgroundMark x1="85388" y1="80743" x2="86301" y2="90203"/>
                        <a14:backgroundMark x1="83562" y1="88851" x2="83562" y2="88851"/>
                      </a14:backgroundRemoval>
                    </a14:imgEffect>
                  </a14:imgLayer>
                </a14:imgProps>
              </a:ext>
            </a:extLst>
          </a:blip>
          <a:stretch>
            <a:fillRect/>
          </a:stretch>
        </p:blipFill>
        <p:spPr>
          <a:xfrm>
            <a:off x="4591895" y="1582503"/>
            <a:ext cx="588047" cy="794803"/>
          </a:xfrm>
          <a:prstGeom prst="rect">
            <a:avLst/>
          </a:prstGeom>
          <a:effectLst>
            <a:outerShdw blurRad="50800" dist="38100" dir="5400000" algn="t" rotWithShape="0">
              <a:prstClr val="black">
                <a:alpha val="40000"/>
              </a:prstClr>
            </a:outerShdw>
          </a:effectLst>
        </p:spPr>
      </p:pic>
      <p:pic>
        <p:nvPicPr>
          <p:cNvPr id="34" name="图片 33"/>
          <p:cNvPicPr>
            <a:picLocks noChangeAspect="1"/>
          </p:cNvPicPr>
          <p:nvPr/>
        </p:nvPicPr>
        <p:blipFill>
          <a:blip r:embed="rId5" cstate="screen">
            <a:extLst>
              <a:ext uri="{BEBA8EAE-BF5A-486C-A8C5-ECC9F3942E4B}">
                <a14:imgProps xmlns:a14="http://schemas.microsoft.com/office/drawing/2010/main">
                  <a14:imgLayer r:embed="rId6">
                    <a14:imgEffect>
                      <a14:backgroundRemoval t="8434" b="95984" l="4684" r="89930">
                        <a14:foregroundMark x1="4684" y1="50803" x2="7026" y2="49598"/>
                        <a14:foregroundMark x1="51288" y1="8835" x2="51288" y2="8835"/>
                        <a14:foregroundMark x1="69789" y1="8434" x2="69789" y2="8434"/>
                        <a14:foregroundMark x1="46370" y1="88153" x2="56674" y2="86948"/>
                        <a14:foregroundMark x1="44965" y1="95582" x2="52693" y2="95984"/>
                        <a14:foregroundMark x1="42857" y1="55823" x2="44262" y2="55823"/>
                      </a14:backgroundRemoval>
                    </a14:imgEffect>
                  </a14:imgLayer>
                </a14:imgProps>
              </a:ext>
            </a:extLst>
          </a:blip>
          <a:stretch>
            <a:fillRect/>
          </a:stretch>
        </p:blipFill>
        <p:spPr>
          <a:xfrm>
            <a:off x="7016008" y="1503233"/>
            <a:ext cx="749457" cy="874073"/>
          </a:xfrm>
          <a:prstGeom prst="rect">
            <a:avLst/>
          </a:prstGeom>
        </p:spPr>
      </p:pic>
      <p:pic>
        <p:nvPicPr>
          <p:cNvPr id="35" name="图片 34"/>
          <p:cNvPicPr>
            <a:picLocks noChangeAspect="1"/>
          </p:cNvPicPr>
          <p:nvPr/>
        </p:nvPicPr>
        <p:blipFill>
          <a:blip r:embed="rId7" cstate="screen">
            <a:extLst>
              <a:ext uri="{BEBA8EAE-BF5A-486C-A8C5-ECC9F3942E4B}">
                <a14:imgProps xmlns:a14="http://schemas.microsoft.com/office/drawing/2010/main">
                  <a14:imgLayer r:embed="rId8">
                    <a14:imgEffect>
                      <a14:backgroundRemoval t="9651" b="92608" l="9830" r="90926">
                        <a14:foregroundMark x1="38374" y1="76591" x2="54253" y2="79466"/>
                        <a14:foregroundMark x1="34216" y1="82136" x2="50095" y2="82546"/>
                        <a14:foregroundMark x1="50095" y1="82546" x2="57845" y2="79055"/>
                        <a14:foregroundMark x1="28922" y1="72279" x2="30624" y2="79055"/>
                        <a14:foregroundMark x1="55009" y1="88090" x2="61248" y2="74333"/>
                        <a14:foregroundMark x1="89792" y1="38809" x2="91304" y2="39425"/>
                        <a14:foregroundMark x1="24575" y1="59548" x2="26276" y2="73306"/>
                        <a14:foregroundMark x1="21550" y1="62423" x2="23062" y2="71458"/>
                        <a14:foregroundMark x1="23629" y1="73717" x2="26087" y2="78439"/>
                        <a14:foregroundMark x1="20416" y1="68172" x2="21928" y2="74127"/>
                        <a14:foregroundMark x1="26654" y1="81725" x2="31002" y2="84394"/>
                        <a14:foregroundMark x1="22873" y1="77002" x2="26654" y2="82957"/>
                        <a14:foregroundMark x1="29679" y1="85216" x2="33081" y2="87269"/>
                        <a14:foregroundMark x1="36484" y1="90965" x2="44991" y2="91376"/>
                        <a14:foregroundMark x1="61815" y1="88706" x2="72212" y2="71869"/>
                        <a14:foregroundMark x1="69754" y1="65092" x2="69754" y2="68172"/>
                        <a14:foregroundMark x1="71267" y1="62834" x2="71456" y2="70431"/>
                        <a14:foregroundMark x1="72968" y1="65708" x2="72401" y2="70842"/>
                        <a14:foregroundMark x1="72212" y1="61602" x2="72401" y2="63860"/>
                        <a14:foregroundMark x1="49905" y1="91992" x2="55009" y2="92608"/>
                      </a14:backgroundRemoval>
                    </a14:imgEffect>
                  </a14:imgLayer>
                </a14:imgProps>
              </a:ext>
            </a:extLst>
          </a:blip>
          <a:stretch>
            <a:fillRect/>
          </a:stretch>
        </p:blipFill>
        <p:spPr>
          <a:xfrm>
            <a:off x="9534638" y="1560207"/>
            <a:ext cx="889988" cy="819327"/>
          </a:xfrm>
          <a:prstGeom prst="rect">
            <a:avLst/>
          </a:prstGeom>
          <a:effectLst>
            <a:outerShdw blurRad="50800" dist="38100" dir="5400000" algn="t" rotWithShape="0">
              <a:prstClr val="black">
                <a:alpha val="40000"/>
              </a:prstClr>
            </a:outerShdw>
          </a:effectLst>
        </p:spPr>
      </p:pic>
      <p:pic>
        <p:nvPicPr>
          <p:cNvPr id="38" name="图片 37"/>
          <p:cNvPicPr>
            <a:picLocks noChangeAspect="1"/>
          </p:cNvPicPr>
          <p:nvPr/>
        </p:nvPicPr>
        <p:blipFill>
          <a:blip r:embed="rId9" cstate="screen">
            <a:extLst>
              <a:ext uri="{BEBA8EAE-BF5A-486C-A8C5-ECC9F3942E4B}">
                <a14:imgProps xmlns:a14="http://schemas.microsoft.com/office/drawing/2010/main">
                  <a14:imgLayer r:embed="rId10">
                    <a14:imgEffect>
                      <a14:backgroundRemoval t="4762" b="95556" l="6383" r="92766">
                        <a14:foregroundMark x1="21702" y1="9524" x2="21702" y2="9524"/>
                        <a14:foregroundMark x1="48936" y1="16508" x2="48936" y2="16508"/>
                        <a14:foregroundMark x1="51915" y1="9524" x2="52340" y2="14921"/>
                        <a14:foregroundMark x1="9362" y1="51111" x2="20000" y2="76190"/>
                        <a14:foregroundMark x1="20000" y1="76190" x2="42979" y2="83810"/>
                        <a14:foregroundMark x1="21277" y1="79365" x2="43830" y2="92381"/>
                        <a14:foregroundMark x1="25106" y1="90476" x2="34894" y2="92381"/>
                        <a14:foregroundMark x1="48936" y1="96190" x2="65106" y2="94286"/>
                        <a14:foregroundMark x1="77447" y1="74921" x2="77447" y2="74921"/>
                        <a14:foregroundMark x1="79574" y1="72063" x2="79574" y2="72063"/>
                        <a14:foregroundMark x1="80851" y1="70476" x2="80851" y2="70476"/>
                        <a14:foregroundMark x1="7660" y1="20317" x2="10213" y2="26349"/>
                        <a14:foregroundMark x1="7660" y1="21905" x2="6809" y2="25714"/>
                        <a14:foregroundMark x1="21702" y1="6032" x2="21702" y2="6032"/>
                        <a14:foregroundMark x1="52766" y1="5079" x2="52340" y2="7302"/>
                        <a14:foregroundMark x1="85106" y1="24444" x2="92766" y2="17143"/>
                        <a14:foregroundMark x1="6383" y1="58413" x2="7234" y2="60635"/>
                        <a14:foregroundMark x1="74894" y1="63810" x2="74468" y2="66667"/>
                      </a14:backgroundRemoval>
                    </a14:imgEffect>
                  </a14:imgLayer>
                </a14:imgProps>
              </a:ext>
            </a:extLst>
          </a:blip>
          <a:stretch>
            <a:fillRect/>
          </a:stretch>
        </p:blipFill>
        <p:spPr>
          <a:xfrm>
            <a:off x="2005103" y="1560171"/>
            <a:ext cx="609603" cy="817128"/>
          </a:xfrm>
          <a:custGeom>
            <a:avLst/>
            <a:gdLst>
              <a:gd name="connsiteX0" fmla="*/ 0 w 1432684"/>
              <a:gd name="connsiteY0" fmla="*/ 0 h 1920406"/>
              <a:gd name="connsiteX1" fmla="*/ 1432684 w 1432684"/>
              <a:gd name="connsiteY1" fmla="*/ 0 h 1920406"/>
              <a:gd name="connsiteX2" fmla="*/ 1432684 w 1432684"/>
              <a:gd name="connsiteY2" fmla="*/ 1920406 h 1920406"/>
              <a:gd name="connsiteX3" fmla="*/ 1239373 w 1432684"/>
              <a:gd name="connsiteY3" fmla="*/ 1920406 h 1920406"/>
              <a:gd name="connsiteX4" fmla="*/ 1239373 w 1432684"/>
              <a:gd name="connsiteY4" fmla="*/ 1875098 h 1920406"/>
              <a:gd name="connsiteX5" fmla="*/ 0 w 1432684"/>
              <a:gd name="connsiteY5" fmla="*/ 1875098 h 1920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32684" h="1920405">
                <a:moveTo>
                  <a:pt x="0" y="0"/>
                </a:moveTo>
                <a:lnTo>
                  <a:pt x="1432684" y="0"/>
                </a:lnTo>
                <a:lnTo>
                  <a:pt x="1432684" y="1920406"/>
                </a:lnTo>
                <a:lnTo>
                  <a:pt x="1239373" y="1920406"/>
                </a:lnTo>
                <a:lnTo>
                  <a:pt x="1239373" y="1875098"/>
                </a:lnTo>
                <a:lnTo>
                  <a:pt x="0" y="1875098"/>
                </a:lnTo>
                <a:close/>
              </a:path>
            </a:pathLst>
          </a:custGeom>
          <a:effectLst>
            <a:outerShdw blurRad="50800" dist="38100" dir="5400000" algn="t" rotWithShape="0">
              <a:prstClr val="black">
                <a:alpha val="40000"/>
              </a:prstClr>
            </a:outerShdw>
          </a:effectLst>
        </p:spPr>
      </p:pic>
      <p:cxnSp>
        <p:nvCxnSpPr>
          <p:cNvPr id="40" name="直接连接符 39"/>
          <p:cNvCxnSpPr/>
          <p:nvPr/>
        </p:nvCxnSpPr>
        <p:spPr>
          <a:xfrm>
            <a:off x="1662205" y="2540766"/>
            <a:ext cx="1295400"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4238219" y="2540766"/>
            <a:ext cx="1295400"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743037" y="2540766"/>
            <a:ext cx="1295400"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9331932" y="2540766"/>
            <a:ext cx="1295400"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1367773" y="2630634"/>
            <a:ext cx="1884263"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b="1" dirty="0">
                <a:solidFill>
                  <a:srgbClr val="685652"/>
                </a:solidFill>
                <a:latin typeface="微软雅黑" panose="020B0503020204020204" pitchFamily="34" charset="-122"/>
                <a:ea typeface="微软雅黑" panose="020B0503020204020204" pitchFamily="34" charset="-122"/>
              </a:rPr>
              <a:t>内容特征</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1223761" y="2883562"/>
            <a:ext cx="2172287" cy="2630170"/>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①温情、有内涵的故事情节，采用易于理解的感知符号与低门槛共情设计；</a:t>
            </a:r>
            <a:endParaRPr lang="zh-CN" altLang="en-US" sz="1400" dirty="0">
              <a:solidFill>
                <a:srgbClr val="685652"/>
              </a:solidFill>
              <a:latin typeface="微软雅黑" panose="020B0503020204020204" pitchFamily="34" charset="-122"/>
              <a:ea typeface="微软雅黑" panose="020B0503020204020204" pitchFamily="34" charset="-122"/>
            </a:endParaRPr>
          </a:p>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②双女主叙事突出阿嬷的坚韧与南枝的大义，契合女性主义文化思潮；</a:t>
            </a:r>
            <a:endParaRPr lang="zh-CN" altLang="en-US" sz="1400" dirty="0">
              <a:solidFill>
                <a:srgbClr val="685652"/>
              </a:solidFill>
              <a:latin typeface="微软雅黑" panose="020B0503020204020204" pitchFamily="34" charset="-122"/>
              <a:ea typeface="微软雅黑" panose="020B0503020204020204" pitchFamily="34" charset="-122"/>
            </a:endParaRPr>
          </a:p>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③全程潮汕方言、去流量化、去套路化的质朴表达，形成对工业化影视的文化反叛。</a:t>
            </a:r>
            <a:endParaRPr lang="zh-CN" altLang="en-US" sz="1400" dirty="0">
              <a:solidFill>
                <a:srgbClr val="685652"/>
              </a:solidFill>
              <a:latin typeface="微软雅黑" panose="020B0503020204020204" pitchFamily="34" charset="-122"/>
              <a:ea typeface="微软雅黑" panose="020B0503020204020204" pitchFamily="34" charset="-122"/>
            </a:endParaRPr>
          </a:p>
        </p:txBody>
      </p:sp>
      <p:sp>
        <p:nvSpPr>
          <p:cNvPr id="48" name="文本框 47"/>
          <p:cNvSpPr txBox="1"/>
          <p:nvPr/>
        </p:nvSpPr>
        <p:spPr>
          <a:xfrm>
            <a:off x="3943787" y="2630633"/>
            <a:ext cx="1884263"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b="1" dirty="0">
                <a:solidFill>
                  <a:srgbClr val="685652"/>
                </a:solidFill>
                <a:latin typeface="微软雅黑" panose="020B0503020204020204" pitchFamily="34" charset="-122"/>
                <a:ea typeface="微软雅黑" panose="020B0503020204020204" pitchFamily="34" charset="-122"/>
              </a:rPr>
              <a:t>受众特征</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49" name="文本框 48"/>
          <p:cNvSpPr txBox="1"/>
          <p:nvPr/>
        </p:nvSpPr>
        <p:spPr>
          <a:xfrm>
            <a:off x="3876723" y="3000190"/>
            <a:ext cx="2018391" cy="267652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①女性受众因身份认同产生强烈共鸣；</a:t>
            </a:r>
            <a:endParaRPr lang="zh-CN" altLang="en-US" sz="1400" dirty="0">
              <a:solidFill>
                <a:srgbClr val="685652"/>
              </a:solidFill>
              <a:latin typeface="微软雅黑" panose="020B0503020204020204" pitchFamily="34" charset="-122"/>
              <a:ea typeface="微软雅黑" panose="020B0503020204020204" pitchFamily="34" charset="-122"/>
            </a:endParaRPr>
          </a:p>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②口碑驱动下，从初期小众观影群体扩散至全民受众；</a:t>
            </a:r>
            <a:endParaRPr lang="zh-CN" altLang="en-US" sz="1400" dirty="0">
              <a:solidFill>
                <a:srgbClr val="685652"/>
              </a:solidFill>
              <a:latin typeface="微软雅黑" panose="020B0503020204020204" pitchFamily="34" charset="-122"/>
              <a:ea typeface="微软雅黑" panose="020B0503020204020204" pitchFamily="34" charset="-122"/>
            </a:endParaRPr>
          </a:p>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③审美疲劳的观众转向追求真诚情感与优质内容。</a:t>
            </a:r>
            <a:endParaRPr lang="zh-CN" altLang="en-US" sz="1400" dirty="0">
              <a:solidFill>
                <a:srgbClr val="685652"/>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6448605" y="2630633"/>
            <a:ext cx="1884263"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b="1" dirty="0">
                <a:solidFill>
                  <a:srgbClr val="685652"/>
                </a:solidFill>
                <a:latin typeface="微软雅黑" panose="020B0503020204020204" pitchFamily="34" charset="-122"/>
                <a:ea typeface="微软雅黑" panose="020B0503020204020204" pitchFamily="34" charset="-122"/>
              </a:rPr>
              <a:t>传播渠道特征</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6448622" y="3000190"/>
            <a:ext cx="1974904" cy="1543656"/>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①无大额宣发，依赖社群、朋友圈等私域口碑发酵；</a:t>
            </a:r>
            <a:endParaRPr lang="zh-CN" altLang="en-US" sz="1400" dirty="0">
              <a:solidFill>
                <a:srgbClr val="685652"/>
              </a:solidFill>
              <a:latin typeface="微软雅黑" panose="020B0503020204020204" pitchFamily="34" charset="-122"/>
              <a:ea typeface="微软雅黑" panose="020B0503020204020204" pitchFamily="34" charset="-122"/>
            </a:endParaRPr>
          </a:p>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②豆瓣高分评价被搬运至微博、短视频等公域平台，形成安利热潮；</a:t>
            </a:r>
            <a:endParaRPr lang="zh-CN" altLang="en-US" sz="1400" dirty="0">
              <a:solidFill>
                <a:srgbClr val="685652"/>
              </a:solidFill>
              <a:latin typeface="微软雅黑" panose="020B0503020204020204" pitchFamily="34" charset="-122"/>
              <a:ea typeface="微软雅黑" panose="020B0503020204020204" pitchFamily="34" charset="-122"/>
            </a:endParaRPr>
          </a:p>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③各圈层</a:t>
            </a:r>
            <a:r>
              <a:rPr lang="en-US" altLang="zh-CN" sz="1400" dirty="0">
                <a:solidFill>
                  <a:srgbClr val="685652"/>
                </a:solidFill>
                <a:latin typeface="微软雅黑" panose="020B0503020204020204" pitchFamily="34" charset="-122"/>
                <a:ea typeface="微软雅黑" panose="020B0503020204020204" pitchFamily="34" charset="-122"/>
              </a:rPr>
              <a:t>KOL</a:t>
            </a:r>
            <a:r>
              <a:rPr lang="zh-CN" altLang="en-US" sz="1400" dirty="0">
                <a:solidFill>
                  <a:srgbClr val="685652"/>
                </a:solidFill>
                <a:latin typeface="微软雅黑" panose="020B0503020204020204" pitchFamily="34" charset="-122"/>
                <a:ea typeface="微软雅黑" panose="020B0503020204020204" pitchFamily="34" charset="-122"/>
              </a:rPr>
              <a:t>与主流媒体介入，强化传播公信力。</a:t>
            </a:r>
            <a:endParaRPr lang="zh-CN" altLang="en-US" sz="1400" dirty="0">
              <a:solidFill>
                <a:srgbClr val="685652"/>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9037500" y="2630633"/>
            <a:ext cx="1884263" cy="3683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b="1" dirty="0">
                <a:solidFill>
                  <a:srgbClr val="685652"/>
                </a:solidFill>
                <a:latin typeface="微软雅黑" panose="020B0503020204020204" pitchFamily="34" charset="-122"/>
                <a:ea typeface="微软雅黑" panose="020B0503020204020204" pitchFamily="34" charset="-122"/>
              </a:rPr>
              <a:t>互动特征</a:t>
            </a: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8991610" y="3000190"/>
            <a:ext cx="1976043" cy="267652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①口碑裂变引发安利式互动，观众成为自发传播节点；</a:t>
            </a:r>
            <a:endParaRPr lang="zh-CN" altLang="en-US" sz="1400" dirty="0">
              <a:solidFill>
                <a:srgbClr val="685652"/>
              </a:solidFill>
              <a:latin typeface="微软雅黑" panose="020B0503020204020204" pitchFamily="34" charset="-122"/>
              <a:ea typeface="微软雅黑" panose="020B0503020204020204" pitchFamily="34" charset="-122"/>
            </a:endParaRPr>
          </a:p>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②沉默螺旋效应显现，正面评价占据主流，质疑声音被淹没；</a:t>
            </a:r>
            <a:endParaRPr lang="zh-CN" altLang="en-US" sz="1400" dirty="0">
              <a:solidFill>
                <a:srgbClr val="685652"/>
              </a:solidFill>
              <a:latin typeface="微软雅黑" panose="020B0503020204020204" pitchFamily="34" charset="-122"/>
              <a:ea typeface="微软雅黑" panose="020B0503020204020204" pitchFamily="34" charset="-122"/>
            </a:endParaRPr>
          </a:p>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③情感共鸣引发观众二次创作。</a:t>
            </a:r>
            <a:endParaRPr lang="zh-CN" altLang="en-US" sz="1400" dirty="0">
              <a:solidFill>
                <a:srgbClr val="685652"/>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502016" y="372414"/>
            <a:ext cx="3279409" cy="932511"/>
            <a:chOff x="502016" y="372414"/>
            <a:chExt cx="3279409" cy="932511"/>
          </a:xfrm>
        </p:grpSpPr>
        <p:sp>
          <p:nvSpPr>
            <p:cNvPr id="16" name="文本框 15"/>
            <p:cNvSpPr txBox="1"/>
            <p:nvPr/>
          </p:nvSpPr>
          <p:spPr>
            <a:xfrm>
              <a:off x="1078698" y="828590"/>
              <a:ext cx="2702324" cy="398780"/>
            </a:xfrm>
            <a:prstGeom prst="rect">
              <a:avLst/>
            </a:prstGeom>
            <a:noFill/>
          </p:spPr>
          <p:txBody>
            <a:bodyPr wrap="square" rtlCol="0">
              <a:spAutoFit/>
            </a:bodyPr>
            <a:lstStyle>
              <a:defPPr>
                <a:defRPr lang="zh-CN"/>
              </a:defPPr>
              <a:lvl1pPr algn="dist">
                <a:defRPr sz="2000">
                  <a:solidFill>
                    <a:srgbClr val="685652"/>
                  </a:solidFill>
                  <a:latin typeface="汉仪长美黑简" panose="02010609000101010101" pitchFamily="49" charset="-122"/>
                  <a:ea typeface="汉仪长美黑简" panose="02010609000101010101" pitchFamily="49" charset="-122"/>
                </a:defRPr>
              </a:lvl1pPr>
            </a:lstStyle>
            <a:p>
              <a:r>
                <a:rPr lang="zh-CN" altLang="en-US" dirty="0"/>
                <a:t>传播特征</a:t>
              </a:r>
              <a:endParaRPr lang="zh-CN" altLang="en-US" dirty="0"/>
            </a:p>
          </p:txBody>
        </p:sp>
        <p:pic>
          <p:nvPicPr>
            <p:cNvPr id="17" name="图片 16" descr="图片包含 桌子, 小, 游戏机, 花瓶&#10;&#10;描述已自动生成"/>
            <p:cNvPicPr>
              <a:picLocks noChangeAspect="1"/>
            </p:cNvPicPr>
            <p:nvPr/>
          </p:nvPicPr>
          <p:blipFill>
            <a:blip r:embed="rId11" cstate="screen">
              <a:extLst>
                <a:ext uri="{BEBA8EAE-BF5A-486C-A8C5-ECC9F3942E4B}">
                  <a14:imgProps xmlns:a14="http://schemas.microsoft.com/office/drawing/2010/main">
                    <a14:imgLayer r:embed="rId12">
                      <a14:imgEffect>
                        <a14:backgroundRemoval t="9934" b="90177" l="9878" r="89970">
                          <a14:foregroundMark x1="21429" y1="28477" x2="32067" y2="36865"/>
                          <a14:foregroundMark x1="32219" y1="25497" x2="32067" y2="24172"/>
                          <a14:foregroundMark x1="28116" y1="39183" x2="32219" y2="39845"/>
                          <a14:foregroundMark x1="19605" y1="34658" x2="20821" y2="34989"/>
                          <a14:foregroundMark x1="53343" y1="32009" x2="54711" y2="32671"/>
                          <a14:foregroundMark x1="59271" y1="42163" x2="61094" y2="43157"/>
                          <a14:foregroundMark x1="63222" y1="32671" x2="63222" y2="32340"/>
                          <a14:foregroundMark x1="50608" y1="90177" x2="51520" y2="89956"/>
                          <a14:foregroundMark x1="36170" y1="40618" x2="38602" y2="43488"/>
                          <a14:foregroundMark x1="43769" y1="49890" x2="44681" y2="50221"/>
                        </a14:backgroundRemoval>
                      </a14:imgEffect>
                    </a14:imgLayer>
                  </a14:imgProps>
                </a:ext>
              </a:extLst>
            </a:blip>
            <a:stretch>
              <a:fillRect/>
            </a:stretch>
          </p:blipFill>
          <p:spPr>
            <a:xfrm>
              <a:off x="502016" y="372414"/>
              <a:ext cx="698926" cy="932511"/>
            </a:xfrm>
            <a:prstGeom prst="rect">
              <a:avLst/>
            </a:prstGeom>
          </p:spPr>
        </p:pic>
        <p:cxnSp>
          <p:nvCxnSpPr>
            <p:cNvPr id="18" name="直接连接符 17"/>
            <p:cNvCxnSpPr/>
            <p:nvPr/>
          </p:nvCxnSpPr>
          <p:spPr>
            <a:xfrm>
              <a:off x="766763" y="1214438"/>
              <a:ext cx="3014662" cy="0"/>
            </a:xfrm>
            <a:prstGeom prst="line">
              <a:avLst/>
            </a:prstGeom>
            <a:ln w="12700">
              <a:solidFill>
                <a:srgbClr val="685652"/>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6144" y="1133037"/>
            <a:ext cx="9587005" cy="4859075"/>
            <a:chOff x="376144" y="1133037"/>
            <a:chExt cx="9587005" cy="4859075"/>
          </a:xfrm>
        </p:grpSpPr>
        <p:grpSp>
          <p:nvGrpSpPr>
            <p:cNvPr id="3" name="组合 2"/>
            <p:cNvGrpSpPr/>
            <p:nvPr/>
          </p:nvGrpSpPr>
          <p:grpSpPr>
            <a:xfrm>
              <a:off x="376144" y="1133037"/>
              <a:ext cx="9587005" cy="4859075"/>
              <a:chOff x="376144" y="1133037"/>
              <a:chExt cx="9587005" cy="4859075"/>
            </a:xfrm>
          </p:grpSpPr>
          <p:pic>
            <p:nvPicPr>
              <p:cNvPr id="9" name="图片 8"/>
              <p:cNvPicPr>
                <a:picLocks noChangeAspect="1"/>
              </p:cNvPicPr>
              <p:nvPr/>
            </p:nvPicPr>
            <p:blipFill>
              <a:blip r:embed="rId1" cstate="screen"/>
              <a:srcRect/>
              <a:stretch>
                <a:fillRect/>
              </a:stretch>
            </p:blipFill>
            <p:spPr>
              <a:xfrm>
                <a:off x="2256550" y="1133037"/>
                <a:ext cx="7706599" cy="4609771"/>
              </a:xfrm>
              <a:custGeom>
                <a:avLst/>
                <a:gdLst>
                  <a:gd name="connsiteX0" fmla="*/ 75384 w 7297898"/>
                  <a:gd name="connsiteY0" fmla="*/ 75384 h 4444795"/>
                  <a:gd name="connsiteX1" fmla="*/ 75384 w 7297898"/>
                  <a:gd name="connsiteY1" fmla="*/ 4369411 h 4444795"/>
                  <a:gd name="connsiteX2" fmla="*/ 7222514 w 7297898"/>
                  <a:gd name="connsiteY2" fmla="*/ 4369411 h 4444795"/>
                  <a:gd name="connsiteX3" fmla="*/ 7222514 w 7297898"/>
                  <a:gd name="connsiteY3" fmla="*/ 75384 h 4444795"/>
                  <a:gd name="connsiteX4" fmla="*/ 0 w 7297898"/>
                  <a:gd name="connsiteY4" fmla="*/ 0 h 4444795"/>
                  <a:gd name="connsiteX5" fmla="*/ 7297898 w 7297898"/>
                  <a:gd name="connsiteY5" fmla="*/ 0 h 4444795"/>
                  <a:gd name="connsiteX6" fmla="*/ 7297898 w 7297898"/>
                  <a:gd name="connsiteY6" fmla="*/ 4444795 h 4444795"/>
                  <a:gd name="connsiteX7" fmla="*/ 0 w 7297898"/>
                  <a:gd name="connsiteY7" fmla="*/ 4444795 h 4444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97898" h="4444795">
                    <a:moveTo>
                      <a:pt x="75384" y="75384"/>
                    </a:moveTo>
                    <a:lnTo>
                      <a:pt x="75384" y="4369411"/>
                    </a:lnTo>
                    <a:lnTo>
                      <a:pt x="7222514" y="4369411"/>
                    </a:lnTo>
                    <a:lnTo>
                      <a:pt x="7222514" y="75384"/>
                    </a:lnTo>
                    <a:close/>
                    <a:moveTo>
                      <a:pt x="0" y="0"/>
                    </a:moveTo>
                    <a:lnTo>
                      <a:pt x="7297898" y="0"/>
                    </a:lnTo>
                    <a:lnTo>
                      <a:pt x="7297898" y="4444795"/>
                    </a:lnTo>
                    <a:lnTo>
                      <a:pt x="0" y="4444795"/>
                    </a:lnTo>
                    <a:close/>
                  </a:path>
                </a:pathLst>
              </a:custGeom>
            </p:spPr>
          </p:pic>
          <p:grpSp>
            <p:nvGrpSpPr>
              <p:cNvPr id="10" name="组合 9"/>
              <p:cNvGrpSpPr/>
              <p:nvPr/>
            </p:nvGrpSpPr>
            <p:grpSpPr>
              <a:xfrm>
                <a:off x="376144" y="1382783"/>
                <a:ext cx="5071377" cy="4609329"/>
                <a:chOff x="3448510" y="1555158"/>
                <a:chExt cx="5071377" cy="4444369"/>
              </a:xfrm>
            </p:grpSpPr>
            <p:pic>
              <p:nvPicPr>
                <p:cNvPr id="14" name="图片 13"/>
                <p:cNvPicPr>
                  <a:picLocks noChangeAspect="1"/>
                </p:cNvPicPr>
                <p:nvPr/>
              </p:nvPicPr>
              <p:blipFill>
                <a:blip r:embed="rId2" cstate="screen">
                  <a:extLst>
                    <a:ext uri="{BEBA8EAE-BF5A-486C-A8C5-ECC9F3942E4B}">
                      <a14:imgProps xmlns:a14="http://schemas.microsoft.com/office/drawing/2010/main">
                        <a14:imgLayer r:embed="rId3">
                          <a14:imgEffect>
                            <a14:backgroundRemoval t="0" b="100000" l="0" r="85827"/>
                          </a14:imgEffect>
                        </a14:imgLayer>
                      </a14:imgProps>
                    </a:ext>
                  </a:extLst>
                </a:blip>
                <a:srcRect/>
                <a:stretch>
                  <a:fillRect/>
                </a:stretch>
              </p:blipFill>
              <p:spPr>
                <a:xfrm rot="3887794" flipH="1">
                  <a:off x="3361424" y="2385654"/>
                  <a:ext cx="1553029" cy="1378857"/>
                </a:xfrm>
                <a:custGeom>
                  <a:avLst/>
                  <a:gdLst>
                    <a:gd name="connsiteX0" fmla="*/ 667657 w 1553029"/>
                    <a:gd name="connsiteY0" fmla="*/ 0 h 1378857"/>
                    <a:gd name="connsiteX1" fmla="*/ 1553029 w 1553029"/>
                    <a:gd name="connsiteY1" fmla="*/ 72571 h 1378857"/>
                    <a:gd name="connsiteX2" fmla="*/ 1553029 w 1553029"/>
                    <a:gd name="connsiteY2" fmla="*/ 1132114 h 1378857"/>
                    <a:gd name="connsiteX3" fmla="*/ 653143 w 1553029"/>
                    <a:gd name="connsiteY3" fmla="*/ 1378857 h 1378857"/>
                    <a:gd name="connsiteX4" fmla="*/ 0 w 1553029"/>
                    <a:gd name="connsiteY4" fmla="*/ 319314 h 1378857"/>
                    <a:gd name="connsiteX5" fmla="*/ 159657 w 1553029"/>
                    <a:gd name="connsiteY5" fmla="*/ 116114 h 1378857"/>
                    <a:gd name="connsiteX6" fmla="*/ 667657 w 1553029"/>
                    <a:gd name="connsiteY6" fmla="*/ 0 h 1378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029" h="1378857">
                      <a:moveTo>
                        <a:pt x="667657" y="0"/>
                      </a:moveTo>
                      <a:lnTo>
                        <a:pt x="1553029" y="72571"/>
                      </a:lnTo>
                      <a:lnTo>
                        <a:pt x="1553029" y="1132114"/>
                      </a:lnTo>
                      <a:lnTo>
                        <a:pt x="653143" y="1378857"/>
                      </a:lnTo>
                      <a:lnTo>
                        <a:pt x="0" y="319314"/>
                      </a:lnTo>
                      <a:lnTo>
                        <a:pt x="159657" y="116114"/>
                      </a:lnTo>
                      <a:lnTo>
                        <a:pt x="667657" y="0"/>
                      </a:lnTo>
                      <a:close/>
                    </a:path>
                  </a:pathLst>
                </a:custGeom>
              </p:spPr>
            </p:pic>
            <p:pic>
              <p:nvPicPr>
                <p:cNvPr id="15" name="图片 14"/>
                <p:cNvPicPr>
                  <a:picLocks noChangeAspect="1"/>
                </p:cNvPicPr>
                <p:nvPr/>
              </p:nvPicPr>
              <p:blipFill>
                <a:blip r:embed="rId4" cstate="screen"/>
                <a:stretch>
                  <a:fillRect/>
                </a:stretch>
              </p:blipFill>
              <p:spPr>
                <a:xfrm rot="16438735">
                  <a:off x="4126356" y="2754632"/>
                  <a:ext cx="1478203" cy="1297533"/>
                </a:xfrm>
                <a:prstGeom prst="rect">
                  <a:avLst/>
                </a:prstGeom>
              </p:spPr>
            </p:pic>
            <p:pic>
              <p:nvPicPr>
                <p:cNvPr id="16" name="图片 15"/>
                <p:cNvPicPr>
                  <a:picLocks noChangeAspect="1"/>
                </p:cNvPicPr>
                <p:nvPr/>
              </p:nvPicPr>
              <p:blipFill>
                <a:blip r:embed="rId5">
                  <a:extLst>
                    <a:ext uri="{BEBA8EAE-BF5A-486C-A8C5-ECC9F3942E4B}">
                      <a14:imgProps xmlns:a14="http://schemas.microsoft.com/office/drawing/2010/main">
                        <a14:imgLayer r:embed="rId6">
                          <a14:imgEffect>
                            <a14:backgroundRemoval t="9877" b="93416" l="2315" r="89815">
                              <a14:foregroundMark x1="11111" y1="51852" x2="6327" y2="56516"/>
                              <a14:foregroundMark x1="2623" y1="58711" x2="2315" y2="57750"/>
                              <a14:foregroundMark x1="17593" y1="90123" x2="21296" y2="93416"/>
                              <a14:backgroundMark x1="13580" y1="35254" x2="12191" y2="40055"/>
                              <a14:backgroundMark x1="10648" y1="43759" x2="14352" y2="38546"/>
                            </a14:backgroundRemoval>
                          </a14:imgEffect>
                        </a14:imgLayer>
                      </a14:imgProps>
                    </a:ext>
                  </a:extLst>
                </a:blip>
                <a:stretch>
                  <a:fillRect/>
                </a:stretch>
              </p:blipFill>
              <p:spPr>
                <a:xfrm>
                  <a:off x="4569337" y="1555158"/>
                  <a:ext cx="3950550" cy="4444369"/>
                </a:xfrm>
                <a:prstGeom prst="rect">
                  <a:avLst/>
                </a:prstGeom>
              </p:spPr>
            </p:pic>
          </p:grpSp>
          <p:grpSp>
            <p:nvGrpSpPr>
              <p:cNvPr id="11" name="组合 10"/>
              <p:cNvGrpSpPr/>
              <p:nvPr/>
            </p:nvGrpSpPr>
            <p:grpSpPr>
              <a:xfrm>
                <a:off x="7451839" y="4394025"/>
                <a:ext cx="2488146" cy="1521438"/>
                <a:chOff x="7242289" y="4298775"/>
                <a:chExt cx="2488146" cy="1521438"/>
              </a:xfrm>
            </p:grpSpPr>
            <p:pic>
              <p:nvPicPr>
                <p:cNvPr id="12" name="图片 11"/>
                <p:cNvPicPr>
                  <a:picLocks noChangeAspect="1"/>
                </p:cNvPicPr>
                <p:nvPr/>
              </p:nvPicPr>
              <p:blipFill>
                <a:blip r:embed="rId7" cstate="screen">
                  <a:extLst>
                    <a:ext uri="{BEBA8EAE-BF5A-486C-A8C5-ECC9F3942E4B}">
                      <a14:imgProps xmlns:a14="http://schemas.microsoft.com/office/drawing/2010/main">
                        <a14:imgLayer r:embed="rId8">
                          <a14:imgEffect>
                            <a14:backgroundRemoval t="6641" b="90323" l="2186" r="89930">
                              <a14:foregroundMark x1="7338" y1="26376" x2="4840" y2="66034"/>
                              <a14:foregroundMark x1="67838" y1="89184" x2="70023" y2="90323"/>
                              <a14:foregroundMark x1="2888" y1="44592" x2="3201" y2="72486"/>
                              <a14:foregroundMark x1="2186" y1="50664" x2="2654" y2="58824"/>
                              <a14:foregroundMark x1="5855" y1="30361" x2="9524" y2="20304"/>
                              <a14:foregroundMark x1="21311" y1="9108" x2="27322" y2="6641"/>
                              <a14:foregroundMark x1="29899" y1="10057" x2="35207" y2="10057"/>
                              <a14:backgroundMark x1="3201" y1="17457" x2="3201" y2="27514"/>
                              <a14:backgroundMark x1="9290" y1="16129" x2="12959" y2="12713"/>
                              <a14:backgroundMark x1="12412" y1="9108" x2="20453" y2="5503"/>
                              <a14:backgroundMark x1="21233" y1="3226" x2="23888" y2="2846"/>
                              <a14:backgroundMark x1="21702" y1="4554" x2="24122" y2="4364"/>
                              <a14:backgroundMark x1="26308" y1="2846" x2="27713" y2="3226"/>
                              <a14:backgroundMark x1="26932" y1="1139" x2="29664" y2="3226"/>
                            </a14:backgroundRemoval>
                          </a14:imgEffect>
                        </a14:imgLayer>
                      </a14:imgProps>
                    </a:ext>
                  </a:extLst>
                </a:blip>
                <a:stretch>
                  <a:fillRect/>
                </a:stretch>
              </p:blipFill>
              <p:spPr>
                <a:xfrm flipH="1">
                  <a:off x="7242289" y="4796596"/>
                  <a:ext cx="2488146" cy="1023617"/>
                </a:xfrm>
                <a:custGeom>
                  <a:avLst/>
                  <a:gdLst>
                    <a:gd name="connsiteX0" fmla="*/ 2488146 w 2488146"/>
                    <a:gd name="connsiteY0" fmla="*/ 0 h 1023617"/>
                    <a:gd name="connsiteX1" fmla="*/ 54801 w 2488146"/>
                    <a:gd name="connsiteY1" fmla="*/ 0 h 1023617"/>
                    <a:gd name="connsiteX2" fmla="*/ 54801 w 2488146"/>
                    <a:gd name="connsiteY2" fmla="*/ 1023616 h 1023617"/>
                    <a:gd name="connsiteX3" fmla="*/ 0 w 2488146"/>
                    <a:gd name="connsiteY3" fmla="*/ 1023616 h 1023617"/>
                    <a:gd name="connsiteX4" fmla="*/ 0 w 2488146"/>
                    <a:gd name="connsiteY4" fmla="*/ 1023617 h 1023617"/>
                    <a:gd name="connsiteX5" fmla="*/ 2488146 w 2488146"/>
                    <a:gd name="connsiteY5" fmla="*/ 1023617 h 102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8146" h="1023617">
                      <a:moveTo>
                        <a:pt x="2488146" y="0"/>
                      </a:moveTo>
                      <a:lnTo>
                        <a:pt x="54801" y="0"/>
                      </a:lnTo>
                      <a:lnTo>
                        <a:pt x="54801" y="1023616"/>
                      </a:lnTo>
                      <a:lnTo>
                        <a:pt x="0" y="1023616"/>
                      </a:lnTo>
                      <a:lnTo>
                        <a:pt x="0" y="1023617"/>
                      </a:lnTo>
                      <a:lnTo>
                        <a:pt x="2488146" y="1023617"/>
                      </a:lnTo>
                      <a:close/>
                    </a:path>
                  </a:pathLst>
                </a:custGeom>
              </p:spPr>
            </p:pic>
            <p:pic>
              <p:nvPicPr>
                <p:cNvPr id="13" name="图片 12"/>
                <p:cNvPicPr>
                  <a:picLocks noChangeAspect="1"/>
                </p:cNvPicPr>
                <p:nvPr/>
              </p:nvPicPr>
              <p:blipFill>
                <a:blip r:embed="rId9" cstate="screen"/>
                <a:stretch>
                  <a:fillRect/>
                </a:stretch>
              </p:blipFill>
              <p:spPr>
                <a:xfrm rot="16438735">
                  <a:off x="8313454" y="4359620"/>
                  <a:ext cx="995642" cy="873952"/>
                </a:xfrm>
                <a:prstGeom prst="rect">
                  <a:avLst/>
                </a:prstGeom>
              </p:spPr>
            </p:pic>
          </p:grpSp>
        </p:grpSp>
        <p:sp>
          <p:nvSpPr>
            <p:cNvPr id="4" name="文本框 3"/>
            <p:cNvSpPr txBox="1"/>
            <p:nvPr/>
          </p:nvSpPr>
          <p:spPr>
            <a:xfrm>
              <a:off x="4639210" y="2910790"/>
              <a:ext cx="4423107" cy="1753235"/>
            </a:xfrm>
            <a:prstGeom prst="rect">
              <a:avLst/>
            </a:prstGeom>
            <a:noFill/>
          </p:spPr>
          <p:txBody>
            <a:bodyPr wrap="square" rtlCol="0">
              <a:spAutoFit/>
            </a:bodyPr>
            <a:lstStyle>
              <a:defPPr>
                <a:defRPr lang="zh-CN"/>
              </a:defPPr>
              <a:lvl1pPr algn="dist">
                <a:defRPr sz="5400">
                  <a:solidFill>
                    <a:srgbClr val="685652"/>
                  </a:solidFill>
                  <a:latin typeface="汉仪长美黑简" panose="02010609000101010101" pitchFamily="49" charset="-122"/>
                  <a:ea typeface="汉仪长美黑简" panose="02010609000101010101" pitchFamily="49" charset="-122"/>
                </a:defRPr>
              </a:lvl1pPr>
            </a:lstStyle>
            <a:p>
              <a:pPr algn="ctr"/>
              <a:r>
                <a:rPr lang="zh-CN" altLang="en-US" dirty="0"/>
                <a:t>多理论视角下的深度解析</a:t>
              </a:r>
              <a:endParaRPr lang="zh-CN" altLang="en-US" dirty="0"/>
            </a:p>
          </p:txBody>
        </p:sp>
        <p:grpSp>
          <p:nvGrpSpPr>
            <p:cNvPr id="6" name="组合 5"/>
            <p:cNvGrpSpPr/>
            <p:nvPr/>
          </p:nvGrpSpPr>
          <p:grpSpPr>
            <a:xfrm>
              <a:off x="5543550" y="1897158"/>
              <a:ext cx="1374008" cy="1219095"/>
              <a:chOff x="5524500" y="1859058"/>
              <a:chExt cx="1374008" cy="1219095"/>
            </a:xfrm>
          </p:grpSpPr>
          <p:pic>
            <p:nvPicPr>
              <p:cNvPr id="7" name="图片 6"/>
              <p:cNvPicPr>
                <a:picLocks noChangeAspect="1"/>
              </p:cNvPicPr>
              <p:nvPr/>
            </p:nvPicPr>
            <p:blipFill>
              <a:blip r:embed="rId10" cstate="screen">
                <a:extLst>
                  <a:ext uri="{BEBA8EAE-BF5A-486C-A8C5-ECC9F3942E4B}">
                    <a14:imgProps xmlns:a14="http://schemas.microsoft.com/office/drawing/2010/main">
                      <a14:imgLayer r:embed="rId11">
                        <a14:imgEffect>
                          <a14:backgroundRemoval t="0" b="100000" l="0" r="85062"/>
                        </a14:imgEffect>
                      </a14:imgLayer>
                    </a14:imgProps>
                  </a:ext>
                </a:extLst>
              </a:blip>
              <a:srcRect/>
              <a:stretch>
                <a:fillRect/>
              </a:stretch>
            </p:blipFill>
            <p:spPr>
              <a:xfrm rot="17712206">
                <a:off x="6237928" y="1891741"/>
                <a:ext cx="693264" cy="627897"/>
              </a:xfrm>
              <a:custGeom>
                <a:avLst/>
                <a:gdLst>
                  <a:gd name="connsiteX0" fmla="*/ 865274 w 865274"/>
                  <a:gd name="connsiteY0" fmla="*/ 41247 h 783688"/>
                  <a:gd name="connsiteX1" fmla="*/ 865274 w 865274"/>
                  <a:gd name="connsiteY1" fmla="*/ 643449 h 783688"/>
                  <a:gd name="connsiteX2" fmla="*/ 334830 w 865274"/>
                  <a:gd name="connsiteY2" fmla="*/ 783688 h 783688"/>
                  <a:gd name="connsiteX3" fmla="*/ 0 w 865274"/>
                  <a:gd name="connsiteY3" fmla="*/ 259958 h 783688"/>
                  <a:gd name="connsiteX4" fmla="*/ 296442 w 865274"/>
                  <a:gd name="connsiteY4" fmla="*/ 120441 h 783688"/>
                  <a:gd name="connsiteX5" fmla="*/ 249497 w 865274"/>
                  <a:gd name="connsiteY5" fmla="*/ 20692 h 783688"/>
                  <a:gd name="connsiteX6" fmla="*/ 343386 w 865274"/>
                  <a:gd name="connsiteY6" fmla="*/ 0 h 78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274" h="783688">
                    <a:moveTo>
                      <a:pt x="865274" y="41247"/>
                    </a:moveTo>
                    <a:lnTo>
                      <a:pt x="865274" y="643449"/>
                    </a:lnTo>
                    <a:lnTo>
                      <a:pt x="334830" y="783688"/>
                    </a:lnTo>
                    <a:lnTo>
                      <a:pt x="0" y="259958"/>
                    </a:lnTo>
                    <a:lnTo>
                      <a:pt x="296442" y="120441"/>
                    </a:lnTo>
                    <a:lnTo>
                      <a:pt x="249497" y="20692"/>
                    </a:lnTo>
                    <a:lnTo>
                      <a:pt x="343386" y="0"/>
                    </a:lnTo>
                    <a:close/>
                  </a:path>
                </a:pathLst>
              </a:custGeom>
            </p:spPr>
          </p:pic>
          <p:sp>
            <p:nvSpPr>
              <p:cNvPr id="8" name="文本框 7"/>
              <p:cNvSpPr txBox="1"/>
              <p:nvPr/>
            </p:nvSpPr>
            <p:spPr>
              <a:xfrm>
                <a:off x="5524500" y="2062490"/>
                <a:ext cx="1187806" cy="1015663"/>
              </a:xfrm>
              <a:prstGeom prst="rect">
                <a:avLst/>
              </a:prstGeom>
              <a:noFill/>
            </p:spPr>
            <p:txBody>
              <a:bodyPr wrap="square" rtlCol="0">
                <a:spAutoFit/>
              </a:bodyPr>
              <a:lstStyle/>
              <a:p>
                <a:r>
                  <a:rPr lang="en-US" altLang="zh-CN" sz="6000" b="1" dirty="0">
                    <a:ln>
                      <a:solidFill>
                        <a:srgbClr val="685652"/>
                      </a:solidFill>
                    </a:ln>
                    <a:solidFill>
                      <a:srgbClr val="AE8867"/>
                    </a:solidFill>
                    <a:latin typeface="微软雅黑" panose="020B0503020204020204" pitchFamily="34" charset="-122"/>
                    <a:ea typeface="微软雅黑" panose="020B0503020204020204" pitchFamily="34" charset="-122"/>
                  </a:rPr>
                  <a:t>03</a:t>
                </a:r>
                <a:endParaRPr lang="zh-CN" altLang="en-US" sz="6000" b="1" dirty="0">
                  <a:ln>
                    <a:solidFill>
                      <a:srgbClr val="685652"/>
                    </a:solidFill>
                  </a:ln>
                  <a:solidFill>
                    <a:srgbClr val="AE8867"/>
                  </a:solidFill>
                  <a:latin typeface="微软雅黑" panose="020B0503020204020204" pitchFamily="34" charset="-122"/>
                  <a:ea typeface="微软雅黑" panose="020B0503020204020204" pitchFamily="34" charset="-122"/>
                </a:endParaRPr>
              </a:p>
            </p:txBody>
          </p:sp>
        </p:grpSp>
      </p:grpSp>
      <p:grpSp>
        <p:nvGrpSpPr>
          <p:cNvPr id="17" name="组合 16"/>
          <p:cNvGrpSpPr/>
          <p:nvPr/>
        </p:nvGrpSpPr>
        <p:grpSpPr>
          <a:xfrm>
            <a:off x="8171003" y="1401833"/>
            <a:ext cx="1506397" cy="2726545"/>
            <a:chOff x="8171003" y="1401833"/>
            <a:chExt cx="1506397" cy="2726545"/>
          </a:xfrm>
        </p:grpSpPr>
        <p:cxnSp>
          <p:nvCxnSpPr>
            <p:cNvPr id="18" name="直接连接符 17"/>
            <p:cNvCxnSpPr/>
            <p:nvPr/>
          </p:nvCxnSpPr>
          <p:spPr>
            <a:xfrm flipH="1">
              <a:off x="9677400" y="1401833"/>
              <a:ext cx="0" cy="2726545"/>
            </a:xfrm>
            <a:prstGeom prst="line">
              <a:avLst/>
            </a:prstGeom>
            <a:ln w="19050">
              <a:solidFill>
                <a:srgbClr val="BD9C7D"/>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8171003" y="1413016"/>
              <a:ext cx="1506397" cy="0"/>
            </a:xfrm>
            <a:prstGeom prst="line">
              <a:avLst/>
            </a:prstGeom>
            <a:ln w="19050">
              <a:solidFill>
                <a:srgbClr val="BD9C7D"/>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38150"/>
            <a:ext cx="12237156" cy="6419850"/>
            <a:chOff x="0" y="438150"/>
            <a:chExt cx="12237156" cy="6419850"/>
          </a:xfrm>
        </p:grpSpPr>
        <p:sp>
          <p:nvSpPr>
            <p:cNvPr id="2" name="矩形 1"/>
            <p:cNvSpPr/>
            <p:nvPr/>
          </p:nvSpPr>
          <p:spPr>
            <a:xfrm>
              <a:off x="400050" y="438150"/>
              <a:ext cx="11391900" cy="6129462"/>
            </a:xfrm>
            <a:prstGeom prst="rect">
              <a:avLst/>
            </a:prstGeom>
            <a:noFill/>
            <a:ln w="28575">
              <a:solidFill>
                <a:srgbClr val="BD9C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cstate="screen">
              <a:extLst>
                <a:ext uri="{BEBA8EAE-BF5A-486C-A8C5-ECC9F3942E4B}">
                  <a14:imgProps xmlns:a14="http://schemas.microsoft.com/office/drawing/2010/main">
                    <a14:imgLayer r:embed="rId2">
                      <a14:imgEffect>
                        <a14:backgroundRemoval t="8969" b="89238" l="3300" r="97500">
                          <a14:foregroundMark x1="3350" y1="29596" x2="16150" y2="72197"/>
                          <a14:foregroundMark x1="16150" y1="72197" x2="50500" y2="24215"/>
                          <a14:foregroundMark x1="50500" y1="24215" x2="54650" y2="42601"/>
                          <a14:foregroundMark x1="54650" y1="42601" x2="72700" y2="17489"/>
                          <a14:foregroundMark x1="72700" y1="17489" x2="87300" y2="49776"/>
                          <a14:foregroundMark x1="87300" y1="49776" x2="91600" y2="42152"/>
                          <a14:foregroundMark x1="91600" y1="42152" x2="91650" y2="42152"/>
                          <a14:foregroundMark x1="3700" y1="35874" x2="5500" y2="39910"/>
                          <a14:foregroundMark x1="95600" y1="39910" x2="97500" y2="52018"/>
                          <a14:foregroundMark x1="45600" y1="15247" x2="45600" y2="15247"/>
                          <a14:foregroundMark x1="45950" y1="14798" x2="45950" y2="14798"/>
                          <a14:foregroundMark x1="46500" y1="14798" x2="46500" y2="14798"/>
                          <a14:foregroundMark x1="65900" y1="13901" x2="65900" y2="13901"/>
                          <a14:foregroundMark x1="59550" y1="14350" x2="59550" y2="14350"/>
                          <a14:foregroundMark x1="73850" y1="14350" x2="73850" y2="14350"/>
                          <a14:foregroundMark x1="87650" y1="14350" x2="87650" y2="14350"/>
                          <a14:foregroundMark x1="79200" y1="13901" x2="79850" y2="15247"/>
                          <a14:foregroundMark x1="93200" y1="13453" x2="94150" y2="14350"/>
                          <a14:foregroundMark x1="51300" y1="13453" x2="52050" y2="13453"/>
                          <a14:foregroundMark x1="23400" y1="16143" x2="24250" y2="16143"/>
                          <a14:foregroundMark x1="31100" y1="16592" x2="32900" y2="19283"/>
                          <a14:foregroundMark x1="31550" y1="15247" x2="32400" y2="16592"/>
                          <a14:foregroundMark x1="37350" y1="16143" x2="38500" y2="17040"/>
                          <a14:foregroundMark x1="3300" y1="16143" x2="4450" y2="17489"/>
                          <a14:foregroundMark x1="17350" y1="17937" x2="19150" y2="17937"/>
                        </a14:backgroundRemoval>
                      </a14:imgEffect>
                    </a14:imgLayer>
                  </a14:imgProps>
                </a:ext>
              </a:extLst>
            </a:blip>
            <a:srcRect l="459" b="58084"/>
            <a:stretch>
              <a:fillRect/>
            </a:stretch>
          </p:blipFill>
          <p:spPr>
            <a:xfrm>
              <a:off x="0" y="6288194"/>
              <a:ext cx="12237156" cy="569806"/>
            </a:xfrm>
            <a:custGeom>
              <a:avLst/>
              <a:gdLst>
                <a:gd name="connsiteX0" fmla="*/ 0 w 12237156"/>
                <a:gd name="connsiteY0" fmla="*/ 0 h 569806"/>
                <a:gd name="connsiteX1" fmla="*/ 12237156 w 12237156"/>
                <a:gd name="connsiteY1" fmla="*/ 0 h 569806"/>
                <a:gd name="connsiteX2" fmla="*/ 12237156 w 12237156"/>
                <a:gd name="connsiteY2" fmla="*/ 569806 h 569806"/>
                <a:gd name="connsiteX3" fmla="*/ 0 w 12237156"/>
                <a:gd name="connsiteY3" fmla="*/ 569806 h 569806"/>
              </a:gdLst>
              <a:ahLst/>
              <a:cxnLst>
                <a:cxn ang="0">
                  <a:pos x="connsiteX0" y="connsiteY0"/>
                </a:cxn>
                <a:cxn ang="0">
                  <a:pos x="connsiteX1" y="connsiteY1"/>
                </a:cxn>
                <a:cxn ang="0">
                  <a:pos x="connsiteX2" y="connsiteY2"/>
                </a:cxn>
                <a:cxn ang="0">
                  <a:pos x="connsiteX3" y="connsiteY3"/>
                </a:cxn>
              </a:cxnLst>
              <a:rect l="l" t="t" r="r" b="b"/>
              <a:pathLst>
                <a:path w="12237156" h="569806">
                  <a:moveTo>
                    <a:pt x="0" y="0"/>
                  </a:moveTo>
                  <a:lnTo>
                    <a:pt x="12237156" y="0"/>
                  </a:lnTo>
                  <a:lnTo>
                    <a:pt x="12237156" y="569806"/>
                  </a:lnTo>
                  <a:lnTo>
                    <a:pt x="0" y="569806"/>
                  </a:lnTo>
                  <a:close/>
                </a:path>
              </a:pathLst>
            </a:custGeom>
          </p:spPr>
        </p:pic>
      </p:grpSp>
      <p:pic>
        <p:nvPicPr>
          <p:cNvPr id="18" name="图片 17"/>
          <p:cNvPicPr>
            <a:picLocks noChangeAspect="1"/>
          </p:cNvPicPr>
          <p:nvPr/>
        </p:nvPicPr>
        <p:blipFill>
          <a:blip r:embed="rId3" cstate="screen"/>
          <a:srcRect l="23130" t="17133" r="39317" b="7662"/>
          <a:stretch>
            <a:fillRect/>
          </a:stretch>
        </p:blipFill>
        <p:spPr>
          <a:xfrm flipH="1">
            <a:off x="1040922" y="1660169"/>
            <a:ext cx="4007651" cy="4514488"/>
          </a:xfrm>
          <a:custGeom>
            <a:avLst/>
            <a:gdLst>
              <a:gd name="connsiteX0" fmla="*/ 4007651 w 4007651"/>
              <a:gd name="connsiteY0" fmla="*/ 0 h 4514488"/>
              <a:gd name="connsiteX1" fmla="*/ 0 w 4007651"/>
              <a:gd name="connsiteY1" fmla="*/ 4514488 h 4514488"/>
              <a:gd name="connsiteX2" fmla="*/ 4007651 w 4007651"/>
              <a:gd name="connsiteY2" fmla="*/ 4514488 h 4514488"/>
            </a:gdLst>
            <a:ahLst/>
            <a:cxnLst>
              <a:cxn ang="0">
                <a:pos x="connsiteX0" y="connsiteY0"/>
              </a:cxn>
              <a:cxn ang="0">
                <a:pos x="connsiteX1" y="connsiteY1"/>
              </a:cxn>
              <a:cxn ang="0">
                <a:pos x="connsiteX2" y="connsiteY2"/>
              </a:cxn>
            </a:cxnLst>
            <a:rect l="l" t="t" r="r" b="b"/>
            <a:pathLst>
              <a:path w="4007651" h="4514488">
                <a:moveTo>
                  <a:pt x="4007651" y="0"/>
                </a:moveTo>
                <a:lnTo>
                  <a:pt x="0" y="4514488"/>
                </a:lnTo>
                <a:lnTo>
                  <a:pt x="4007651" y="4514488"/>
                </a:lnTo>
                <a:close/>
              </a:path>
            </a:pathLst>
          </a:custGeom>
          <a:effectLst>
            <a:outerShdw blurRad="50800" dist="38100" dir="2700000" algn="tl" rotWithShape="0">
              <a:prstClr val="black">
                <a:alpha val="40000"/>
              </a:prstClr>
            </a:outerShdw>
          </a:effectLst>
        </p:spPr>
      </p:pic>
      <p:sp>
        <p:nvSpPr>
          <p:cNvPr id="23" name="文本框 22"/>
          <p:cNvSpPr txBox="1"/>
          <p:nvPr/>
        </p:nvSpPr>
        <p:spPr>
          <a:xfrm>
            <a:off x="2734198" y="1101674"/>
            <a:ext cx="8486893" cy="2634234"/>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共情传播理论以情感互通实现群体共振，通过内容唤起共同情绪记忆；符号互动理论指出，创作者借助具象符号进行意义编码，受众解码时与自身经验对接，搭建跨圈层认知桥梁。影片选用潮汕方言、祖孙亲情、乡土日常等高度辨识且具普适性的情感符号，弱化理解门槛。阿嬷的坚守与南枝的取舍所构成的温情支点，触发关于亲情、故土、长辈的集体记忆，无论何地的观众都能完成情感对接。观影后的社交分享围绕这些符号持续互动，强化情感记忆。传播逻辑在于：具象情感符号实现跨地域意义传递，低门槛解码铺就共情通道，情感共鸣驱动观众主动分享，成为影片跳出小众圈层的根基。</a:t>
            </a:r>
            <a:endParaRPr lang="zh-CN" altLang="en-US" sz="1400" dirty="0">
              <a:solidFill>
                <a:srgbClr val="685652"/>
              </a:solidFill>
              <a:latin typeface="微软雅黑" panose="020B0503020204020204" pitchFamily="34" charset="-122"/>
              <a:ea typeface="微软雅黑" panose="020B0503020204020204" pitchFamily="34" charset="-122"/>
            </a:endParaRPr>
          </a:p>
        </p:txBody>
      </p:sp>
      <p:sp>
        <p:nvSpPr>
          <p:cNvPr id="11" name="椭圆 10"/>
          <p:cNvSpPr/>
          <p:nvPr/>
        </p:nvSpPr>
        <p:spPr>
          <a:xfrm>
            <a:off x="2574237" y="1233428"/>
            <a:ext cx="108000" cy="108000"/>
          </a:xfrm>
          <a:prstGeom prst="ellipse">
            <a:avLst/>
          </a:prstGeom>
          <a:solidFill>
            <a:srgbClr val="A88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i="1" dirty="0">
              <a:latin typeface="微软雅黑" panose="020B0503020204020204" pitchFamily="34" charset="-122"/>
              <a:ea typeface="微软雅黑" panose="020B0503020204020204" pitchFamily="34" charset="-122"/>
            </a:endParaRPr>
          </a:p>
        </p:txBody>
      </p:sp>
      <p:sp>
        <p:nvSpPr>
          <p:cNvPr id="46" name="文本框 45"/>
          <p:cNvSpPr txBox="1"/>
          <p:nvPr/>
        </p:nvSpPr>
        <p:spPr>
          <a:xfrm>
            <a:off x="5048580" y="3934848"/>
            <a:ext cx="6519781" cy="235331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该理论强调受众基于心理需求主动筛选媒介产品，当内容精准匹配心理空缺时，消费满足感会驱动二次传播。当前影视市场充斥流量堆砌、特效至上的流水线作品，观众长期陷入同质化审美疲劳。影片去流量、去工业化的质朴叙事，精准填补了大众对真挚情感与写实内容的心理缺口；双女主塑造契合女性受众的身份认同需求，满足其自我表达与价值确认的精神诉求。观众获得深层情绪慰藉后，将满足感转化为强烈的分享意愿。传播逻辑由此显现：内容填补情感与审美缺口，满足心理需求，驱动从被动观影转向主动安利，形成口碑的自发裂变。</a:t>
            </a:r>
            <a:endParaRPr lang="zh-CN" altLang="en-US" sz="1400" dirty="0">
              <a:solidFill>
                <a:srgbClr val="685652"/>
              </a:solidFill>
              <a:latin typeface="微软雅黑" panose="020B0503020204020204" pitchFamily="34" charset="-122"/>
              <a:ea typeface="微软雅黑" panose="020B0503020204020204" pitchFamily="34" charset="-122"/>
            </a:endParaRPr>
          </a:p>
        </p:txBody>
      </p:sp>
      <p:sp>
        <p:nvSpPr>
          <p:cNvPr id="43" name="椭圆 42"/>
          <p:cNvSpPr/>
          <p:nvPr/>
        </p:nvSpPr>
        <p:spPr>
          <a:xfrm>
            <a:off x="4536532" y="4131169"/>
            <a:ext cx="108000" cy="108000"/>
          </a:xfrm>
          <a:prstGeom prst="ellipse">
            <a:avLst/>
          </a:prstGeom>
          <a:solidFill>
            <a:srgbClr val="A88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3837572" y="3306684"/>
            <a:ext cx="3518762" cy="932511"/>
            <a:chOff x="502016" y="372414"/>
            <a:chExt cx="3518762" cy="932511"/>
          </a:xfrm>
        </p:grpSpPr>
        <p:sp>
          <p:nvSpPr>
            <p:cNvPr id="9" name="文本框 8"/>
            <p:cNvSpPr txBox="1"/>
            <p:nvPr/>
          </p:nvSpPr>
          <p:spPr>
            <a:xfrm>
              <a:off x="1078698" y="529233"/>
              <a:ext cx="2620465" cy="706755"/>
            </a:xfrm>
            <a:prstGeom prst="rect">
              <a:avLst/>
            </a:prstGeom>
            <a:noFill/>
          </p:spPr>
          <p:txBody>
            <a:bodyPr wrap="square" rtlCol="0">
              <a:noAutofit/>
            </a:bodyPr>
            <a:lstStyle>
              <a:defPPr>
                <a:defRPr lang="zh-CN"/>
              </a:defPPr>
              <a:lvl1pPr algn="dist">
                <a:defRPr sz="2000">
                  <a:solidFill>
                    <a:srgbClr val="685652"/>
                  </a:solidFill>
                  <a:latin typeface="汉仪长美黑简" panose="02010609000101010101" pitchFamily="49" charset="-122"/>
                  <a:ea typeface="汉仪长美黑简" panose="02010609000101010101" pitchFamily="49" charset="-122"/>
                </a:defRPr>
              </a:lvl1pPr>
            </a:lstStyle>
            <a:p>
              <a:r>
                <a:rPr lang="zh-CN" altLang="en-US" dirty="0"/>
                <a:t>使用与满足理论</a:t>
              </a:r>
              <a:endParaRPr lang="zh-CN" altLang="en-US" dirty="0"/>
            </a:p>
          </p:txBody>
        </p:sp>
        <p:pic>
          <p:nvPicPr>
            <p:cNvPr id="7" name="图片 6" descr="图片包含 桌子, 小, 游戏机, 花瓶&#10;&#10;描述已自动生成"/>
            <p:cNvPicPr>
              <a:picLocks noChangeAspect="1"/>
            </p:cNvPicPr>
            <p:nvPr/>
          </p:nvPicPr>
          <p:blipFill>
            <a:blip r:embed="rId4" cstate="screen">
              <a:extLst>
                <a:ext uri="{BEBA8EAE-BF5A-486C-A8C5-ECC9F3942E4B}">
                  <a14:imgProps xmlns:a14="http://schemas.microsoft.com/office/drawing/2010/main">
                    <a14:imgLayer r:embed="rId5">
                      <a14:imgEffect>
                        <a14:backgroundRemoval t="9934" b="90177" l="9878" r="89970">
                          <a14:foregroundMark x1="21429" y1="28477" x2="32067" y2="36865"/>
                          <a14:foregroundMark x1="32219" y1="25497" x2="32067" y2="24172"/>
                          <a14:foregroundMark x1="28116" y1="39183" x2="32219" y2="39845"/>
                          <a14:foregroundMark x1="19605" y1="34658" x2="20821" y2="34989"/>
                          <a14:foregroundMark x1="53343" y1="32009" x2="54711" y2="32671"/>
                          <a14:foregroundMark x1="59271" y1="42163" x2="61094" y2="43157"/>
                          <a14:foregroundMark x1="63222" y1="32671" x2="63222" y2="32340"/>
                          <a14:foregroundMark x1="50608" y1="90177" x2="51520" y2="89956"/>
                          <a14:foregroundMark x1="36170" y1="40618" x2="38602" y2="43488"/>
                          <a14:foregroundMark x1="43769" y1="49890" x2="44681" y2="50221"/>
                        </a14:backgroundRemoval>
                      </a14:imgEffect>
                    </a14:imgLayer>
                  </a14:imgProps>
                </a:ext>
              </a:extLst>
            </a:blip>
            <a:stretch>
              <a:fillRect/>
            </a:stretch>
          </p:blipFill>
          <p:spPr>
            <a:xfrm>
              <a:off x="502016" y="372414"/>
              <a:ext cx="698926" cy="932511"/>
            </a:xfrm>
            <a:prstGeom prst="rect">
              <a:avLst/>
            </a:prstGeom>
          </p:spPr>
        </p:pic>
        <p:cxnSp>
          <p:nvCxnSpPr>
            <p:cNvPr id="8" name="直接连接符 7"/>
            <p:cNvCxnSpPr/>
            <p:nvPr/>
          </p:nvCxnSpPr>
          <p:spPr>
            <a:xfrm>
              <a:off x="1006116" y="934849"/>
              <a:ext cx="3014662" cy="0"/>
            </a:xfrm>
            <a:prstGeom prst="line">
              <a:avLst/>
            </a:prstGeom>
            <a:ln w="12700">
              <a:solidFill>
                <a:srgbClr val="685652"/>
              </a:solidFill>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1040970" y="634673"/>
            <a:ext cx="3132106" cy="706755"/>
            <a:chOff x="1036367" y="828590"/>
            <a:chExt cx="3132106" cy="706755"/>
          </a:xfrm>
        </p:grpSpPr>
        <p:sp>
          <p:nvSpPr>
            <p:cNvPr id="10" name="文本框 9"/>
            <p:cNvSpPr txBox="1"/>
            <p:nvPr/>
          </p:nvSpPr>
          <p:spPr>
            <a:xfrm>
              <a:off x="1078698" y="828590"/>
              <a:ext cx="3089775" cy="706755"/>
            </a:xfrm>
            <a:prstGeom prst="rect">
              <a:avLst/>
            </a:prstGeom>
            <a:noFill/>
          </p:spPr>
          <p:txBody>
            <a:bodyPr wrap="square" rtlCol="0">
              <a:noAutofit/>
            </a:bodyPr>
            <a:lstStyle>
              <a:defPPr>
                <a:defRPr lang="zh-CN"/>
              </a:defPPr>
              <a:lvl1pPr algn="dist">
                <a:defRPr sz="2000">
                  <a:solidFill>
                    <a:srgbClr val="685652"/>
                  </a:solidFill>
                  <a:latin typeface="汉仪长美黑简" panose="02010609000101010101" pitchFamily="49" charset="-122"/>
                  <a:ea typeface="汉仪长美黑简" panose="02010609000101010101" pitchFamily="49" charset="-122"/>
                </a:defRPr>
              </a:lvl1pPr>
            </a:lstStyle>
            <a:p>
              <a:r>
                <a:rPr lang="zh-CN" altLang="en-US" dirty="0"/>
                <a:t>情感符号编码与共情传播</a:t>
              </a:r>
              <a:endParaRPr lang="zh-CN" altLang="en-US" dirty="0"/>
            </a:p>
          </p:txBody>
        </p:sp>
        <p:cxnSp>
          <p:nvCxnSpPr>
            <p:cNvPr id="13" name="直接连接符 12"/>
            <p:cNvCxnSpPr/>
            <p:nvPr/>
          </p:nvCxnSpPr>
          <p:spPr>
            <a:xfrm>
              <a:off x="1036367" y="1215073"/>
              <a:ext cx="2924794" cy="0"/>
            </a:xfrm>
            <a:prstGeom prst="line">
              <a:avLst/>
            </a:prstGeom>
            <a:ln w="12700">
              <a:solidFill>
                <a:srgbClr val="685652"/>
              </a:solidFill>
            </a:ln>
          </p:spPr>
          <p:style>
            <a:lnRef idx="1">
              <a:schemeClr val="accent1"/>
            </a:lnRef>
            <a:fillRef idx="0">
              <a:schemeClr val="accent1"/>
            </a:fillRef>
            <a:effectRef idx="0">
              <a:schemeClr val="accent1"/>
            </a:effectRef>
            <a:fontRef idx="minor">
              <a:schemeClr val="tx1"/>
            </a:fontRef>
          </p:style>
        </p:cxnSp>
      </p:grpSp>
      <p:pic>
        <p:nvPicPr>
          <p:cNvPr id="19" name="图片 18" descr="图片包含 桌子, 小, 游戏机, 花瓶&#10;&#10;描述已自动生成"/>
          <p:cNvPicPr>
            <a:picLocks noChangeAspect="1"/>
          </p:cNvPicPr>
          <p:nvPr/>
        </p:nvPicPr>
        <p:blipFill>
          <a:blip r:embed="rId4" cstate="screen">
            <a:extLst>
              <a:ext uri="{BEBA8EAE-BF5A-486C-A8C5-ECC9F3942E4B}">
                <a14:imgProps xmlns:a14="http://schemas.microsoft.com/office/drawing/2010/main">
                  <a14:imgLayer r:embed="rId5">
                    <a14:imgEffect>
                      <a14:backgroundRemoval t="9934" b="90177" l="9878" r="89970">
                        <a14:foregroundMark x1="21429" y1="28477" x2="32067" y2="36865"/>
                        <a14:foregroundMark x1="32219" y1="25497" x2="32067" y2="24172"/>
                        <a14:foregroundMark x1="28116" y1="39183" x2="32219" y2="39845"/>
                        <a14:foregroundMark x1="19605" y1="34658" x2="20821" y2="34989"/>
                        <a14:foregroundMark x1="53343" y1="32009" x2="54711" y2="32671"/>
                        <a14:foregroundMark x1="59271" y1="42163" x2="61094" y2="43157"/>
                        <a14:foregroundMark x1="63222" y1="32671" x2="63222" y2="32340"/>
                        <a14:foregroundMark x1="50608" y1="90177" x2="51520" y2="89956"/>
                        <a14:foregroundMark x1="36170" y1="40618" x2="38602" y2="43488"/>
                        <a14:foregroundMark x1="43769" y1="49890" x2="44681" y2="50221"/>
                      </a14:backgroundRemoval>
                    </a14:imgEffect>
                  </a14:imgLayer>
                </a14:imgProps>
              </a:ext>
            </a:extLst>
          </a:blip>
          <a:stretch>
            <a:fillRect/>
          </a:stretch>
        </p:blipFill>
        <p:spPr>
          <a:xfrm>
            <a:off x="572359" y="470627"/>
            <a:ext cx="698926" cy="76276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38150"/>
            <a:ext cx="12237156" cy="6419850"/>
            <a:chOff x="0" y="438150"/>
            <a:chExt cx="12237156" cy="6419850"/>
          </a:xfrm>
        </p:grpSpPr>
        <p:sp>
          <p:nvSpPr>
            <p:cNvPr id="2" name="矩形 1"/>
            <p:cNvSpPr/>
            <p:nvPr/>
          </p:nvSpPr>
          <p:spPr>
            <a:xfrm>
              <a:off x="400050" y="438150"/>
              <a:ext cx="11391900" cy="6129462"/>
            </a:xfrm>
            <a:prstGeom prst="rect">
              <a:avLst/>
            </a:prstGeom>
            <a:noFill/>
            <a:ln w="28575">
              <a:solidFill>
                <a:srgbClr val="BD9C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cstate="screen">
              <a:extLst>
                <a:ext uri="{BEBA8EAE-BF5A-486C-A8C5-ECC9F3942E4B}">
                  <a14:imgProps xmlns:a14="http://schemas.microsoft.com/office/drawing/2010/main">
                    <a14:imgLayer r:embed="rId2">
                      <a14:imgEffect>
                        <a14:backgroundRemoval t="8969" b="89238" l="3300" r="97500">
                          <a14:foregroundMark x1="3350" y1="29596" x2="16150" y2="72197"/>
                          <a14:foregroundMark x1="16150" y1="72197" x2="50500" y2="24215"/>
                          <a14:foregroundMark x1="50500" y1="24215" x2="54650" y2="42601"/>
                          <a14:foregroundMark x1="54650" y1="42601" x2="72700" y2="17489"/>
                          <a14:foregroundMark x1="72700" y1="17489" x2="87300" y2="49776"/>
                          <a14:foregroundMark x1="87300" y1="49776" x2="91600" y2="42152"/>
                          <a14:foregroundMark x1="91600" y1="42152" x2="91650" y2="42152"/>
                          <a14:foregroundMark x1="3700" y1="35874" x2="5500" y2="39910"/>
                          <a14:foregroundMark x1="95600" y1="39910" x2="97500" y2="52018"/>
                          <a14:foregroundMark x1="45600" y1="15247" x2="45600" y2="15247"/>
                          <a14:foregroundMark x1="45950" y1="14798" x2="45950" y2="14798"/>
                          <a14:foregroundMark x1="46500" y1="14798" x2="46500" y2="14798"/>
                          <a14:foregroundMark x1="65900" y1="13901" x2="65900" y2="13901"/>
                          <a14:foregroundMark x1="59550" y1="14350" x2="59550" y2="14350"/>
                          <a14:foregroundMark x1="73850" y1="14350" x2="73850" y2="14350"/>
                          <a14:foregroundMark x1="87650" y1="14350" x2="87650" y2="14350"/>
                          <a14:foregroundMark x1="79200" y1="13901" x2="79850" y2="15247"/>
                          <a14:foregroundMark x1="93200" y1="13453" x2="94150" y2="14350"/>
                          <a14:foregroundMark x1="51300" y1="13453" x2="52050" y2="13453"/>
                          <a14:foregroundMark x1="23400" y1="16143" x2="24250" y2="16143"/>
                          <a14:foregroundMark x1="31100" y1="16592" x2="32900" y2="19283"/>
                          <a14:foregroundMark x1="31550" y1="15247" x2="32400" y2="16592"/>
                          <a14:foregroundMark x1="37350" y1="16143" x2="38500" y2="17040"/>
                          <a14:foregroundMark x1="3300" y1="16143" x2="4450" y2="17489"/>
                          <a14:foregroundMark x1="17350" y1="17937" x2="19150" y2="17937"/>
                        </a14:backgroundRemoval>
                      </a14:imgEffect>
                    </a14:imgLayer>
                  </a14:imgProps>
                </a:ext>
              </a:extLst>
            </a:blip>
            <a:srcRect l="459" b="58084"/>
            <a:stretch>
              <a:fillRect/>
            </a:stretch>
          </p:blipFill>
          <p:spPr>
            <a:xfrm>
              <a:off x="0" y="6288194"/>
              <a:ext cx="12237156" cy="569806"/>
            </a:xfrm>
            <a:custGeom>
              <a:avLst/>
              <a:gdLst>
                <a:gd name="connsiteX0" fmla="*/ 0 w 12237156"/>
                <a:gd name="connsiteY0" fmla="*/ 0 h 569806"/>
                <a:gd name="connsiteX1" fmla="*/ 12237156 w 12237156"/>
                <a:gd name="connsiteY1" fmla="*/ 0 h 569806"/>
                <a:gd name="connsiteX2" fmla="*/ 12237156 w 12237156"/>
                <a:gd name="connsiteY2" fmla="*/ 569806 h 569806"/>
                <a:gd name="connsiteX3" fmla="*/ 0 w 12237156"/>
                <a:gd name="connsiteY3" fmla="*/ 569806 h 569806"/>
              </a:gdLst>
              <a:ahLst/>
              <a:cxnLst>
                <a:cxn ang="0">
                  <a:pos x="connsiteX0" y="connsiteY0"/>
                </a:cxn>
                <a:cxn ang="0">
                  <a:pos x="connsiteX1" y="connsiteY1"/>
                </a:cxn>
                <a:cxn ang="0">
                  <a:pos x="connsiteX2" y="connsiteY2"/>
                </a:cxn>
                <a:cxn ang="0">
                  <a:pos x="connsiteX3" y="connsiteY3"/>
                </a:cxn>
              </a:cxnLst>
              <a:rect l="l" t="t" r="r" b="b"/>
              <a:pathLst>
                <a:path w="12237156" h="569806">
                  <a:moveTo>
                    <a:pt x="0" y="0"/>
                  </a:moveTo>
                  <a:lnTo>
                    <a:pt x="12237156" y="0"/>
                  </a:lnTo>
                  <a:lnTo>
                    <a:pt x="12237156" y="569806"/>
                  </a:lnTo>
                  <a:lnTo>
                    <a:pt x="0" y="569806"/>
                  </a:lnTo>
                  <a:close/>
                </a:path>
              </a:pathLst>
            </a:custGeom>
          </p:spPr>
        </p:pic>
      </p:grpSp>
      <p:sp>
        <p:nvSpPr>
          <p:cNvPr id="23" name="文本框 22"/>
          <p:cNvSpPr txBox="1"/>
          <p:nvPr/>
        </p:nvSpPr>
        <p:spPr>
          <a:xfrm>
            <a:off x="2734198" y="1101674"/>
            <a:ext cx="8486893" cy="2634234"/>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两级传播理论勾勒“意见领袖→普通受众”的链路，社交媒体环境下，口碑驱动的裂变传播以私域为起点，向公域平台流转并实现指数级扩容。影片零大额宣发，初期依靠朋友圈、社群完成首轮口碑积累。豆瓣9.1分被搬运至短视频、微博后，文娱、生活、乡土等各圈层</a:t>
            </a:r>
            <a:r>
              <a:rPr lang="en-US" altLang="zh-CN" sz="1400" dirty="0">
                <a:solidFill>
                  <a:srgbClr val="685652"/>
                </a:solidFill>
                <a:latin typeface="微软雅黑" panose="020B0503020204020204" pitchFamily="34" charset="-122"/>
                <a:ea typeface="微软雅黑" panose="020B0503020204020204" pitchFamily="34" charset="-122"/>
              </a:rPr>
              <a:t>KOL</a:t>
            </a:r>
            <a:r>
              <a:rPr lang="zh-CN" altLang="en-US" sz="1400" dirty="0">
                <a:solidFill>
                  <a:srgbClr val="685652"/>
                </a:solidFill>
                <a:latin typeface="微软雅黑" panose="020B0503020204020204" pitchFamily="34" charset="-122"/>
                <a:ea typeface="微软雅黑" panose="020B0503020204020204" pitchFamily="34" charset="-122"/>
              </a:rPr>
              <a:t>作为意见领袖推荐，依托粉丝信任完成二级传播，带动大量路人观影。随后《人民日报》等主流媒体点评，发挥权威背书与议程设置功能，将口碑事件升格为全民文化议题。传播逻辑体现为：私域原生口碑完成初始裂变，圈层意见领袖实现二级传播，主流媒体加码夯实公信力并设置公共议程，多层级联动推动全民破圈。</a:t>
            </a:r>
            <a:endParaRPr lang="zh-CN" altLang="en-US" sz="1400" dirty="0">
              <a:solidFill>
                <a:srgbClr val="685652"/>
              </a:solidFill>
              <a:latin typeface="微软雅黑" panose="020B0503020204020204" pitchFamily="34" charset="-122"/>
              <a:ea typeface="微软雅黑" panose="020B0503020204020204" pitchFamily="34" charset="-122"/>
            </a:endParaRPr>
          </a:p>
        </p:txBody>
      </p:sp>
      <p:sp>
        <p:nvSpPr>
          <p:cNvPr id="11" name="椭圆 10"/>
          <p:cNvSpPr/>
          <p:nvPr/>
        </p:nvSpPr>
        <p:spPr>
          <a:xfrm>
            <a:off x="2574237" y="1233428"/>
            <a:ext cx="108000" cy="108000"/>
          </a:xfrm>
          <a:prstGeom prst="ellipse">
            <a:avLst/>
          </a:prstGeom>
          <a:solidFill>
            <a:srgbClr val="A88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i="1" dirty="0">
              <a:latin typeface="微软雅黑" panose="020B0503020204020204" pitchFamily="34" charset="-122"/>
              <a:ea typeface="微软雅黑" panose="020B0503020204020204" pitchFamily="34" charset="-122"/>
            </a:endParaRPr>
          </a:p>
        </p:txBody>
      </p:sp>
      <p:sp>
        <p:nvSpPr>
          <p:cNvPr id="46" name="文本框 45"/>
          <p:cNvSpPr txBox="1"/>
          <p:nvPr/>
        </p:nvSpPr>
        <p:spPr>
          <a:xfrm>
            <a:off x="5048580" y="3735909"/>
            <a:ext cx="6519781" cy="267652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沉默螺旋理论指出，当主流舆论占据话语权时，持异议者因惧怕孤立而沉默，优势意见呈螺旋式放大。影片正面评价刷屏形成高分主流，少量“拍摄粗糙、叙事平淡”的质疑声被淹没，持不同意见者为避免冲突而缄默，进一步推高舆论热度。（文化反叛）从文化研究视角看，受众是能动性的意义生产者。当《给阿嬷的情书》以全素人、全方言、写实主义构成对流水线影视逻辑的有力反叛，受众集体拥抱这一反叛，精准踩中大众反感流量套路的深层社会情绪，使其从影视作品演化为全民文化现象。双重机制共同作用：沉默螺旋巩固正向舆论氛围，文化反叛契合社会审美变革趋势，推动影片跃出影视消费范畴，成为全民参与的传播热潮。</a:t>
            </a:r>
            <a:endParaRPr lang="zh-CN" altLang="en-US" sz="1400" dirty="0">
              <a:solidFill>
                <a:srgbClr val="685652"/>
              </a:solidFill>
              <a:latin typeface="微软雅黑" panose="020B0503020204020204" pitchFamily="34" charset="-122"/>
              <a:ea typeface="微软雅黑" panose="020B0503020204020204" pitchFamily="34" charset="-122"/>
            </a:endParaRPr>
          </a:p>
        </p:txBody>
      </p:sp>
      <p:sp>
        <p:nvSpPr>
          <p:cNvPr id="43" name="椭圆 42"/>
          <p:cNvSpPr/>
          <p:nvPr/>
        </p:nvSpPr>
        <p:spPr>
          <a:xfrm>
            <a:off x="4703898" y="3889125"/>
            <a:ext cx="108000" cy="108000"/>
          </a:xfrm>
          <a:prstGeom prst="ellipse">
            <a:avLst/>
          </a:prstGeom>
          <a:solidFill>
            <a:srgbClr val="A88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3775310" y="3133533"/>
            <a:ext cx="3518762" cy="932511"/>
            <a:chOff x="502016" y="372414"/>
            <a:chExt cx="3518762" cy="932511"/>
          </a:xfrm>
        </p:grpSpPr>
        <p:sp>
          <p:nvSpPr>
            <p:cNvPr id="9" name="文本框 8"/>
            <p:cNvSpPr txBox="1"/>
            <p:nvPr/>
          </p:nvSpPr>
          <p:spPr>
            <a:xfrm>
              <a:off x="1078698" y="529233"/>
              <a:ext cx="2870098" cy="706755"/>
            </a:xfrm>
            <a:prstGeom prst="rect">
              <a:avLst/>
            </a:prstGeom>
            <a:noFill/>
          </p:spPr>
          <p:txBody>
            <a:bodyPr wrap="square" rtlCol="0">
              <a:noAutofit/>
            </a:bodyPr>
            <a:lstStyle>
              <a:defPPr>
                <a:defRPr lang="zh-CN"/>
              </a:defPPr>
              <a:lvl1pPr algn="dist">
                <a:defRPr sz="2000">
                  <a:solidFill>
                    <a:srgbClr val="685652"/>
                  </a:solidFill>
                  <a:latin typeface="汉仪长美黑简" panose="02010609000101010101" pitchFamily="49" charset="-122"/>
                  <a:ea typeface="汉仪长美黑简" panose="02010609000101010101" pitchFamily="49" charset="-122"/>
                </a:defRPr>
              </a:lvl1pPr>
            </a:lstStyle>
            <a:p>
              <a:r>
                <a:rPr lang="zh-CN" altLang="en-US" dirty="0"/>
                <a:t>沉默的螺旋与文化反叛</a:t>
              </a:r>
              <a:endParaRPr lang="zh-CN" altLang="en-US" dirty="0"/>
            </a:p>
          </p:txBody>
        </p:sp>
        <p:pic>
          <p:nvPicPr>
            <p:cNvPr id="7" name="图片 6" descr="图片包含 桌子, 小, 游戏机, 花瓶&#10;&#10;描述已自动生成"/>
            <p:cNvPicPr>
              <a:picLocks noChangeAspect="1"/>
            </p:cNvPicPr>
            <p:nvPr/>
          </p:nvPicPr>
          <p:blipFill>
            <a:blip r:embed="rId3" cstate="screen">
              <a:extLst>
                <a:ext uri="{BEBA8EAE-BF5A-486C-A8C5-ECC9F3942E4B}">
                  <a14:imgProps xmlns:a14="http://schemas.microsoft.com/office/drawing/2010/main">
                    <a14:imgLayer r:embed="rId4">
                      <a14:imgEffect>
                        <a14:backgroundRemoval t="9934" b="90177" l="9878" r="89970">
                          <a14:foregroundMark x1="21429" y1="28477" x2="32067" y2="36865"/>
                          <a14:foregroundMark x1="32219" y1="25497" x2="32067" y2="24172"/>
                          <a14:foregroundMark x1="28116" y1="39183" x2="32219" y2="39845"/>
                          <a14:foregroundMark x1="19605" y1="34658" x2="20821" y2="34989"/>
                          <a14:foregroundMark x1="53343" y1="32009" x2="54711" y2="32671"/>
                          <a14:foregroundMark x1="59271" y1="42163" x2="61094" y2="43157"/>
                          <a14:foregroundMark x1="63222" y1="32671" x2="63222" y2="32340"/>
                          <a14:foregroundMark x1="50608" y1="90177" x2="51520" y2="89956"/>
                          <a14:foregroundMark x1="36170" y1="40618" x2="38602" y2="43488"/>
                          <a14:foregroundMark x1="43769" y1="49890" x2="44681" y2="50221"/>
                        </a14:backgroundRemoval>
                      </a14:imgEffect>
                    </a14:imgLayer>
                  </a14:imgProps>
                </a:ext>
              </a:extLst>
            </a:blip>
            <a:stretch>
              <a:fillRect/>
            </a:stretch>
          </p:blipFill>
          <p:spPr>
            <a:xfrm>
              <a:off x="502016" y="372414"/>
              <a:ext cx="698926" cy="932511"/>
            </a:xfrm>
            <a:prstGeom prst="rect">
              <a:avLst/>
            </a:prstGeom>
          </p:spPr>
        </p:pic>
        <p:cxnSp>
          <p:nvCxnSpPr>
            <p:cNvPr id="8" name="直接连接符 7"/>
            <p:cNvCxnSpPr/>
            <p:nvPr/>
          </p:nvCxnSpPr>
          <p:spPr>
            <a:xfrm>
              <a:off x="1006116" y="934849"/>
              <a:ext cx="3014662" cy="0"/>
            </a:xfrm>
            <a:prstGeom prst="line">
              <a:avLst/>
            </a:prstGeom>
            <a:ln w="12700">
              <a:solidFill>
                <a:srgbClr val="685652"/>
              </a:solidFill>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1040970" y="634673"/>
            <a:ext cx="3258417" cy="706755"/>
            <a:chOff x="1036367" y="828590"/>
            <a:chExt cx="3258417" cy="706755"/>
          </a:xfrm>
        </p:grpSpPr>
        <p:sp>
          <p:nvSpPr>
            <p:cNvPr id="10" name="文本框 9"/>
            <p:cNvSpPr txBox="1"/>
            <p:nvPr/>
          </p:nvSpPr>
          <p:spPr>
            <a:xfrm>
              <a:off x="1036367" y="828590"/>
              <a:ext cx="3258417" cy="706755"/>
            </a:xfrm>
            <a:prstGeom prst="rect">
              <a:avLst/>
            </a:prstGeom>
            <a:noFill/>
          </p:spPr>
          <p:txBody>
            <a:bodyPr wrap="square" rtlCol="0">
              <a:noAutofit/>
            </a:bodyPr>
            <a:lstStyle>
              <a:defPPr>
                <a:defRPr lang="zh-CN"/>
              </a:defPPr>
              <a:lvl1pPr algn="dist">
                <a:defRPr sz="2000">
                  <a:solidFill>
                    <a:srgbClr val="685652"/>
                  </a:solidFill>
                  <a:latin typeface="汉仪长美黑简" panose="02010609000101010101" pitchFamily="49" charset="-122"/>
                  <a:ea typeface="汉仪长美黑简" panose="02010609000101010101" pitchFamily="49" charset="-122"/>
                </a:defRPr>
              </a:lvl1pPr>
            </a:lstStyle>
            <a:p>
              <a:r>
                <a:rPr lang="zh-CN" altLang="en-US" dirty="0"/>
                <a:t>多级传播与裂变式口碑扩散</a:t>
              </a:r>
              <a:endParaRPr lang="zh-CN" altLang="en-US" dirty="0"/>
            </a:p>
          </p:txBody>
        </p:sp>
        <p:cxnSp>
          <p:nvCxnSpPr>
            <p:cNvPr id="13" name="直接连接符 12"/>
            <p:cNvCxnSpPr/>
            <p:nvPr/>
          </p:nvCxnSpPr>
          <p:spPr>
            <a:xfrm>
              <a:off x="1036367" y="1215073"/>
              <a:ext cx="2924794" cy="0"/>
            </a:xfrm>
            <a:prstGeom prst="line">
              <a:avLst/>
            </a:prstGeom>
            <a:ln w="12700">
              <a:solidFill>
                <a:srgbClr val="685652"/>
              </a:solidFill>
            </a:ln>
          </p:spPr>
          <p:style>
            <a:lnRef idx="1">
              <a:schemeClr val="accent1"/>
            </a:lnRef>
            <a:fillRef idx="0">
              <a:schemeClr val="accent1"/>
            </a:fillRef>
            <a:effectRef idx="0">
              <a:schemeClr val="accent1"/>
            </a:effectRef>
            <a:fontRef idx="minor">
              <a:schemeClr val="tx1"/>
            </a:fontRef>
          </p:style>
        </p:cxnSp>
      </p:grpSp>
      <p:pic>
        <p:nvPicPr>
          <p:cNvPr id="19" name="图片 18" descr="图片包含 桌子, 小, 游戏机, 花瓶&#10;&#10;描述已自动生成"/>
          <p:cNvPicPr>
            <a:picLocks noChangeAspect="1"/>
          </p:cNvPicPr>
          <p:nvPr/>
        </p:nvPicPr>
        <p:blipFill>
          <a:blip r:embed="rId3" cstate="screen">
            <a:extLst>
              <a:ext uri="{BEBA8EAE-BF5A-486C-A8C5-ECC9F3942E4B}">
                <a14:imgProps xmlns:a14="http://schemas.microsoft.com/office/drawing/2010/main">
                  <a14:imgLayer r:embed="rId4">
                    <a14:imgEffect>
                      <a14:backgroundRemoval t="9934" b="90177" l="9878" r="89970">
                        <a14:foregroundMark x1="21429" y1="28477" x2="32067" y2="36865"/>
                        <a14:foregroundMark x1="32219" y1="25497" x2="32067" y2="24172"/>
                        <a14:foregroundMark x1="28116" y1="39183" x2="32219" y2="39845"/>
                        <a14:foregroundMark x1="19605" y1="34658" x2="20821" y2="34989"/>
                        <a14:foregroundMark x1="53343" y1="32009" x2="54711" y2="32671"/>
                        <a14:foregroundMark x1="59271" y1="42163" x2="61094" y2="43157"/>
                        <a14:foregroundMark x1="63222" y1="32671" x2="63222" y2="32340"/>
                        <a14:foregroundMark x1="50608" y1="90177" x2="51520" y2="89956"/>
                        <a14:foregroundMark x1="36170" y1="40618" x2="38602" y2="43488"/>
                        <a14:foregroundMark x1="43769" y1="49890" x2="44681" y2="50221"/>
                      </a14:backgroundRemoval>
                    </a14:imgEffect>
                  </a14:imgLayer>
                </a14:imgProps>
              </a:ext>
            </a:extLst>
          </a:blip>
          <a:stretch>
            <a:fillRect/>
          </a:stretch>
        </p:blipFill>
        <p:spPr>
          <a:xfrm>
            <a:off x="572359" y="470627"/>
            <a:ext cx="698926" cy="762761"/>
          </a:xfrm>
          <a:prstGeom prst="rect">
            <a:avLst/>
          </a:prstGeom>
        </p:spPr>
      </p:pic>
      <p:pic>
        <p:nvPicPr>
          <p:cNvPr id="14" name="图片 13"/>
          <p:cNvPicPr>
            <a:picLocks noChangeAspect="1"/>
          </p:cNvPicPr>
          <p:nvPr/>
        </p:nvPicPr>
        <p:blipFill>
          <a:blip r:embed="rId5" cstate="screen"/>
          <a:srcRect l="23130" t="17133" r="39317" b="7662"/>
          <a:stretch>
            <a:fillRect/>
          </a:stretch>
        </p:blipFill>
        <p:spPr>
          <a:xfrm flipH="1">
            <a:off x="1040922" y="1660169"/>
            <a:ext cx="4007651" cy="4514488"/>
          </a:xfrm>
          <a:custGeom>
            <a:avLst/>
            <a:gdLst>
              <a:gd name="connsiteX0" fmla="*/ 4007651 w 4007651"/>
              <a:gd name="connsiteY0" fmla="*/ 0 h 4514488"/>
              <a:gd name="connsiteX1" fmla="*/ 0 w 4007651"/>
              <a:gd name="connsiteY1" fmla="*/ 4514488 h 4514488"/>
              <a:gd name="connsiteX2" fmla="*/ 4007651 w 4007651"/>
              <a:gd name="connsiteY2" fmla="*/ 4514488 h 4514488"/>
            </a:gdLst>
            <a:ahLst/>
            <a:cxnLst>
              <a:cxn ang="0">
                <a:pos x="connsiteX0" y="connsiteY0"/>
              </a:cxn>
              <a:cxn ang="0">
                <a:pos x="connsiteX1" y="connsiteY1"/>
              </a:cxn>
              <a:cxn ang="0">
                <a:pos x="connsiteX2" y="connsiteY2"/>
              </a:cxn>
            </a:cxnLst>
            <a:rect l="l" t="t" r="r" b="b"/>
            <a:pathLst>
              <a:path w="4007651" h="4514488">
                <a:moveTo>
                  <a:pt x="4007651" y="0"/>
                </a:moveTo>
                <a:lnTo>
                  <a:pt x="0" y="4514488"/>
                </a:lnTo>
                <a:lnTo>
                  <a:pt x="4007651" y="4514488"/>
                </a:lnTo>
                <a:close/>
              </a:path>
            </a:pathLst>
          </a:cu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6144" y="1133037"/>
            <a:ext cx="9587005" cy="4859075"/>
            <a:chOff x="376144" y="1133037"/>
            <a:chExt cx="9587005" cy="4859075"/>
          </a:xfrm>
        </p:grpSpPr>
        <p:grpSp>
          <p:nvGrpSpPr>
            <p:cNvPr id="3" name="组合 2"/>
            <p:cNvGrpSpPr/>
            <p:nvPr/>
          </p:nvGrpSpPr>
          <p:grpSpPr>
            <a:xfrm>
              <a:off x="376144" y="1133037"/>
              <a:ext cx="9587005" cy="4859075"/>
              <a:chOff x="376144" y="1133037"/>
              <a:chExt cx="9587005" cy="4859075"/>
            </a:xfrm>
          </p:grpSpPr>
          <p:pic>
            <p:nvPicPr>
              <p:cNvPr id="9" name="图片 8"/>
              <p:cNvPicPr>
                <a:picLocks noChangeAspect="1"/>
              </p:cNvPicPr>
              <p:nvPr/>
            </p:nvPicPr>
            <p:blipFill>
              <a:blip r:embed="rId1" cstate="screen"/>
              <a:srcRect/>
              <a:stretch>
                <a:fillRect/>
              </a:stretch>
            </p:blipFill>
            <p:spPr>
              <a:xfrm>
                <a:off x="2256550" y="1133037"/>
                <a:ext cx="7706599" cy="4609771"/>
              </a:xfrm>
              <a:custGeom>
                <a:avLst/>
                <a:gdLst>
                  <a:gd name="connsiteX0" fmla="*/ 75384 w 7297898"/>
                  <a:gd name="connsiteY0" fmla="*/ 75384 h 4444795"/>
                  <a:gd name="connsiteX1" fmla="*/ 75384 w 7297898"/>
                  <a:gd name="connsiteY1" fmla="*/ 4369411 h 4444795"/>
                  <a:gd name="connsiteX2" fmla="*/ 7222514 w 7297898"/>
                  <a:gd name="connsiteY2" fmla="*/ 4369411 h 4444795"/>
                  <a:gd name="connsiteX3" fmla="*/ 7222514 w 7297898"/>
                  <a:gd name="connsiteY3" fmla="*/ 75384 h 4444795"/>
                  <a:gd name="connsiteX4" fmla="*/ 0 w 7297898"/>
                  <a:gd name="connsiteY4" fmla="*/ 0 h 4444795"/>
                  <a:gd name="connsiteX5" fmla="*/ 7297898 w 7297898"/>
                  <a:gd name="connsiteY5" fmla="*/ 0 h 4444795"/>
                  <a:gd name="connsiteX6" fmla="*/ 7297898 w 7297898"/>
                  <a:gd name="connsiteY6" fmla="*/ 4444795 h 4444795"/>
                  <a:gd name="connsiteX7" fmla="*/ 0 w 7297898"/>
                  <a:gd name="connsiteY7" fmla="*/ 4444795 h 4444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97898" h="4444795">
                    <a:moveTo>
                      <a:pt x="75384" y="75384"/>
                    </a:moveTo>
                    <a:lnTo>
                      <a:pt x="75384" y="4369411"/>
                    </a:lnTo>
                    <a:lnTo>
                      <a:pt x="7222514" y="4369411"/>
                    </a:lnTo>
                    <a:lnTo>
                      <a:pt x="7222514" y="75384"/>
                    </a:lnTo>
                    <a:close/>
                    <a:moveTo>
                      <a:pt x="0" y="0"/>
                    </a:moveTo>
                    <a:lnTo>
                      <a:pt x="7297898" y="0"/>
                    </a:lnTo>
                    <a:lnTo>
                      <a:pt x="7297898" y="4444795"/>
                    </a:lnTo>
                    <a:lnTo>
                      <a:pt x="0" y="4444795"/>
                    </a:lnTo>
                    <a:close/>
                  </a:path>
                </a:pathLst>
              </a:custGeom>
            </p:spPr>
          </p:pic>
          <p:grpSp>
            <p:nvGrpSpPr>
              <p:cNvPr id="10" name="组合 9"/>
              <p:cNvGrpSpPr/>
              <p:nvPr/>
            </p:nvGrpSpPr>
            <p:grpSpPr>
              <a:xfrm>
                <a:off x="376144" y="1382783"/>
                <a:ext cx="5071377" cy="4609329"/>
                <a:chOff x="3448510" y="1555158"/>
                <a:chExt cx="5071377" cy="4444369"/>
              </a:xfrm>
            </p:grpSpPr>
            <p:pic>
              <p:nvPicPr>
                <p:cNvPr id="14" name="图片 13"/>
                <p:cNvPicPr>
                  <a:picLocks noChangeAspect="1"/>
                </p:cNvPicPr>
                <p:nvPr/>
              </p:nvPicPr>
              <p:blipFill>
                <a:blip r:embed="rId2" cstate="screen">
                  <a:extLst>
                    <a:ext uri="{BEBA8EAE-BF5A-486C-A8C5-ECC9F3942E4B}">
                      <a14:imgProps xmlns:a14="http://schemas.microsoft.com/office/drawing/2010/main">
                        <a14:imgLayer r:embed="rId3">
                          <a14:imgEffect>
                            <a14:backgroundRemoval t="0" b="100000" l="0" r="85827"/>
                          </a14:imgEffect>
                        </a14:imgLayer>
                      </a14:imgProps>
                    </a:ext>
                  </a:extLst>
                </a:blip>
                <a:srcRect/>
                <a:stretch>
                  <a:fillRect/>
                </a:stretch>
              </p:blipFill>
              <p:spPr>
                <a:xfrm rot="3887794" flipH="1">
                  <a:off x="3361424" y="2385654"/>
                  <a:ext cx="1553029" cy="1378857"/>
                </a:xfrm>
                <a:custGeom>
                  <a:avLst/>
                  <a:gdLst>
                    <a:gd name="connsiteX0" fmla="*/ 667657 w 1553029"/>
                    <a:gd name="connsiteY0" fmla="*/ 0 h 1378857"/>
                    <a:gd name="connsiteX1" fmla="*/ 1553029 w 1553029"/>
                    <a:gd name="connsiteY1" fmla="*/ 72571 h 1378857"/>
                    <a:gd name="connsiteX2" fmla="*/ 1553029 w 1553029"/>
                    <a:gd name="connsiteY2" fmla="*/ 1132114 h 1378857"/>
                    <a:gd name="connsiteX3" fmla="*/ 653143 w 1553029"/>
                    <a:gd name="connsiteY3" fmla="*/ 1378857 h 1378857"/>
                    <a:gd name="connsiteX4" fmla="*/ 0 w 1553029"/>
                    <a:gd name="connsiteY4" fmla="*/ 319314 h 1378857"/>
                    <a:gd name="connsiteX5" fmla="*/ 159657 w 1553029"/>
                    <a:gd name="connsiteY5" fmla="*/ 116114 h 1378857"/>
                    <a:gd name="connsiteX6" fmla="*/ 667657 w 1553029"/>
                    <a:gd name="connsiteY6" fmla="*/ 0 h 1378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029" h="1378857">
                      <a:moveTo>
                        <a:pt x="667657" y="0"/>
                      </a:moveTo>
                      <a:lnTo>
                        <a:pt x="1553029" y="72571"/>
                      </a:lnTo>
                      <a:lnTo>
                        <a:pt x="1553029" y="1132114"/>
                      </a:lnTo>
                      <a:lnTo>
                        <a:pt x="653143" y="1378857"/>
                      </a:lnTo>
                      <a:lnTo>
                        <a:pt x="0" y="319314"/>
                      </a:lnTo>
                      <a:lnTo>
                        <a:pt x="159657" y="116114"/>
                      </a:lnTo>
                      <a:lnTo>
                        <a:pt x="667657" y="0"/>
                      </a:lnTo>
                      <a:close/>
                    </a:path>
                  </a:pathLst>
                </a:custGeom>
              </p:spPr>
            </p:pic>
            <p:pic>
              <p:nvPicPr>
                <p:cNvPr id="15" name="图片 14"/>
                <p:cNvPicPr>
                  <a:picLocks noChangeAspect="1"/>
                </p:cNvPicPr>
                <p:nvPr/>
              </p:nvPicPr>
              <p:blipFill>
                <a:blip r:embed="rId4" cstate="screen"/>
                <a:stretch>
                  <a:fillRect/>
                </a:stretch>
              </p:blipFill>
              <p:spPr>
                <a:xfrm rot="16438735">
                  <a:off x="4126356" y="2754632"/>
                  <a:ext cx="1478203" cy="1297533"/>
                </a:xfrm>
                <a:prstGeom prst="rect">
                  <a:avLst/>
                </a:prstGeom>
              </p:spPr>
            </p:pic>
            <p:pic>
              <p:nvPicPr>
                <p:cNvPr id="16" name="图片 15"/>
                <p:cNvPicPr>
                  <a:picLocks noChangeAspect="1"/>
                </p:cNvPicPr>
                <p:nvPr/>
              </p:nvPicPr>
              <p:blipFill>
                <a:blip r:embed="rId5">
                  <a:extLst>
                    <a:ext uri="{BEBA8EAE-BF5A-486C-A8C5-ECC9F3942E4B}">
                      <a14:imgProps xmlns:a14="http://schemas.microsoft.com/office/drawing/2010/main">
                        <a14:imgLayer r:embed="rId6">
                          <a14:imgEffect>
                            <a14:backgroundRemoval t="9877" b="93416" l="2315" r="89815">
                              <a14:foregroundMark x1="11111" y1="51852" x2="6327" y2="56516"/>
                              <a14:foregroundMark x1="2623" y1="58711" x2="2315" y2="57750"/>
                              <a14:foregroundMark x1="17593" y1="90123" x2="21296" y2="93416"/>
                              <a14:backgroundMark x1="13580" y1="35254" x2="12191" y2="40055"/>
                              <a14:backgroundMark x1="10648" y1="43759" x2="14352" y2="38546"/>
                            </a14:backgroundRemoval>
                          </a14:imgEffect>
                        </a14:imgLayer>
                      </a14:imgProps>
                    </a:ext>
                  </a:extLst>
                </a:blip>
                <a:stretch>
                  <a:fillRect/>
                </a:stretch>
              </p:blipFill>
              <p:spPr>
                <a:xfrm>
                  <a:off x="4569337" y="1555158"/>
                  <a:ext cx="3950550" cy="4444369"/>
                </a:xfrm>
                <a:prstGeom prst="rect">
                  <a:avLst/>
                </a:prstGeom>
              </p:spPr>
            </p:pic>
          </p:grpSp>
          <p:grpSp>
            <p:nvGrpSpPr>
              <p:cNvPr id="11" name="组合 10"/>
              <p:cNvGrpSpPr/>
              <p:nvPr/>
            </p:nvGrpSpPr>
            <p:grpSpPr>
              <a:xfrm>
                <a:off x="7451839" y="4394025"/>
                <a:ext cx="2488146" cy="1521438"/>
                <a:chOff x="7242289" y="4298775"/>
                <a:chExt cx="2488146" cy="1521438"/>
              </a:xfrm>
            </p:grpSpPr>
            <p:pic>
              <p:nvPicPr>
                <p:cNvPr id="12" name="图片 11"/>
                <p:cNvPicPr>
                  <a:picLocks noChangeAspect="1"/>
                </p:cNvPicPr>
                <p:nvPr/>
              </p:nvPicPr>
              <p:blipFill>
                <a:blip r:embed="rId7" cstate="screen">
                  <a:extLst>
                    <a:ext uri="{BEBA8EAE-BF5A-486C-A8C5-ECC9F3942E4B}">
                      <a14:imgProps xmlns:a14="http://schemas.microsoft.com/office/drawing/2010/main">
                        <a14:imgLayer r:embed="rId8">
                          <a14:imgEffect>
                            <a14:backgroundRemoval t="6641" b="90323" l="2186" r="89930">
                              <a14:foregroundMark x1="7338" y1="26376" x2="4840" y2="66034"/>
                              <a14:foregroundMark x1="67838" y1="89184" x2="70023" y2="90323"/>
                              <a14:foregroundMark x1="2888" y1="44592" x2="3201" y2="72486"/>
                              <a14:foregroundMark x1="2186" y1="50664" x2="2654" y2="58824"/>
                              <a14:foregroundMark x1="5855" y1="30361" x2="9524" y2="20304"/>
                              <a14:foregroundMark x1="21311" y1="9108" x2="27322" y2="6641"/>
                              <a14:foregroundMark x1="29899" y1="10057" x2="35207" y2="10057"/>
                              <a14:backgroundMark x1="3201" y1="17457" x2="3201" y2="27514"/>
                              <a14:backgroundMark x1="9290" y1="16129" x2="12959" y2="12713"/>
                              <a14:backgroundMark x1="12412" y1="9108" x2="20453" y2="5503"/>
                              <a14:backgroundMark x1="21233" y1="3226" x2="23888" y2="2846"/>
                              <a14:backgroundMark x1="21702" y1="4554" x2="24122" y2="4364"/>
                              <a14:backgroundMark x1="26308" y1="2846" x2="27713" y2="3226"/>
                              <a14:backgroundMark x1="26932" y1="1139" x2="29664" y2="3226"/>
                            </a14:backgroundRemoval>
                          </a14:imgEffect>
                        </a14:imgLayer>
                      </a14:imgProps>
                    </a:ext>
                  </a:extLst>
                </a:blip>
                <a:stretch>
                  <a:fillRect/>
                </a:stretch>
              </p:blipFill>
              <p:spPr>
                <a:xfrm flipH="1">
                  <a:off x="7242289" y="4796596"/>
                  <a:ext cx="2488146" cy="1023617"/>
                </a:xfrm>
                <a:custGeom>
                  <a:avLst/>
                  <a:gdLst>
                    <a:gd name="connsiteX0" fmla="*/ 2488146 w 2488146"/>
                    <a:gd name="connsiteY0" fmla="*/ 0 h 1023617"/>
                    <a:gd name="connsiteX1" fmla="*/ 54801 w 2488146"/>
                    <a:gd name="connsiteY1" fmla="*/ 0 h 1023617"/>
                    <a:gd name="connsiteX2" fmla="*/ 54801 w 2488146"/>
                    <a:gd name="connsiteY2" fmla="*/ 1023616 h 1023617"/>
                    <a:gd name="connsiteX3" fmla="*/ 0 w 2488146"/>
                    <a:gd name="connsiteY3" fmla="*/ 1023616 h 1023617"/>
                    <a:gd name="connsiteX4" fmla="*/ 0 w 2488146"/>
                    <a:gd name="connsiteY4" fmla="*/ 1023617 h 1023617"/>
                    <a:gd name="connsiteX5" fmla="*/ 2488146 w 2488146"/>
                    <a:gd name="connsiteY5" fmla="*/ 1023617 h 102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8146" h="1023617">
                      <a:moveTo>
                        <a:pt x="2488146" y="0"/>
                      </a:moveTo>
                      <a:lnTo>
                        <a:pt x="54801" y="0"/>
                      </a:lnTo>
                      <a:lnTo>
                        <a:pt x="54801" y="1023616"/>
                      </a:lnTo>
                      <a:lnTo>
                        <a:pt x="0" y="1023616"/>
                      </a:lnTo>
                      <a:lnTo>
                        <a:pt x="0" y="1023617"/>
                      </a:lnTo>
                      <a:lnTo>
                        <a:pt x="2488146" y="1023617"/>
                      </a:lnTo>
                      <a:close/>
                    </a:path>
                  </a:pathLst>
                </a:custGeom>
              </p:spPr>
            </p:pic>
            <p:pic>
              <p:nvPicPr>
                <p:cNvPr id="13" name="图片 12"/>
                <p:cNvPicPr>
                  <a:picLocks noChangeAspect="1"/>
                </p:cNvPicPr>
                <p:nvPr/>
              </p:nvPicPr>
              <p:blipFill>
                <a:blip r:embed="rId9" cstate="screen"/>
                <a:stretch>
                  <a:fillRect/>
                </a:stretch>
              </p:blipFill>
              <p:spPr>
                <a:xfrm rot="16438735">
                  <a:off x="8313454" y="4359620"/>
                  <a:ext cx="995642" cy="873952"/>
                </a:xfrm>
                <a:prstGeom prst="rect">
                  <a:avLst/>
                </a:prstGeom>
              </p:spPr>
            </p:pic>
          </p:grpSp>
        </p:grpSp>
        <p:sp>
          <p:nvSpPr>
            <p:cNvPr id="4" name="文本框 3"/>
            <p:cNvSpPr txBox="1"/>
            <p:nvPr/>
          </p:nvSpPr>
          <p:spPr>
            <a:xfrm>
              <a:off x="4127226" y="2985913"/>
              <a:ext cx="4423107" cy="1753235"/>
            </a:xfrm>
            <a:prstGeom prst="rect">
              <a:avLst/>
            </a:prstGeom>
            <a:noFill/>
          </p:spPr>
          <p:txBody>
            <a:bodyPr wrap="square" rtlCol="0">
              <a:spAutoFit/>
            </a:bodyPr>
            <a:lstStyle>
              <a:defPPr>
                <a:defRPr lang="zh-CN"/>
              </a:defPPr>
              <a:lvl1pPr algn="dist">
                <a:defRPr sz="5400">
                  <a:solidFill>
                    <a:srgbClr val="685652"/>
                  </a:solidFill>
                  <a:latin typeface="汉仪长美黑简" panose="02010609000101010101" pitchFamily="49" charset="-122"/>
                  <a:ea typeface="汉仪长美黑简" panose="02010609000101010101" pitchFamily="49" charset="-122"/>
                </a:defRPr>
              </a:lvl1pPr>
            </a:lstStyle>
            <a:p>
              <a:pPr algn="ctr"/>
              <a:r>
                <a:rPr lang="zh-CN" altLang="en-US" dirty="0"/>
                <a:t>传播隐忧与</a:t>
              </a:r>
              <a:endParaRPr lang="zh-CN" altLang="en-US" dirty="0"/>
            </a:p>
            <a:p>
              <a:pPr algn="ctr"/>
              <a:r>
                <a:rPr lang="zh-CN" altLang="en-US" dirty="0"/>
                <a:t>深层成因</a:t>
              </a:r>
              <a:endParaRPr lang="zh-CN" altLang="en-US" dirty="0"/>
            </a:p>
          </p:txBody>
        </p:sp>
        <p:grpSp>
          <p:nvGrpSpPr>
            <p:cNvPr id="6" name="组合 5"/>
            <p:cNvGrpSpPr/>
            <p:nvPr/>
          </p:nvGrpSpPr>
          <p:grpSpPr>
            <a:xfrm>
              <a:off x="5543550" y="1937039"/>
              <a:ext cx="1501753" cy="1179214"/>
              <a:chOff x="5524500" y="1898939"/>
              <a:chExt cx="1501753" cy="1179214"/>
            </a:xfrm>
          </p:grpSpPr>
          <p:pic>
            <p:nvPicPr>
              <p:cNvPr id="7" name="图片 6"/>
              <p:cNvPicPr>
                <a:picLocks noChangeAspect="1"/>
              </p:cNvPicPr>
              <p:nvPr/>
            </p:nvPicPr>
            <p:blipFill>
              <a:blip r:embed="rId10" cstate="screen">
                <a:extLst>
                  <a:ext uri="{BEBA8EAE-BF5A-486C-A8C5-ECC9F3942E4B}">
                    <a14:imgProps xmlns:a14="http://schemas.microsoft.com/office/drawing/2010/main">
                      <a14:imgLayer r:embed="rId11">
                        <a14:imgEffect>
                          <a14:backgroundRemoval t="0" b="100000" l="0" r="85062"/>
                        </a14:imgEffect>
                      </a14:imgLayer>
                    </a14:imgProps>
                  </a:ext>
                </a:extLst>
              </a:blip>
              <a:srcRect/>
              <a:stretch>
                <a:fillRect/>
              </a:stretch>
            </p:blipFill>
            <p:spPr>
              <a:xfrm rot="17712206">
                <a:off x="6365673" y="1931622"/>
                <a:ext cx="693264" cy="627897"/>
              </a:xfrm>
              <a:custGeom>
                <a:avLst/>
                <a:gdLst>
                  <a:gd name="connsiteX0" fmla="*/ 865274 w 865274"/>
                  <a:gd name="connsiteY0" fmla="*/ 41247 h 783688"/>
                  <a:gd name="connsiteX1" fmla="*/ 865274 w 865274"/>
                  <a:gd name="connsiteY1" fmla="*/ 643449 h 783688"/>
                  <a:gd name="connsiteX2" fmla="*/ 334830 w 865274"/>
                  <a:gd name="connsiteY2" fmla="*/ 783688 h 783688"/>
                  <a:gd name="connsiteX3" fmla="*/ 0 w 865274"/>
                  <a:gd name="connsiteY3" fmla="*/ 259958 h 783688"/>
                  <a:gd name="connsiteX4" fmla="*/ 296442 w 865274"/>
                  <a:gd name="connsiteY4" fmla="*/ 120441 h 783688"/>
                  <a:gd name="connsiteX5" fmla="*/ 249497 w 865274"/>
                  <a:gd name="connsiteY5" fmla="*/ 20692 h 783688"/>
                  <a:gd name="connsiteX6" fmla="*/ 343386 w 865274"/>
                  <a:gd name="connsiteY6" fmla="*/ 0 h 78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274" h="783688">
                    <a:moveTo>
                      <a:pt x="865274" y="41247"/>
                    </a:moveTo>
                    <a:lnTo>
                      <a:pt x="865274" y="643449"/>
                    </a:lnTo>
                    <a:lnTo>
                      <a:pt x="334830" y="783688"/>
                    </a:lnTo>
                    <a:lnTo>
                      <a:pt x="0" y="259958"/>
                    </a:lnTo>
                    <a:lnTo>
                      <a:pt x="296442" y="120441"/>
                    </a:lnTo>
                    <a:lnTo>
                      <a:pt x="249497" y="20692"/>
                    </a:lnTo>
                    <a:lnTo>
                      <a:pt x="343386" y="0"/>
                    </a:lnTo>
                    <a:close/>
                  </a:path>
                </a:pathLst>
              </a:custGeom>
            </p:spPr>
          </p:pic>
          <p:sp>
            <p:nvSpPr>
              <p:cNvPr id="8" name="文本框 7"/>
              <p:cNvSpPr txBox="1"/>
              <p:nvPr/>
            </p:nvSpPr>
            <p:spPr>
              <a:xfrm>
                <a:off x="5524500" y="2062490"/>
                <a:ext cx="1187806" cy="1015663"/>
              </a:xfrm>
              <a:prstGeom prst="rect">
                <a:avLst/>
              </a:prstGeom>
              <a:noFill/>
            </p:spPr>
            <p:txBody>
              <a:bodyPr wrap="square" rtlCol="0">
                <a:spAutoFit/>
              </a:bodyPr>
              <a:lstStyle/>
              <a:p>
                <a:r>
                  <a:rPr lang="en-US" altLang="zh-CN" sz="6000" b="1" dirty="0">
                    <a:ln>
                      <a:solidFill>
                        <a:srgbClr val="685652"/>
                      </a:solidFill>
                    </a:ln>
                    <a:solidFill>
                      <a:srgbClr val="AE8867"/>
                    </a:solidFill>
                    <a:latin typeface="微软雅黑" panose="020B0503020204020204" pitchFamily="34" charset="-122"/>
                    <a:ea typeface="微软雅黑" panose="020B0503020204020204" pitchFamily="34" charset="-122"/>
                  </a:rPr>
                  <a:t>04</a:t>
                </a:r>
                <a:endParaRPr lang="zh-CN" altLang="en-US" sz="6000" b="1" dirty="0">
                  <a:ln>
                    <a:solidFill>
                      <a:srgbClr val="685652"/>
                    </a:solidFill>
                  </a:ln>
                  <a:solidFill>
                    <a:srgbClr val="AE8867"/>
                  </a:solidFill>
                  <a:latin typeface="微软雅黑" panose="020B0503020204020204" pitchFamily="34" charset="-122"/>
                  <a:ea typeface="微软雅黑" panose="020B0503020204020204" pitchFamily="34" charset="-122"/>
                </a:endParaRPr>
              </a:p>
            </p:txBody>
          </p:sp>
        </p:grpSp>
      </p:grpSp>
      <p:grpSp>
        <p:nvGrpSpPr>
          <p:cNvPr id="17" name="组合 16"/>
          <p:cNvGrpSpPr/>
          <p:nvPr/>
        </p:nvGrpSpPr>
        <p:grpSpPr>
          <a:xfrm>
            <a:off x="8171003" y="1401833"/>
            <a:ext cx="1506397" cy="2726545"/>
            <a:chOff x="8171003" y="1401833"/>
            <a:chExt cx="1506397" cy="2726545"/>
          </a:xfrm>
        </p:grpSpPr>
        <p:cxnSp>
          <p:nvCxnSpPr>
            <p:cNvPr id="18" name="直接连接符 17"/>
            <p:cNvCxnSpPr/>
            <p:nvPr/>
          </p:nvCxnSpPr>
          <p:spPr>
            <a:xfrm flipH="1">
              <a:off x="9677400" y="1401833"/>
              <a:ext cx="0" cy="2726545"/>
            </a:xfrm>
            <a:prstGeom prst="line">
              <a:avLst/>
            </a:prstGeom>
            <a:ln w="19050">
              <a:solidFill>
                <a:srgbClr val="BD9C7D"/>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8171003" y="1413016"/>
              <a:ext cx="1506397" cy="0"/>
            </a:xfrm>
            <a:prstGeom prst="line">
              <a:avLst/>
            </a:prstGeom>
            <a:ln w="19050">
              <a:solidFill>
                <a:srgbClr val="BD9C7D"/>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438150"/>
            <a:ext cx="12237156" cy="6419850"/>
            <a:chOff x="0" y="438150"/>
            <a:chExt cx="12237156" cy="6419850"/>
          </a:xfrm>
        </p:grpSpPr>
        <p:sp>
          <p:nvSpPr>
            <p:cNvPr id="3" name="矩形 2"/>
            <p:cNvSpPr/>
            <p:nvPr/>
          </p:nvSpPr>
          <p:spPr>
            <a:xfrm>
              <a:off x="400050" y="438150"/>
              <a:ext cx="11391900" cy="6129462"/>
            </a:xfrm>
            <a:prstGeom prst="rect">
              <a:avLst/>
            </a:prstGeom>
            <a:noFill/>
            <a:ln w="28575">
              <a:solidFill>
                <a:srgbClr val="BD9C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cstate="screen">
              <a:extLst>
                <a:ext uri="{BEBA8EAE-BF5A-486C-A8C5-ECC9F3942E4B}">
                  <a14:imgProps xmlns:a14="http://schemas.microsoft.com/office/drawing/2010/main">
                    <a14:imgLayer r:embed="rId2">
                      <a14:imgEffect>
                        <a14:backgroundRemoval t="8969" b="89238" l="3300" r="97500">
                          <a14:foregroundMark x1="3350" y1="29596" x2="16150" y2="72197"/>
                          <a14:foregroundMark x1="16150" y1="72197" x2="50500" y2="24215"/>
                          <a14:foregroundMark x1="50500" y1="24215" x2="54650" y2="42601"/>
                          <a14:foregroundMark x1="54650" y1="42601" x2="72700" y2="17489"/>
                          <a14:foregroundMark x1="72700" y1="17489" x2="87300" y2="49776"/>
                          <a14:foregroundMark x1="87300" y1="49776" x2="91600" y2="42152"/>
                          <a14:foregroundMark x1="91600" y1="42152" x2="91650" y2="42152"/>
                          <a14:foregroundMark x1="3700" y1="35874" x2="5500" y2="39910"/>
                          <a14:foregroundMark x1="95600" y1="39910" x2="97500" y2="52018"/>
                          <a14:foregroundMark x1="45600" y1="15247" x2="45600" y2="15247"/>
                          <a14:foregroundMark x1="45950" y1="14798" x2="45950" y2="14798"/>
                          <a14:foregroundMark x1="46500" y1="14798" x2="46500" y2="14798"/>
                          <a14:foregroundMark x1="65900" y1="13901" x2="65900" y2="13901"/>
                          <a14:foregroundMark x1="59550" y1="14350" x2="59550" y2="14350"/>
                          <a14:foregroundMark x1="73850" y1="14350" x2="73850" y2="14350"/>
                          <a14:foregroundMark x1="87650" y1="14350" x2="87650" y2="14350"/>
                          <a14:foregroundMark x1="79200" y1="13901" x2="79850" y2="15247"/>
                          <a14:foregroundMark x1="93200" y1="13453" x2="94150" y2="14350"/>
                          <a14:foregroundMark x1="51300" y1="13453" x2="52050" y2="13453"/>
                          <a14:foregroundMark x1="23400" y1="16143" x2="24250" y2="16143"/>
                          <a14:foregroundMark x1="31100" y1="16592" x2="32900" y2="19283"/>
                          <a14:foregroundMark x1="31550" y1="15247" x2="32400" y2="16592"/>
                          <a14:foregroundMark x1="37350" y1="16143" x2="38500" y2="17040"/>
                          <a14:foregroundMark x1="3300" y1="16143" x2="4450" y2="17489"/>
                          <a14:foregroundMark x1="17350" y1="17937" x2="19150" y2="17937"/>
                        </a14:backgroundRemoval>
                      </a14:imgEffect>
                    </a14:imgLayer>
                  </a14:imgProps>
                </a:ext>
              </a:extLst>
            </a:blip>
            <a:srcRect l="459" b="58084"/>
            <a:stretch>
              <a:fillRect/>
            </a:stretch>
          </p:blipFill>
          <p:spPr>
            <a:xfrm>
              <a:off x="0" y="6288194"/>
              <a:ext cx="12237156" cy="569806"/>
            </a:xfrm>
            <a:custGeom>
              <a:avLst/>
              <a:gdLst>
                <a:gd name="connsiteX0" fmla="*/ 0 w 12237156"/>
                <a:gd name="connsiteY0" fmla="*/ 0 h 569806"/>
                <a:gd name="connsiteX1" fmla="*/ 12237156 w 12237156"/>
                <a:gd name="connsiteY1" fmla="*/ 0 h 569806"/>
                <a:gd name="connsiteX2" fmla="*/ 12237156 w 12237156"/>
                <a:gd name="connsiteY2" fmla="*/ 569806 h 569806"/>
                <a:gd name="connsiteX3" fmla="*/ 0 w 12237156"/>
                <a:gd name="connsiteY3" fmla="*/ 569806 h 569806"/>
              </a:gdLst>
              <a:ahLst/>
              <a:cxnLst>
                <a:cxn ang="0">
                  <a:pos x="connsiteX0" y="connsiteY0"/>
                </a:cxn>
                <a:cxn ang="0">
                  <a:pos x="connsiteX1" y="connsiteY1"/>
                </a:cxn>
                <a:cxn ang="0">
                  <a:pos x="connsiteX2" y="connsiteY2"/>
                </a:cxn>
                <a:cxn ang="0">
                  <a:pos x="connsiteX3" y="connsiteY3"/>
                </a:cxn>
              </a:cxnLst>
              <a:rect l="l" t="t" r="r" b="b"/>
              <a:pathLst>
                <a:path w="12237156" h="569806">
                  <a:moveTo>
                    <a:pt x="0" y="0"/>
                  </a:moveTo>
                  <a:lnTo>
                    <a:pt x="12237156" y="0"/>
                  </a:lnTo>
                  <a:lnTo>
                    <a:pt x="12237156" y="569806"/>
                  </a:lnTo>
                  <a:lnTo>
                    <a:pt x="0" y="569806"/>
                  </a:lnTo>
                  <a:close/>
                </a:path>
              </a:pathLst>
            </a:custGeom>
          </p:spPr>
        </p:pic>
      </p:grpSp>
      <p:grpSp>
        <p:nvGrpSpPr>
          <p:cNvPr id="11" name="组合 10"/>
          <p:cNvGrpSpPr/>
          <p:nvPr/>
        </p:nvGrpSpPr>
        <p:grpSpPr>
          <a:xfrm>
            <a:off x="766773" y="1500809"/>
            <a:ext cx="6245221" cy="2473612"/>
            <a:chOff x="2118" y="3134"/>
            <a:chExt cx="15779" cy="2647"/>
          </a:xfrm>
        </p:grpSpPr>
        <p:sp>
          <p:nvSpPr>
            <p:cNvPr id="12" name="圆角矩形 11"/>
            <p:cNvSpPr/>
            <p:nvPr/>
          </p:nvSpPr>
          <p:spPr>
            <a:xfrm>
              <a:off x="2118" y="3134"/>
              <a:ext cx="15779" cy="2647"/>
            </a:xfrm>
            <a:prstGeom prst="roundRect">
              <a:avLst/>
            </a:prstGeom>
            <a:noFill/>
            <a:ln w="28575">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40" name="直接连接符 39"/>
            <p:cNvCxnSpPr/>
            <p:nvPr/>
          </p:nvCxnSpPr>
          <p:spPr>
            <a:xfrm>
              <a:off x="2537" y="3715"/>
              <a:ext cx="3882"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grpSp>
          <p:nvGrpSpPr>
            <p:cNvPr id="44" name="组合 43"/>
            <p:cNvGrpSpPr/>
            <p:nvPr/>
          </p:nvGrpSpPr>
          <p:grpSpPr>
            <a:xfrm>
              <a:off x="2536" y="3252"/>
              <a:ext cx="14942" cy="2397"/>
              <a:chOff x="6609401" y="38408"/>
              <a:chExt cx="10355387" cy="1522075"/>
            </a:xfrm>
          </p:grpSpPr>
          <p:sp>
            <p:nvSpPr>
              <p:cNvPr id="45" name="文本框 44"/>
              <p:cNvSpPr txBox="1"/>
              <p:nvPr/>
            </p:nvSpPr>
            <p:spPr>
              <a:xfrm>
                <a:off x="6624911" y="38408"/>
                <a:ext cx="3097206" cy="226146"/>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r>
                  <a:rPr lang="zh-CN" altLang="en-US" dirty="0">
                    <a:solidFill>
                      <a:srgbClr val="685652"/>
                    </a:solidFill>
                    <a:latin typeface="微软雅黑" panose="020B0503020204020204" pitchFamily="34" charset="-122"/>
                    <a:ea typeface="微软雅黑" panose="020B0503020204020204" pitchFamily="34" charset="-122"/>
                  </a:rPr>
                  <a:t>内容传播层面</a:t>
                </a:r>
                <a:endParaRPr lang="zh-CN" altLang="en-US" dirty="0">
                  <a:solidFill>
                    <a:srgbClr val="685652"/>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6609401" y="400640"/>
                <a:ext cx="10355387" cy="1159843"/>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共情传播呈现双刃剑效应。影片高度依赖极致化东方女性符号触发共情，虽初期高效凝聚受众，却易滑向情感透支——观影动机过度集中于催泪治愈等情绪消费，艺术复杂性被扁平化。同时，方言符号构成圈层壁垒，破圈依赖于字幕与情感“翻译”，可能稀释地域文化厚度，无助于多元方言文化的深层传播。</a:t>
                </a:r>
                <a:endParaRPr lang="zh-CN" altLang="en-US" sz="1400" dirty="0">
                  <a:solidFill>
                    <a:srgbClr val="685652"/>
                  </a:solidFill>
                  <a:latin typeface="微软雅黑" panose="020B0503020204020204" pitchFamily="34" charset="-122"/>
                  <a:ea typeface="微软雅黑" panose="020B0503020204020204" pitchFamily="34" charset="-122"/>
                </a:endParaRPr>
              </a:p>
            </p:txBody>
          </p:sp>
        </p:grpSp>
      </p:grpSp>
      <p:grpSp>
        <p:nvGrpSpPr>
          <p:cNvPr id="16" name="组合 15"/>
          <p:cNvGrpSpPr/>
          <p:nvPr/>
        </p:nvGrpSpPr>
        <p:grpSpPr>
          <a:xfrm>
            <a:off x="766773" y="4104230"/>
            <a:ext cx="6245221" cy="2192488"/>
            <a:chOff x="1729" y="3134"/>
            <a:chExt cx="15779" cy="2647"/>
          </a:xfrm>
        </p:grpSpPr>
        <p:sp>
          <p:nvSpPr>
            <p:cNvPr id="17" name="圆角矩形 16"/>
            <p:cNvSpPr/>
            <p:nvPr/>
          </p:nvSpPr>
          <p:spPr>
            <a:xfrm>
              <a:off x="1729" y="3134"/>
              <a:ext cx="15779" cy="2647"/>
            </a:xfrm>
            <a:prstGeom prst="roundRect">
              <a:avLst/>
            </a:prstGeom>
            <a:noFill/>
            <a:ln w="28575">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18" name="直接连接符 17"/>
            <p:cNvCxnSpPr/>
            <p:nvPr/>
          </p:nvCxnSpPr>
          <p:spPr>
            <a:xfrm>
              <a:off x="2108" y="3923"/>
              <a:ext cx="3892"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108" y="3381"/>
              <a:ext cx="14942" cy="2314"/>
              <a:chOff x="6312434" y="120066"/>
              <a:chExt cx="10355387" cy="1469325"/>
            </a:xfrm>
          </p:grpSpPr>
          <p:sp>
            <p:nvSpPr>
              <p:cNvPr id="20" name="文本框 19"/>
              <p:cNvSpPr txBox="1"/>
              <p:nvPr/>
            </p:nvSpPr>
            <p:spPr>
              <a:xfrm>
                <a:off x="6340144" y="120066"/>
                <a:ext cx="3147066" cy="163590"/>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r>
                  <a:rPr lang="zh-CN" altLang="en-US" dirty="0">
                    <a:solidFill>
                      <a:srgbClr val="685652"/>
                    </a:solidFill>
                    <a:latin typeface="微软雅黑" panose="020B0503020204020204" pitchFamily="34" charset="-122"/>
                    <a:ea typeface="微软雅黑" panose="020B0503020204020204" pitchFamily="34" charset="-122"/>
                  </a:rPr>
                  <a:t>受众认知层面</a:t>
                </a:r>
                <a:endParaRPr lang="zh-CN" altLang="en-US" dirty="0">
                  <a:solidFill>
                    <a:srgbClr val="685652"/>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6312434" y="528620"/>
                <a:ext cx="10355387" cy="1060771"/>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豆瓣高分与朋友圈安利形成的情感场域，裹挟部分观众的独立判断，使其选择性忽略叙事节奏、影像语言等方面的瑕疵，形成非理性的神化认知。影片对女性美好特质的刻画虽引发身份认同，也可能强化“牺牲即美德”的传统叙事惯性，与多元、自主的女性主义主张形成张力。</a:t>
                </a:r>
                <a:endParaRPr lang="zh-CN" altLang="en-US" sz="1400" dirty="0">
                  <a:solidFill>
                    <a:srgbClr val="685652"/>
                  </a:solidFill>
                  <a:latin typeface="微软雅黑" panose="020B0503020204020204" pitchFamily="34" charset="-122"/>
                  <a:ea typeface="微软雅黑" panose="020B0503020204020204" pitchFamily="34" charset="-122"/>
                </a:endParaRPr>
              </a:p>
            </p:txBody>
          </p:sp>
        </p:grpSp>
      </p:grpSp>
      <p:grpSp>
        <p:nvGrpSpPr>
          <p:cNvPr id="23" name="组合 22"/>
          <p:cNvGrpSpPr/>
          <p:nvPr/>
        </p:nvGrpSpPr>
        <p:grpSpPr>
          <a:xfrm>
            <a:off x="502016" y="372414"/>
            <a:ext cx="10437652" cy="1238718"/>
            <a:chOff x="502016" y="372414"/>
            <a:chExt cx="10437652" cy="1135343"/>
          </a:xfrm>
        </p:grpSpPr>
        <p:sp>
          <p:nvSpPr>
            <p:cNvPr id="24" name="文本框 23"/>
            <p:cNvSpPr txBox="1"/>
            <p:nvPr/>
          </p:nvSpPr>
          <p:spPr>
            <a:xfrm>
              <a:off x="1077867" y="705634"/>
              <a:ext cx="9861801" cy="468846"/>
            </a:xfrm>
            <a:prstGeom prst="rect">
              <a:avLst/>
            </a:prstGeom>
            <a:noFill/>
          </p:spPr>
          <p:txBody>
            <a:bodyPr wrap="square" rtlCol="0">
              <a:noAutofit/>
            </a:bodyPr>
            <a:lstStyle>
              <a:defPPr>
                <a:defRPr lang="zh-CN"/>
              </a:defPPr>
              <a:lvl1pPr algn="dist">
                <a:defRPr sz="2000">
                  <a:solidFill>
                    <a:srgbClr val="685652"/>
                  </a:solidFill>
                  <a:latin typeface="汉仪长美黑简" panose="02010609000101010101" pitchFamily="49" charset="-122"/>
                  <a:ea typeface="汉仪长美黑简" panose="02010609000101010101" pitchFamily="49" charset="-122"/>
                </a:defRPr>
              </a:lvl1pPr>
            </a:lstStyle>
            <a:p>
              <a:r>
                <a:rPr lang="zh-CN" altLang="en-US" dirty="0"/>
                <a:t>这一高度情感驱动的传播模式展现强大势能的同时，也伴生不可忽视的</a:t>
              </a:r>
              <a:r>
                <a:rPr lang="zh-CN" altLang="en-US" dirty="0">
                  <a:highlight>
                    <a:srgbClr val="FFFF00"/>
                  </a:highlight>
                </a:rPr>
                <a:t>负面效应</a:t>
              </a:r>
              <a:r>
                <a:rPr lang="zh-CN" altLang="en-US" dirty="0"/>
                <a:t>。</a:t>
              </a:r>
              <a:endParaRPr lang="zh-CN" altLang="en-US" dirty="0"/>
            </a:p>
          </p:txBody>
        </p:sp>
        <p:pic>
          <p:nvPicPr>
            <p:cNvPr id="25" name="图片 24" descr="图片包含 桌子, 小, 游戏机, 花瓶&#10;&#10;描述已自动生成"/>
            <p:cNvPicPr>
              <a:picLocks noChangeAspect="1"/>
            </p:cNvPicPr>
            <p:nvPr/>
          </p:nvPicPr>
          <p:blipFill>
            <a:blip r:embed="rId3" cstate="screen">
              <a:extLst>
                <a:ext uri="{BEBA8EAE-BF5A-486C-A8C5-ECC9F3942E4B}">
                  <a14:imgProps xmlns:a14="http://schemas.microsoft.com/office/drawing/2010/main">
                    <a14:imgLayer r:embed="rId4">
                      <a14:imgEffect>
                        <a14:backgroundRemoval t="9934" b="90177" l="9878" r="89970">
                          <a14:foregroundMark x1="21429" y1="28477" x2="32067" y2="36865"/>
                          <a14:foregroundMark x1="32219" y1="25497" x2="32067" y2="24172"/>
                          <a14:foregroundMark x1="28116" y1="39183" x2="32219" y2="39845"/>
                          <a14:foregroundMark x1="19605" y1="34658" x2="20821" y2="34989"/>
                          <a14:foregroundMark x1="53343" y1="32009" x2="54711" y2="32671"/>
                          <a14:foregroundMark x1="59271" y1="42163" x2="61094" y2="43157"/>
                          <a14:foregroundMark x1="63222" y1="32671" x2="63222" y2="32340"/>
                          <a14:foregroundMark x1="50608" y1="90177" x2="51520" y2="89956"/>
                          <a14:foregroundMark x1="36170" y1="40618" x2="38602" y2="43488"/>
                          <a14:foregroundMark x1="43769" y1="49890" x2="44681" y2="50221"/>
                        </a14:backgroundRemoval>
                      </a14:imgEffect>
                    </a14:imgLayer>
                  </a14:imgProps>
                </a:ext>
              </a:extLst>
            </a:blip>
            <a:stretch>
              <a:fillRect/>
            </a:stretch>
          </p:blipFill>
          <p:spPr>
            <a:xfrm>
              <a:off x="502016" y="372414"/>
              <a:ext cx="698926" cy="1135343"/>
            </a:xfrm>
            <a:prstGeom prst="rect">
              <a:avLst/>
            </a:prstGeom>
          </p:spPr>
        </p:pic>
        <p:cxnSp>
          <p:nvCxnSpPr>
            <p:cNvPr id="26" name="直接连接符 25"/>
            <p:cNvCxnSpPr/>
            <p:nvPr/>
          </p:nvCxnSpPr>
          <p:spPr>
            <a:xfrm>
              <a:off x="766763" y="1214438"/>
              <a:ext cx="3014662" cy="0"/>
            </a:xfrm>
            <a:prstGeom prst="line">
              <a:avLst/>
            </a:prstGeom>
            <a:ln w="12700">
              <a:solidFill>
                <a:srgbClr val="685652"/>
              </a:solidFill>
            </a:ln>
          </p:spPr>
          <p:style>
            <a:lnRef idx="1">
              <a:schemeClr val="accent1"/>
            </a:lnRef>
            <a:fillRef idx="0">
              <a:schemeClr val="accent1"/>
            </a:fillRef>
            <a:effectRef idx="0">
              <a:schemeClr val="accent1"/>
            </a:effectRef>
            <a:fontRef idx="minor">
              <a:schemeClr val="tx1"/>
            </a:fontRef>
          </p:style>
        </p:cxnSp>
      </p:grpSp>
      <p:pic>
        <p:nvPicPr>
          <p:cNvPr id="5" name="图片 4" descr="post_object_image_1933436438"/>
          <p:cNvPicPr>
            <a:picLocks noChangeAspect="1"/>
          </p:cNvPicPr>
          <p:nvPr/>
        </p:nvPicPr>
        <p:blipFill>
          <a:blip r:embed="rId5"/>
          <a:stretch>
            <a:fillRect/>
          </a:stretch>
        </p:blipFill>
        <p:spPr>
          <a:xfrm>
            <a:off x="7512027" y="1240783"/>
            <a:ext cx="3736340" cy="2733675"/>
          </a:xfrm>
          <a:prstGeom prst="rect">
            <a:avLst/>
          </a:prstGeom>
        </p:spPr>
      </p:pic>
      <p:pic>
        <p:nvPicPr>
          <p:cNvPr id="6" name="图片 5" descr="post_object_image_3613284615"/>
          <p:cNvPicPr>
            <a:picLocks noChangeAspect="1"/>
          </p:cNvPicPr>
          <p:nvPr/>
        </p:nvPicPr>
        <p:blipFill>
          <a:blip r:embed="rId6"/>
          <a:stretch>
            <a:fillRect/>
          </a:stretch>
        </p:blipFill>
        <p:spPr>
          <a:xfrm>
            <a:off x="7523457" y="4104267"/>
            <a:ext cx="3724910" cy="23266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438150"/>
            <a:ext cx="12237156" cy="6419850"/>
            <a:chOff x="0" y="438150"/>
            <a:chExt cx="12237156" cy="6419850"/>
          </a:xfrm>
        </p:grpSpPr>
        <p:sp>
          <p:nvSpPr>
            <p:cNvPr id="3" name="矩形 2"/>
            <p:cNvSpPr/>
            <p:nvPr/>
          </p:nvSpPr>
          <p:spPr>
            <a:xfrm>
              <a:off x="400050" y="438150"/>
              <a:ext cx="11391900" cy="6129462"/>
            </a:xfrm>
            <a:prstGeom prst="rect">
              <a:avLst/>
            </a:prstGeom>
            <a:noFill/>
            <a:ln w="28575">
              <a:solidFill>
                <a:srgbClr val="BD9C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cstate="screen">
              <a:extLst>
                <a:ext uri="{BEBA8EAE-BF5A-486C-A8C5-ECC9F3942E4B}">
                  <a14:imgProps xmlns:a14="http://schemas.microsoft.com/office/drawing/2010/main">
                    <a14:imgLayer r:embed="rId2">
                      <a14:imgEffect>
                        <a14:backgroundRemoval t="8969" b="89238" l="3300" r="97500">
                          <a14:foregroundMark x1="3350" y1="29596" x2="16150" y2="72197"/>
                          <a14:foregroundMark x1="16150" y1="72197" x2="50500" y2="24215"/>
                          <a14:foregroundMark x1="50500" y1="24215" x2="54650" y2="42601"/>
                          <a14:foregroundMark x1="54650" y1="42601" x2="72700" y2="17489"/>
                          <a14:foregroundMark x1="72700" y1="17489" x2="87300" y2="49776"/>
                          <a14:foregroundMark x1="87300" y1="49776" x2="91600" y2="42152"/>
                          <a14:foregroundMark x1="91600" y1="42152" x2="91650" y2="42152"/>
                          <a14:foregroundMark x1="3700" y1="35874" x2="5500" y2="39910"/>
                          <a14:foregroundMark x1="95600" y1="39910" x2="97500" y2="52018"/>
                          <a14:foregroundMark x1="45600" y1="15247" x2="45600" y2="15247"/>
                          <a14:foregroundMark x1="45950" y1="14798" x2="45950" y2="14798"/>
                          <a14:foregroundMark x1="46500" y1="14798" x2="46500" y2="14798"/>
                          <a14:foregroundMark x1="65900" y1="13901" x2="65900" y2="13901"/>
                          <a14:foregroundMark x1="59550" y1="14350" x2="59550" y2="14350"/>
                          <a14:foregroundMark x1="73850" y1="14350" x2="73850" y2="14350"/>
                          <a14:foregroundMark x1="87650" y1="14350" x2="87650" y2="14350"/>
                          <a14:foregroundMark x1="79200" y1="13901" x2="79850" y2="15247"/>
                          <a14:foregroundMark x1="93200" y1="13453" x2="94150" y2="14350"/>
                          <a14:foregroundMark x1="51300" y1="13453" x2="52050" y2="13453"/>
                          <a14:foregroundMark x1="23400" y1="16143" x2="24250" y2="16143"/>
                          <a14:foregroundMark x1="31100" y1="16592" x2="32900" y2="19283"/>
                          <a14:foregroundMark x1="31550" y1="15247" x2="32400" y2="16592"/>
                          <a14:foregroundMark x1="37350" y1="16143" x2="38500" y2="17040"/>
                          <a14:foregroundMark x1="3300" y1="16143" x2="4450" y2="17489"/>
                          <a14:foregroundMark x1="17350" y1="17937" x2="19150" y2="17937"/>
                        </a14:backgroundRemoval>
                      </a14:imgEffect>
                    </a14:imgLayer>
                  </a14:imgProps>
                </a:ext>
              </a:extLst>
            </a:blip>
            <a:srcRect l="459" b="58084"/>
            <a:stretch>
              <a:fillRect/>
            </a:stretch>
          </p:blipFill>
          <p:spPr>
            <a:xfrm>
              <a:off x="0" y="6288194"/>
              <a:ext cx="12237156" cy="569806"/>
            </a:xfrm>
            <a:custGeom>
              <a:avLst/>
              <a:gdLst>
                <a:gd name="connsiteX0" fmla="*/ 0 w 12237156"/>
                <a:gd name="connsiteY0" fmla="*/ 0 h 569806"/>
                <a:gd name="connsiteX1" fmla="*/ 12237156 w 12237156"/>
                <a:gd name="connsiteY1" fmla="*/ 0 h 569806"/>
                <a:gd name="connsiteX2" fmla="*/ 12237156 w 12237156"/>
                <a:gd name="connsiteY2" fmla="*/ 569806 h 569806"/>
                <a:gd name="connsiteX3" fmla="*/ 0 w 12237156"/>
                <a:gd name="connsiteY3" fmla="*/ 569806 h 569806"/>
              </a:gdLst>
              <a:ahLst/>
              <a:cxnLst>
                <a:cxn ang="0">
                  <a:pos x="connsiteX0" y="connsiteY0"/>
                </a:cxn>
                <a:cxn ang="0">
                  <a:pos x="connsiteX1" y="connsiteY1"/>
                </a:cxn>
                <a:cxn ang="0">
                  <a:pos x="connsiteX2" y="connsiteY2"/>
                </a:cxn>
                <a:cxn ang="0">
                  <a:pos x="connsiteX3" y="connsiteY3"/>
                </a:cxn>
              </a:cxnLst>
              <a:rect l="l" t="t" r="r" b="b"/>
              <a:pathLst>
                <a:path w="12237156" h="569806">
                  <a:moveTo>
                    <a:pt x="0" y="0"/>
                  </a:moveTo>
                  <a:lnTo>
                    <a:pt x="12237156" y="0"/>
                  </a:lnTo>
                  <a:lnTo>
                    <a:pt x="12237156" y="569806"/>
                  </a:lnTo>
                  <a:lnTo>
                    <a:pt x="0" y="569806"/>
                  </a:lnTo>
                  <a:close/>
                </a:path>
              </a:pathLst>
            </a:custGeom>
          </p:spPr>
        </p:pic>
      </p:grpSp>
      <p:grpSp>
        <p:nvGrpSpPr>
          <p:cNvPr id="11" name="组合 10"/>
          <p:cNvGrpSpPr/>
          <p:nvPr/>
        </p:nvGrpSpPr>
        <p:grpSpPr>
          <a:xfrm>
            <a:off x="782540" y="1454142"/>
            <a:ext cx="7053941" cy="1680845"/>
            <a:chOff x="1729" y="3134"/>
            <a:chExt cx="15779" cy="2647"/>
          </a:xfrm>
        </p:grpSpPr>
        <p:sp>
          <p:nvSpPr>
            <p:cNvPr id="12" name="圆角矩形 11"/>
            <p:cNvSpPr/>
            <p:nvPr/>
          </p:nvSpPr>
          <p:spPr>
            <a:xfrm>
              <a:off x="1729" y="3134"/>
              <a:ext cx="15779" cy="2647"/>
            </a:xfrm>
            <a:prstGeom prst="roundRect">
              <a:avLst/>
            </a:prstGeom>
            <a:noFill/>
            <a:ln w="28575">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40" name="直接连接符 39"/>
            <p:cNvCxnSpPr/>
            <p:nvPr/>
          </p:nvCxnSpPr>
          <p:spPr>
            <a:xfrm>
              <a:off x="2108" y="3923"/>
              <a:ext cx="3265"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grpSp>
          <p:nvGrpSpPr>
            <p:cNvPr id="44" name="组合 43"/>
            <p:cNvGrpSpPr/>
            <p:nvPr/>
          </p:nvGrpSpPr>
          <p:grpSpPr>
            <a:xfrm>
              <a:off x="2098" y="3300"/>
              <a:ext cx="14952" cy="2394"/>
              <a:chOff x="6305504" y="68880"/>
              <a:chExt cx="10362317" cy="1520190"/>
            </a:xfrm>
          </p:grpSpPr>
          <p:sp>
            <p:nvSpPr>
              <p:cNvPr id="45" name="文本框 44"/>
              <p:cNvSpPr txBox="1"/>
              <p:nvPr/>
            </p:nvSpPr>
            <p:spPr>
              <a:xfrm>
                <a:off x="6305504" y="68880"/>
                <a:ext cx="2434545" cy="28614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r>
                  <a:rPr lang="zh-CN" altLang="en-US" dirty="0">
                    <a:solidFill>
                      <a:srgbClr val="685652"/>
                    </a:solidFill>
                    <a:latin typeface="微软雅黑" panose="020B0503020204020204" pitchFamily="34" charset="-122"/>
                    <a:ea typeface="微软雅黑" panose="020B0503020204020204" pitchFamily="34" charset="-122"/>
                  </a:rPr>
                  <a:t>网络舆论层面</a:t>
                </a:r>
                <a:endParaRPr lang="zh-CN" altLang="en-US" dirty="0">
                  <a:solidFill>
                    <a:srgbClr val="685652"/>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6312434" y="528620"/>
                <a:ext cx="10355387" cy="10604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逆向沉默螺旋显现压制效应。当影片口碑成为“政治正确”，中立或质疑评价面临显著压力，豆瓣三星以下短评常被攻击为冷血、没看懂，或被贴上水军标签。对异见的声音淹没使公共讨论从多元争鸣走向单向颂扬，形成新的意见压迫。</a:t>
                </a:r>
                <a:endParaRPr lang="zh-CN" altLang="en-US" sz="1400" dirty="0">
                  <a:solidFill>
                    <a:srgbClr val="685652"/>
                  </a:solidFill>
                  <a:latin typeface="微软雅黑" panose="020B0503020204020204" pitchFamily="34" charset="-122"/>
                  <a:ea typeface="微软雅黑" panose="020B0503020204020204" pitchFamily="34" charset="-122"/>
                </a:endParaRPr>
              </a:p>
            </p:txBody>
          </p:sp>
        </p:grpSp>
      </p:grpSp>
      <p:grpSp>
        <p:nvGrpSpPr>
          <p:cNvPr id="16" name="组合 15"/>
          <p:cNvGrpSpPr/>
          <p:nvPr/>
        </p:nvGrpSpPr>
        <p:grpSpPr>
          <a:xfrm>
            <a:off x="766754" y="3380290"/>
            <a:ext cx="7069705" cy="3006401"/>
            <a:chOff x="1729" y="3134"/>
            <a:chExt cx="15779" cy="2567"/>
          </a:xfrm>
        </p:grpSpPr>
        <p:sp>
          <p:nvSpPr>
            <p:cNvPr id="17" name="圆角矩形 16"/>
            <p:cNvSpPr/>
            <p:nvPr/>
          </p:nvSpPr>
          <p:spPr>
            <a:xfrm>
              <a:off x="1729" y="3134"/>
              <a:ext cx="15779" cy="2567"/>
            </a:xfrm>
            <a:prstGeom prst="roundRect">
              <a:avLst/>
            </a:prstGeom>
            <a:noFill/>
            <a:ln w="28575">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18" name="直接连接符 17"/>
            <p:cNvCxnSpPr/>
            <p:nvPr/>
          </p:nvCxnSpPr>
          <p:spPr>
            <a:xfrm>
              <a:off x="2142" y="3697"/>
              <a:ext cx="3381"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098" y="3300"/>
              <a:ext cx="14986" cy="2317"/>
              <a:chOff x="6305504" y="68880"/>
              <a:chExt cx="10385936" cy="1471196"/>
            </a:xfrm>
          </p:grpSpPr>
          <p:sp>
            <p:nvSpPr>
              <p:cNvPr id="20" name="文本框 19"/>
              <p:cNvSpPr txBox="1"/>
              <p:nvPr/>
            </p:nvSpPr>
            <p:spPr>
              <a:xfrm>
                <a:off x="6305504" y="68880"/>
                <a:ext cx="2630371" cy="17737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r>
                  <a:rPr lang="zh-CN" altLang="en-US" dirty="0">
                    <a:solidFill>
                      <a:srgbClr val="685652"/>
                    </a:solidFill>
                    <a:latin typeface="微软雅黑" panose="020B0503020204020204" pitchFamily="34" charset="-122"/>
                    <a:ea typeface="微软雅黑" panose="020B0503020204020204" pitchFamily="34" charset="-122"/>
                  </a:rPr>
                  <a:t>媒介生态层面</a:t>
                </a:r>
                <a:endParaRPr lang="zh-CN" altLang="en-US" dirty="0">
                  <a:solidFill>
                    <a:srgbClr val="685652"/>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6336053" y="439376"/>
                <a:ext cx="10355387" cy="110070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反工业化”被迅速符号化为消费标签，可能导致大量片方盲目效仿“低成本+方言+素人+亲情”配方，催生新一轮同质化跟风，消解了本案真诚内容的独特性。更重要的是，个案成功掩盖了结构性问题——舆论聚焦于“好内容终会出头”的励志叙事，却遮蔽首日排片仅1.6%的残酷现实。逆袭高度依赖豆瓣开分即高口碑、意见领袖及时介入等偶发因素，其路径不可复制性被放大，可能使政策与资本低估发行渠道不平等等深层矛盾，削弱对中小影片系统性支持的紧迫性。</a:t>
                </a:r>
                <a:endParaRPr lang="zh-CN" altLang="en-US" sz="1400" dirty="0">
                  <a:solidFill>
                    <a:srgbClr val="685652"/>
                  </a:solidFill>
                  <a:latin typeface="微软雅黑" panose="020B0503020204020204" pitchFamily="34" charset="-122"/>
                  <a:ea typeface="微软雅黑" panose="020B0503020204020204" pitchFamily="34" charset="-122"/>
                </a:endParaRPr>
              </a:p>
            </p:txBody>
          </p:sp>
        </p:grpSp>
      </p:grpSp>
      <p:grpSp>
        <p:nvGrpSpPr>
          <p:cNvPr id="23" name="组合 22"/>
          <p:cNvGrpSpPr/>
          <p:nvPr/>
        </p:nvGrpSpPr>
        <p:grpSpPr>
          <a:xfrm>
            <a:off x="502016" y="372414"/>
            <a:ext cx="10438483" cy="932511"/>
            <a:chOff x="502016" y="372414"/>
            <a:chExt cx="10438483" cy="932511"/>
          </a:xfrm>
        </p:grpSpPr>
        <p:sp>
          <p:nvSpPr>
            <p:cNvPr id="24" name="文本框 23"/>
            <p:cNvSpPr txBox="1"/>
            <p:nvPr/>
          </p:nvSpPr>
          <p:spPr>
            <a:xfrm>
              <a:off x="1078698" y="828590"/>
              <a:ext cx="9861801" cy="385904"/>
            </a:xfrm>
            <a:prstGeom prst="rect">
              <a:avLst/>
            </a:prstGeom>
            <a:noFill/>
          </p:spPr>
          <p:txBody>
            <a:bodyPr wrap="square" rtlCol="0">
              <a:noAutofit/>
            </a:bodyPr>
            <a:lstStyle>
              <a:defPPr>
                <a:defRPr lang="zh-CN"/>
              </a:defPPr>
              <a:lvl1pPr algn="dist">
                <a:defRPr sz="2000">
                  <a:solidFill>
                    <a:srgbClr val="685652"/>
                  </a:solidFill>
                  <a:latin typeface="汉仪长美黑简" panose="02010609000101010101" pitchFamily="49" charset="-122"/>
                  <a:ea typeface="汉仪长美黑简" panose="02010609000101010101" pitchFamily="49" charset="-122"/>
                </a:defRPr>
              </a:lvl1pPr>
            </a:lstStyle>
            <a:p>
              <a:r>
                <a:rPr lang="zh-CN" altLang="en-US" dirty="0"/>
                <a:t>这一高度情感驱动的传播模式展现强大势能的同时，也伴生不可忽视的</a:t>
              </a:r>
              <a:r>
                <a:rPr lang="zh-CN" altLang="en-US" dirty="0">
                  <a:highlight>
                    <a:srgbClr val="FFFF00"/>
                  </a:highlight>
                </a:rPr>
                <a:t>负面效应</a:t>
              </a:r>
              <a:r>
                <a:rPr lang="zh-CN" altLang="en-US" dirty="0"/>
                <a:t>。</a:t>
              </a:r>
              <a:endParaRPr lang="zh-CN" altLang="en-US" dirty="0"/>
            </a:p>
          </p:txBody>
        </p:sp>
        <p:pic>
          <p:nvPicPr>
            <p:cNvPr id="25" name="图片 24" descr="图片包含 桌子, 小, 游戏机, 花瓶&#10;&#10;描述已自动生成"/>
            <p:cNvPicPr>
              <a:picLocks noChangeAspect="1"/>
            </p:cNvPicPr>
            <p:nvPr/>
          </p:nvPicPr>
          <p:blipFill>
            <a:blip r:embed="rId3" cstate="screen">
              <a:extLst>
                <a:ext uri="{BEBA8EAE-BF5A-486C-A8C5-ECC9F3942E4B}">
                  <a14:imgProps xmlns:a14="http://schemas.microsoft.com/office/drawing/2010/main">
                    <a14:imgLayer r:embed="rId4">
                      <a14:imgEffect>
                        <a14:backgroundRemoval t="9934" b="90177" l="9878" r="89970">
                          <a14:foregroundMark x1="21429" y1="28477" x2="32067" y2="36865"/>
                          <a14:foregroundMark x1="32219" y1="25497" x2="32067" y2="24172"/>
                          <a14:foregroundMark x1="28116" y1="39183" x2="32219" y2="39845"/>
                          <a14:foregroundMark x1="19605" y1="34658" x2="20821" y2="34989"/>
                          <a14:foregroundMark x1="53343" y1="32009" x2="54711" y2="32671"/>
                          <a14:foregroundMark x1="59271" y1="42163" x2="61094" y2="43157"/>
                          <a14:foregroundMark x1="63222" y1="32671" x2="63222" y2="32340"/>
                          <a14:foregroundMark x1="50608" y1="90177" x2="51520" y2="89956"/>
                          <a14:foregroundMark x1="36170" y1="40618" x2="38602" y2="43488"/>
                          <a14:foregroundMark x1="43769" y1="49890" x2="44681" y2="50221"/>
                        </a14:backgroundRemoval>
                      </a14:imgEffect>
                    </a14:imgLayer>
                  </a14:imgProps>
                </a:ext>
              </a:extLst>
            </a:blip>
            <a:stretch>
              <a:fillRect/>
            </a:stretch>
          </p:blipFill>
          <p:spPr>
            <a:xfrm>
              <a:off x="502016" y="372414"/>
              <a:ext cx="698926" cy="932511"/>
            </a:xfrm>
            <a:prstGeom prst="rect">
              <a:avLst/>
            </a:prstGeom>
          </p:spPr>
        </p:pic>
        <p:cxnSp>
          <p:nvCxnSpPr>
            <p:cNvPr id="26" name="直接连接符 25"/>
            <p:cNvCxnSpPr/>
            <p:nvPr/>
          </p:nvCxnSpPr>
          <p:spPr>
            <a:xfrm>
              <a:off x="766763" y="1214438"/>
              <a:ext cx="3014662" cy="0"/>
            </a:xfrm>
            <a:prstGeom prst="line">
              <a:avLst/>
            </a:prstGeom>
            <a:ln w="12700">
              <a:solidFill>
                <a:srgbClr val="685652"/>
              </a:solidFill>
            </a:ln>
          </p:spPr>
          <p:style>
            <a:lnRef idx="1">
              <a:schemeClr val="accent1"/>
            </a:lnRef>
            <a:fillRef idx="0">
              <a:schemeClr val="accent1"/>
            </a:fillRef>
            <a:effectRef idx="0">
              <a:schemeClr val="accent1"/>
            </a:effectRef>
            <a:fontRef idx="minor">
              <a:schemeClr val="tx1"/>
            </a:fontRef>
          </p:style>
        </p:cxnSp>
      </p:grpSp>
      <p:pic>
        <p:nvPicPr>
          <p:cNvPr id="5" name="图片 4" descr="post_object_image_2735406507"/>
          <p:cNvPicPr>
            <a:picLocks noChangeAspect="1"/>
          </p:cNvPicPr>
          <p:nvPr/>
        </p:nvPicPr>
        <p:blipFill>
          <a:blip r:embed="rId5"/>
          <a:stretch>
            <a:fillRect/>
          </a:stretch>
        </p:blipFill>
        <p:spPr>
          <a:xfrm>
            <a:off x="8106086" y="1374779"/>
            <a:ext cx="3479387" cy="491337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438150"/>
            <a:ext cx="12237156" cy="6419850"/>
            <a:chOff x="0" y="438150"/>
            <a:chExt cx="12237156" cy="6419850"/>
          </a:xfrm>
        </p:grpSpPr>
        <p:sp>
          <p:nvSpPr>
            <p:cNvPr id="3" name="矩形 2"/>
            <p:cNvSpPr/>
            <p:nvPr/>
          </p:nvSpPr>
          <p:spPr>
            <a:xfrm>
              <a:off x="400050" y="438150"/>
              <a:ext cx="11391900" cy="6129462"/>
            </a:xfrm>
            <a:prstGeom prst="rect">
              <a:avLst/>
            </a:prstGeom>
            <a:noFill/>
            <a:ln w="28575">
              <a:solidFill>
                <a:srgbClr val="BD9C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cstate="screen">
              <a:extLst>
                <a:ext uri="{BEBA8EAE-BF5A-486C-A8C5-ECC9F3942E4B}">
                  <a14:imgProps xmlns:a14="http://schemas.microsoft.com/office/drawing/2010/main">
                    <a14:imgLayer r:embed="rId2">
                      <a14:imgEffect>
                        <a14:backgroundRemoval t="8969" b="89238" l="3300" r="97500">
                          <a14:foregroundMark x1="3350" y1="29596" x2="16150" y2="72197"/>
                          <a14:foregroundMark x1="16150" y1="72197" x2="50500" y2="24215"/>
                          <a14:foregroundMark x1="50500" y1="24215" x2="54650" y2="42601"/>
                          <a14:foregroundMark x1="54650" y1="42601" x2="72700" y2="17489"/>
                          <a14:foregroundMark x1="72700" y1="17489" x2="87300" y2="49776"/>
                          <a14:foregroundMark x1="87300" y1="49776" x2="91600" y2="42152"/>
                          <a14:foregroundMark x1="91600" y1="42152" x2="91650" y2="42152"/>
                          <a14:foregroundMark x1="3700" y1="35874" x2="5500" y2="39910"/>
                          <a14:foregroundMark x1="95600" y1="39910" x2="97500" y2="52018"/>
                          <a14:foregroundMark x1="45600" y1="15247" x2="45600" y2="15247"/>
                          <a14:foregroundMark x1="45950" y1="14798" x2="45950" y2="14798"/>
                          <a14:foregroundMark x1="46500" y1="14798" x2="46500" y2="14798"/>
                          <a14:foregroundMark x1="65900" y1="13901" x2="65900" y2="13901"/>
                          <a14:foregroundMark x1="59550" y1="14350" x2="59550" y2="14350"/>
                          <a14:foregroundMark x1="73850" y1="14350" x2="73850" y2="14350"/>
                          <a14:foregroundMark x1="87650" y1="14350" x2="87650" y2="14350"/>
                          <a14:foregroundMark x1="79200" y1="13901" x2="79850" y2="15247"/>
                          <a14:foregroundMark x1="93200" y1="13453" x2="94150" y2="14350"/>
                          <a14:foregroundMark x1="51300" y1="13453" x2="52050" y2="13453"/>
                          <a14:foregroundMark x1="23400" y1="16143" x2="24250" y2="16143"/>
                          <a14:foregroundMark x1="31100" y1="16592" x2="32900" y2="19283"/>
                          <a14:foregroundMark x1="31550" y1="15247" x2="32400" y2="16592"/>
                          <a14:foregroundMark x1="37350" y1="16143" x2="38500" y2="17040"/>
                          <a14:foregroundMark x1="3300" y1="16143" x2="4450" y2="17489"/>
                          <a14:foregroundMark x1="17350" y1="17937" x2="19150" y2="17937"/>
                        </a14:backgroundRemoval>
                      </a14:imgEffect>
                    </a14:imgLayer>
                  </a14:imgProps>
                </a:ext>
              </a:extLst>
            </a:blip>
            <a:srcRect l="459" b="58084"/>
            <a:stretch>
              <a:fillRect/>
            </a:stretch>
          </p:blipFill>
          <p:spPr>
            <a:xfrm>
              <a:off x="0" y="6288194"/>
              <a:ext cx="12237156" cy="569806"/>
            </a:xfrm>
            <a:custGeom>
              <a:avLst/>
              <a:gdLst>
                <a:gd name="connsiteX0" fmla="*/ 0 w 12237156"/>
                <a:gd name="connsiteY0" fmla="*/ 0 h 569806"/>
                <a:gd name="connsiteX1" fmla="*/ 12237156 w 12237156"/>
                <a:gd name="connsiteY1" fmla="*/ 0 h 569806"/>
                <a:gd name="connsiteX2" fmla="*/ 12237156 w 12237156"/>
                <a:gd name="connsiteY2" fmla="*/ 569806 h 569806"/>
                <a:gd name="connsiteX3" fmla="*/ 0 w 12237156"/>
                <a:gd name="connsiteY3" fmla="*/ 569806 h 569806"/>
              </a:gdLst>
              <a:ahLst/>
              <a:cxnLst>
                <a:cxn ang="0">
                  <a:pos x="connsiteX0" y="connsiteY0"/>
                </a:cxn>
                <a:cxn ang="0">
                  <a:pos x="connsiteX1" y="connsiteY1"/>
                </a:cxn>
                <a:cxn ang="0">
                  <a:pos x="connsiteX2" y="connsiteY2"/>
                </a:cxn>
                <a:cxn ang="0">
                  <a:pos x="connsiteX3" y="connsiteY3"/>
                </a:cxn>
              </a:cxnLst>
              <a:rect l="l" t="t" r="r" b="b"/>
              <a:pathLst>
                <a:path w="12237156" h="569806">
                  <a:moveTo>
                    <a:pt x="0" y="0"/>
                  </a:moveTo>
                  <a:lnTo>
                    <a:pt x="12237156" y="0"/>
                  </a:lnTo>
                  <a:lnTo>
                    <a:pt x="12237156" y="569806"/>
                  </a:lnTo>
                  <a:lnTo>
                    <a:pt x="0" y="569806"/>
                  </a:lnTo>
                  <a:close/>
                </a:path>
              </a:pathLst>
            </a:custGeom>
          </p:spPr>
        </p:pic>
      </p:grpSp>
      <p:sp>
        <p:nvSpPr>
          <p:cNvPr id="21" name="弧形 20"/>
          <p:cNvSpPr/>
          <p:nvPr/>
        </p:nvSpPr>
        <p:spPr>
          <a:xfrm rot="19960785">
            <a:off x="2655759" y="3967938"/>
            <a:ext cx="1805937" cy="2024341"/>
          </a:xfrm>
          <a:prstGeom prst="arc">
            <a:avLst>
              <a:gd name="adj1" fmla="val 16200000"/>
              <a:gd name="adj2" fmla="val 385944"/>
            </a:avLst>
          </a:prstGeom>
          <a:ln w="19050">
            <a:solidFill>
              <a:srgbClr val="A8805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2" name="弧形 21"/>
          <p:cNvSpPr/>
          <p:nvPr/>
        </p:nvSpPr>
        <p:spPr>
          <a:xfrm rot="19928304">
            <a:off x="5884523" y="3714378"/>
            <a:ext cx="2072627" cy="2323284"/>
          </a:xfrm>
          <a:prstGeom prst="arc">
            <a:avLst>
              <a:gd name="adj1" fmla="val 16200000"/>
              <a:gd name="adj2" fmla="val 21299630"/>
            </a:avLst>
          </a:prstGeom>
          <a:ln w="19050">
            <a:solidFill>
              <a:srgbClr val="A8805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3" name="弧形 22"/>
          <p:cNvSpPr/>
          <p:nvPr/>
        </p:nvSpPr>
        <p:spPr>
          <a:xfrm rot="7032751">
            <a:off x="3700057" y="2413913"/>
            <a:ext cx="2518830" cy="2195251"/>
          </a:xfrm>
          <a:prstGeom prst="arc">
            <a:avLst/>
          </a:prstGeom>
          <a:ln w="19050">
            <a:solidFill>
              <a:srgbClr val="A8805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sp>
        <p:nvSpPr>
          <p:cNvPr id="24" name="弧形 23"/>
          <p:cNvSpPr/>
          <p:nvPr/>
        </p:nvSpPr>
        <p:spPr>
          <a:xfrm rot="7800000">
            <a:off x="7266354" y="2174993"/>
            <a:ext cx="2518830" cy="2195251"/>
          </a:xfrm>
          <a:prstGeom prst="arc">
            <a:avLst>
              <a:gd name="adj1" fmla="val 16201760"/>
              <a:gd name="adj2" fmla="val 21391175"/>
            </a:avLst>
          </a:prstGeom>
          <a:ln w="19050">
            <a:solidFill>
              <a:srgbClr val="A8805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3" cstate="screen">
            <a:extLst>
              <a:ext uri="{BEBA8EAE-BF5A-486C-A8C5-ECC9F3942E4B}">
                <a14:imgProps xmlns:a14="http://schemas.microsoft.com/office/drawing/2010/main">
                  <a14:imgLayer r:embed="rId4">
                    <a14:imgEffect>
                      <a14:backgroundRemoval t="0" b="100000" l="0" r="100000">
                        <a14:foregroundMark x1="0" y1="87288" x2="12605" y2="82203"/>
                        <a14:foregroundMark x1="13445" y1="82203" x2="38655" y2="99153"/>
                        <a14:foregroundMark x1="83193" y1="9322" x2="99160" y2="27966"/>
                        <a14:foregroundMark x1="18487" y1="0" x2="82353" y2="8475"/>
                      </a14:backgroundRemoval>
                    </a14:imgEffect>
                  </a14:imgLayer>
                </a14:imgProps>
              </a:ext>
            </a:extLst>
          </a:blip>
          <a:srcRect/>
          <a:stretch>
            <a:fillRect/>
          </a:stretch>
        </p:blipFill>
        <p:spPr>
          <a:xfrm flipH="1">
            <a:off x="9018819" y="3298302"/>
            <a:ext cx="1815182" cy="976415"/>
          </a:xfrm>
          <a:custGeom>
            <a:avLst/>
            <a:gdLst>
              <a:gd name="connsiteX0" fmla="*/ 360357 w 720714"/>
              <a:gd name="connsiteY0" fmla="*/ 0 h 720714"/>
              <a:gd name="connsiteX1" fmla="*/ 0 w 720714"/>
              <a:gd name="connsiteY1" fmla="*/ 360357 h 720714"/>
              <a:gd name="connsiteX2" fmla="*/ 360357 w 720714"/>
              <a:gd name="connsiteY2" fmla="*/ 720714 h 720714"/>
              <a:gd name="connsiteX3" fmla="*/ 720714 w 720714"/>
              <a:gd name="connsiteY3" fmla="*/ 360357 h 720714"/>
              <a:gd name="connsiteX4" fmla="*/ 360357 w 720714"/>
              <a:gd name="connsiteY4" fmla="*/ 0 h 720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714" h="720714">
                <a:moveTo>
                  <a:pt x="360357" y="0"/>
                </a:moveTo>
                <a:cubicBezTo>
                  <a:pt x="161337" y="0"/>
                  <a:pt x="0" y="161337"/>
                  <a:pt x="0" y="360357"/>
                </a:cubicBezTo>
                <a:cubicBezTo>
                  <a:pt x="0" y="559377"/>
                  <a:pt x="161337" y="720714"/>
                  <a:pt x="360357" y="720714"/>
                </a:cubicBezTo>
                <a:cubicBezTo>
                  <a:pt x="559377" y="720714"/>
                  <a:pt x="720714" y="559377"/>
                  <a:pt x="720714" y="360357"/>
                </a:cubicBezTo>
                <a:cubicBezTo>
                  <a:pt x="720714" y="161337"/>
                  <a:pt x="559377" y="0"/>
                  <a:pt x="360357" y="0"/>
                </a:cubicBezTo>
                <a:close/>
              </a:path>
            </a:pathLst>
          </a:custGeom>
        </p:spPr>
      </p:pic>
      <p:pic>
        <p:nvPicPr>
          <p:cNvPr id="12" name="图片 11"/>
          <p:cNvPicPr>
            <a:picLocks noChangeAspect="1"/>
          </p:cNvPicPr>
          <p:nvPr/>
        </p:nvPicPr>
        <p:blipFill>
          <a:blip r:embed="rId3" cstate="screen">
            <a:extLst>
              <a:ext uri="{BEBA8EAE-BF5A-486C-A8C5-ECC9F3942E4B}">
                <a14:imgProps xmlns:a14="http://schemas.microsoft.com/office/drawing/2010/main">
                  <a14:imgLayer r:embed="rId4">
                    <a14:imgEffect>
                      <a14:backgroundRemoval t="0" b="100000" l="0" r="100000">
                        <a14:foregroundMark x1="0" y1="87288" x2="12605" y2="82203"/>
                        <a14:foregroundMark x1="13445" y1="82203" x2="38655" y2="99153"/>
                        <a14:foregroundMark x1="83193" y1="9322" x2="99160" y2="27966"/>
                        <a14:foregroundMark x1="18487" y1="0" x2="82353" y2="8475"/>
                      </a14:backgroundRemoval>
                    </a14:imgEffect>
                  </a14:imgLayer>
                </a14:imgProps>
              </a:ext>
            </a:extLst>
          </a:blip>
          <a:srcRect/>
          <a:stretch>
            <a:fillRect/>
          </a:stretch>
        </p:blipFill>
        <p:spPr>
          <a:xfrm flipH="1">
            <a:off x="1421211" y="3584698"/>
            <a:ext cx="1725314" cy="816650"/>
          </a:xfrm>
          <a:custGeom>
            <a:avLst/>
            <a:gdLst>
              <a:gd name="connsiteX0" fmla="*/ 360357 w 720714"/>
              <a:gd name="connsiteY0" fmla="*/ 0 h 720714"/>
              <a:gd name="connsiteX1" fmla="*/ 0 w 720714"/>
              <a:gd name="connsiteY1" fmla="*/ 360357 h 720714"/>
              <a:gd name="connsiteX2" fmla="*/ 360357 w 720714"/>
              <a:gd name="connsiteY2" fmla="*/ 720714 h 720714"/>
              <a:gd name="connsiteX3" fmla="*/ 720714 w 720714"/>
              <a:gd name="connsiteY3" fmla="*/ 360357 h 720714"/>
              <a:gd name="connsiteX4" fmla="*/ 360357 w 720714"/>
              <a:gd name="connsiteY4" fmla="*/ 0 h 720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714" h="720714">
                <a:moveTo>
                  <a:pt x="360357" y="0"/>
                </a:moveTo>
                <a:cubicBezTo>
                  <a:pt x="161337" y="0"/>
                  <a:pt x="0" y="161337"/>
                  <a:pt x="0" y="360357"/>
                </a:cubicBezTo>
                <a:cubicBezTo>
                  <a:pt x="0" y="559377"/>
                  <a:pt x="161337" y="720714"/>
                  <a:pt x="360357" y="720714"/>
                </a:cubicBezTo>
                <a:cubicBezTo>
                  <a:pt x="559377" y="720714"/>
                  <a:pt x="720714" y="559377"/>
                  <a:pt x="720714" y="360357"/>
                </a:cubicBezTo>
                <a:cubicBezTo>
                  <a:pt x="720714" y="161337"/>
                  <a:pt x="559377" y="0"/>
                  <a:pt x="360357" y="0"/>
                </a:cubicBezTo>
                <a:close/>
              </a:path>
            </a:pathLst>
          </a:custGeom>
        </p:spPr>
      </p:pic>
      <p:pic>
        <p:nvPicPr>
          <p:cNvPr id="17" name="图片 16"/>
          <p:cNvPicPr>
            <a:picLocks noChangeAspect="1"/>
          </p:cNvPicPr>
          <p:nvPr/>
        </p:nvPicPr>
        <p:blipFill>
          <a:blip r:embed="rId3" cstate="screen">
            <a:extLst>
              <a:ext uri="{BEBA8EAE-BF5A-486C-A8C5-ECC9F3942E4B}">
                <a14:imgProps xmlns:a14="http://schemas.microsoft.com/office/drawing/2010/main">
                  <a14:imgLayer r:embed="rId4">
                    <a14:imgEffect>
                      <a14:backgroundRemoval t="0" b="100000" l="0" r="100000">
                        <a14:foregroundMark x1="0" y1="87288" x2="12605" y2="82203"/>
                        <a14:foregroundMark x1="13445" y1="82203" x2="38655" y2="99153"/>
                        <a14:foregroundMark x1="83193" y1="9322" x2="99160" y2="27966"/>
                        <a14:foregroundMark x1="18487" y1="0" x2="82353" y2="8475"/>
                      </a14:backgroundRemoval>
                    </a14:imgEffect>
                  </a14:imgLayer>
                </a14:imgProps>
              </a:ext>
            </a:extLst>
          </a:blip>
          <a:srcRect/>
          <a:stretch>
            <a:fillRect/>
          </a:stretch>
        </p:blipFill>
        <p:spPr>
          <a:xfrm flipH="1">
            <a:off x="5710282" y="3666411"/>
            <a:ext cx="816650" cy="816650"/>
          </a:xfrm>
          <a:custGeom>
            <a:avLst/>
            <a:gdLst>
              <a:gd name="connsiteX0" fmla="*/ 360357 w 720714"/>
              <a:gd name="connsiteY0" fmla="*/ 0 h 720714"/>
              <a:gd name="connsiteX1" fmla="*/ 0 w 720714"/>
              <a:gd name="connsiteY1" fmla="*/ 360357 h 720714"/>
              <a:gd name="connsiteX2" fmla="*/ 360357 w 720714"/>
              <a:gd name="connsiteY2" fmla="*/ 720714 h 720714"/>
              <a:gd name="connsiteX3" fmla="*/ 720714 w 720714"/>
              <a:gd name="connsiteY3" fmla="*/ 360357 h 720714"/>
              <a:gd name="connsiteX4" fmla="*/ 360357 w 720714"/>
              <a:gd name="connsiteY4" fmla="*/ 0 h 720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714" h="720714">
                <a:moveTo>
                  <a:pt x="360357" y="0"/>
                </a:moveTo>
                <a:cubicBezTo>
                  <a:pt x="161337" y="0"/>
                  <a:pt x="0" y="161337"/>
                  <a:pt x="0" y="360357"/>
                </a:cubicBezTo>
                <a:cubicBezTo>
                  <a:pt x="0" y="559377"/>
                  <a:pt x="161337" y="720714"/>
                  <a:pt x="360357" y="720714"/>
                </a:cubicBezTo>
                <a:cubicBezTo>
                  <a:pt x="559377" y="720714"/>
                  <a:pt x="720714" y="559377"/>
                  <a:pt x="720714" y="360357"/>
                </a:cubicBezTo>
                <a:cubicBezTo>
                  <a:pt x="720714" y="161337"/>
                  <a:pt x="559377" y="0"/>
                  <a:pt x="360357" y="0"/>
                </a:cubicBezTo>
                <a:close/>
              </a:path>
            </a:pathLst>
          </a:custGeom>
        </p:spPr>
      </p:pic>
      <p:sp>
        <p:nvSpPr>
          <p:cNvPr id="25" name="文本框 24"/>
          <p:cNvSpPr txBox="1"/>
          <p:nvPr/>
        </p:nvSpPr>
        <p:spPr>
          <a:xfrm>
            <a:off x="1747975" y="3647229"/>
            <a:ext cx="1052165" cy="1014730"/>
          </a:xfrm>
          <a:prstGeom prst="rect">
            <a:avLst/>
          </a:prstGeom>
          <a:noFill/>
        </p:spPr>
        <p:txBody>
          <a:bodyPr wrap="square" rtlCol="0">
            <a:no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平台功利化</a:t>
            </a:r>
            <a:endParaRPr lang="zh-CN" altLang="en-US">
              <a:latin typeface="微软雅黑" panose="020B0503020204020204" pitchFamily="34" charset="-122"/>
              <a:ea typeface="微软雅黑" panose="020B0503020204020204" pitchFamily="34" charset="-122"/>
            </a:endParaRPr>
          </a:p>
        </p:txBody>
      </p:sp>
      <p:sp>
        <p:nvSpPr>
          <p:cNvPr id="27" name="文本框 26"/>
          <p:cNvSpPr txBox="1"/>
          <p:nvPr/>
        </p:nvSpPr>
        <p:spPr>
          <a:xfrm>
            <a:off x="5670211" y="3874667"/>
            <a:ext cx="896792" cy="398780"/>
          </a:xfrm>
          <a:prstGeom prst="rect">
            <a:avLst/>
          </a:prstGeom>
          <a:noFill/>
        </p:spPr>
        <p:txBody>
          <a:bodyPr wrap="squar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受众</a:t>
            </a:r>
            <a:endParaRPr lang="zh-CN" altLang="en-US">
              <a:latin typeface="微软雅黑" panose="020B0503020204020204" pitchFamily="34" charset="-122"/>
              <a:ea typeface="微软雅黑" panose="020B0503020204020204" pitchFamily="34" charset="-122"/>
            </a:endParaRPr>
          </a:p>
        </p:txBody>
      </p:sp>
      <p:sp>
        <p:nvSpPr>
          <p:cNvPr id="29" name="文本框 28"/>
          <p:cNvSpPr txBox="1"/>
          <p:nvPr/>
        </p:nvSpPr>
        <p:spPr>
          <a:xfrm>
            <a:off x="9263696" y="3364754"/>
            <a:ext cx="1325429" cy="1322070"/>
          </a:xfrm>
          <a:prstGeom prst="rect">
            <a:avLst/>
          </a:prstGeom>
          <a:noFill/>
        </p:spPr>
        <p:txBody>
          <a:bodyPr wrap="square" rtlCol="0">
            <a:no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社会与媒介环境</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a:off x="3781442" y="4792654"/>
            <a:ext cx="5097418" cy="332295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just">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生活节奏紧凑使大众普遍存在情感缺口，影片成为情绪出口，但薄弱的媒介素养导致“感动即佳作”的认知偏差；部分观众对女性叙事认知片面，依托角色形成狭隘身份认同，在圈层舆论裹挟下盲目否定异见。</a:t>
            </a:r>
            <a:endParaRPr lang="zh-CN" altLang="en-US" sz="1400" dirty="0">
              <a:solidFill>
                <a:srgbClr val="685652"/>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821493" y="1413522"/>
            <a:ext cx="4004015" cy="1951232"/>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just">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平台功利化的流量分发逻辑是核心技术诱因：温情治愈内容的高互动属性持续获得算法倾斜，正面口碑占据绝大部分曝光资源，客观评价遭压缩；个性化推荐固化信息圈层，加深片面认知；为快速博取流量，平台刻意提炼差异化标签，简化创作价值，诱导同质化跟风。</a:t>
            </a:r>
            <a:endParaRPr lang="zh-CN" altLang="en-US" sz="1400" dirty="0">
              <a:solidFill>
                <a:srgbClr val="685652"/>
              </a:solidFill>
              <a:latin typeface="微软雅黑" panose="020B0503020204020204" pitchFamily="34" charset="-122"/>
              <a:ea typeface="微软雅黑" panose="020B0503020204020204" pitchFamily="34" charset="-122"/>
            </a:endParaRPr>
          </a:p>
        </p:txBody>
      </p:sp>
      <p:sp>
        <p:nvSpPr>
          <p:cNvPr id="34" name="文本框 33"/>
          <p:cNvSpPr txBox="1"/>
          <p:nvPr/>
        </p:nvSpPr>
        <p:spPr>
          <a:xfrm>
            <a:off x="7467324" y="1304882"/>
            <a:ext cx="4209870" cy="1937132"/>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400" dirty="0">
                <a:solidFill>
                  <a:srgbClr val="685652"/>
                </a:solidFill>
                <a:latin typeface="微软雅黑" panose="020B0503020204020204" pitchFamily="34" charset="-122"/>
                <a:ea typeface="微软雅黑" panose="020B0503020204020204" pitchFamily="34" charset="-122"/>
              </a:rPr>
              <a:t>长期以来流水线工业化作品积累的审美疲劳与逆反情绪集中释放，加剧对商业影视的片面否定；网络匿名助长情绪化表达，理性探讨缺失；院线排片长期倾斜头部大片，媒体刻意放大草根逆袭传奇，忽视资源分配不公，而优质方言内容长期稀缺，小众地域文化被当作猎奇流量符号消费，丧失了本土文化传播的深层价值。</a:t>
            </a:r>
            <a:endParaRPr lang="zh-CN" altLang="en-US" sz="1400" dirty="0">
              <a:solidFill>
                <a:srgbClr val="685652"/>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502016" y="302517"/>
            <a:ext cx="8661095" cy="932511"/>
            <a:chOff x="502016" y="372414"/>
            <a:chExt cx="8661095" cy="932511"/>
          </a:xfrm>
        </p:grpSpPr>
        <p:sp>
          <p:nvSpPr>
            <p:cNvPr id="13" name="文本框 12"/>
            <p:cNvSpPr txBox="1"/>
            <p:nvPr/>
          </p:nvSpPr>
          <p:spPr>
            <a:xfrm>
              <a:off x="1078698" y="828590"/>
              <a:ext cx="8084413" cy="306542"/>
            </a:xfrm>
            <a:prstGeom prst="rect">
              <a:avLst/>
            </a:prstGeom>
            <a:noFill/>
          </p:spPr>
          <p:txBody>
            <a:bodyPr wrap="square" rtlCol="0">
              <a:noAutofit/>
            </a:bodyPr>
            <a:lstStyle>
              <a:defPPr>
                <a:defRPr lang="zh-CN"/>
              </a:defPPr>
              <a:lvl1pPr algn="dist">
                <a:defRPr sz="2000">
                  <a:solidFill>
                    <a:srgbClr val="685652"/>
                  </a:solidFill>
                  <a:latin typeface="汉仪长美黑简" panose="02010609000101010101" pitchFamily="49" charset="-122"/>
                  <a:ea typeface="汉仪长美黑简" panose="02010609000101010101" pitchFamily="49" charset="-122"/>
                </a:defRPr>
              </a:lvl1pPr>
            </a:lstStyle>
            <a:p>
              <a:r>
                <a:rPr lang="zh-CN" altLang="en-US" dirty="0"/>
                <a:t>上述问题的成因交织于平台技术、受众个体与社会环境三重维度。</a:t>
              </a:r>
              <a:endParaRPr lang="zh-CN" altLang="en-US" dirty="0"/>
            </a:p>
          </p:txBody>
        </p:sp>
        <p:pic>
          <p:nvPicPr>
            <p:cNvPr id="14" name="图片 13" descr="图片包含 桌子, 小, 游戏机, 花瓶&#10;&#10;描述已自动生成"/>
            <p:cNvPicPr>
              <a:picLocks noChangeAspect="1"/>
            </p:cNvPicPr>
            <p:nvPr/>
          </p:nvPicPr>
          <p:blipFill>
            <a:blip r:embed="rId5" cstate="screen">
              <a:extLst>
                <a:ext uri="{BEBA8EAE-BF5A-486C-A8C5-ECC9F3942E4B}">
                  <a14:imgProps xmlns:a14="http://schemas.microsoft.com/office/drawing/2010/main">
                    <a14:imgLayer r:embed="rId6">
                      <a14:imgEffect>
                        <a14:backgroundRemoval t="9934" b="90177" l="9878" r="89970">
                          <a14:foregroundMark x1="21429" y1="28477" x2="32067" y2="36865"/>
                          <a14:foregroundMark x1="32219" y1="25497" x2="32067" y2="24172"/>
                          <a14:foregroundMark x1="28116" y1="39183" x2="32219" y2="39845"/>
                          <a14:foregroundMark x1="19605" y1="34658" x2="20821" y2="34989"/>
                          <a14:foregroundMark x1="53343" y1="32009" x2="54711" y2="32671"/>
                          <a14:foregroundMark x1="59271" y1="42163" x2="61094" y2="43157"/>
                          <a14:foregroundMark x1="63222" y1="32671" x2="63222" y2="32340"/>
                          <a14:foregroundMark x1="50608" y1="90177" x2="51520" y2="89956"/>
                          <a14:foregroundMark x1="36170" y1="40618" x2="38602" y2="43488"/>
                          <a14:foregroundMark x1="43769" y1="49890" x2="44681" y2="50221"/>
                        </a14:backgroundRemoval>
                      </a14:imgEffect>
                    </a14:imgLayer>
                  </a14:imgProps>
                </a:ext>
              </a:extLst>
            </a:blip>
            <a:stretch>
              <a:fillRect/>
            </a:stretch>
          </p:blipFill>
          <p:spPr>
            <a:xfrm>
              <a:off x="502016" y="372414"/>
              <a:ext cx="698926" cy="932511"/>
            </a:xfrm>
            <a:prstGeom prst="rect">
              <a:avLst/>
            </a:prstGeom>
          </p:spPr>
        </p:pic>
        <p:cxnSp>
          <p:nvCxnSpPr>
            <p:cNvPr id="15" name="直接连接符 14"/>
            <p:cNvCxnSpPr/>
            <p:nvPr/>
          </p:nvCxnSpPr>
          <p:spPr>
            <a:xfrm>
              <a:off x="766763" y="1214438"/>
              <a:ext cx="3014662" cy="0"/>
            </a:xfrm>
            <a:prstGeom prst="line">
              <a:avLst/>
            </a:prstGeom>
            <a:ln w="12700">
              <a:solidFill>
                <a:srgbClr val="685652"/>
              </a:solidFill>
            </a:ln>
          </p:spPr>
          <p:style>
            <a:lnRef idx="1">
              <a:schemeClr val="accent1"/>
            </a:lnRef>
            <a:fillRef idx="0">
              <a:schemeClr val="accent1"/>
            </a:fillRef>
            <a:effectRef idx="0">
              <a:schemeClr val="accent1"/>
            </a:effectRef>
            <a:fontRef idx="minor">
              <a:schemeClr val="tx1"/>
            </a:fontRef>
          </p:style>
        </p:cxnSp>
      </p:grpSp>
      <p:pic>
        <p:nvPicPr>
          <p:cNvPr id="5" name="图片 4" descr="post_object_image_1768029686"/>
          <p:cNvPicPr>
            <a:picLocks noChangeAspect="1"/>
          </p:cNvPicPr>
          <p:nvPr/>
        </p:nvPicPr>
        <p:blipFill>
          <a:blip r:embed="rId7"/>
          <a:srcRect b="12272"/>
          <a:stretch>
            <a:fillRect/>
          </a:stretch>
        </p:blipFill>
        <p:spPr>
          <a:xfrm>
            <a:off x="1299134" y="4534105"/>
            <a:ext cx="2108257" cy="1853207"/>
          </a:xfrm>
          <a:prstGeom prst="rect">
            <a:avLst/>
          </a:prstGeom>
        </p:spPr>
      </p:pic>
      <p:pic>
        <p:nvPicPr>
          <p:cNvPr id="6" name="图片 5" descr="post_object_image_1884142808"/>
          <p:cNvPicPr>
            <a:picLocks noChangeAspect="1"/>
          </p:cNvPicPr>
          <p:nvPr/>
        </p:nvPicPr>
        <p:blipFill>
          <a:blip r:embed="rId8"/>
          <a:srcRect b="11186"/>
          <a:stretch>
            <a:fillRect/>
          </a:stretch>
        </p:blipFill>
        <p:spPr>
          <a:xfrm>
            <a:off x="9018844" y="4368115"/>
            <a:ext cx="2269007" cy="2019197"/>
          </a:xfrm>
          <a:prstGeom prst="rect">
            <a:avLst/>
          </a:prstGeom>
        </p:spPr>
      </p:pic>
      <p:pic>
        <p:nvPicPr>
          <p:cNvPr id="7" name="图片 6" descr="post_object_image_1218675938"/>
          <p:cNvPicPr>
            <a:picLocks noChangeAspect="1"/>
          </p:cNvPicPr>
          <p:nvPr/>
        </p:nvPicPr>
        <p:blipFill>
          <a:blip r:embed="rId9"/>
          <a:stretch>
            <a:fillRect/>
          </a:stretch>
        </p:blipFill>
        <p:spPr>
          <a:xfrm>
            <a:off x="5168025" y="1304882"/>
            <a:ext cx="1856029" cy="224865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6144" y="1133037"/>
            <a:ext cx="9587005" cy="4859075"/>
            <a:chOff x="376144" y="1133037"/>
            <a:chExt cx="9587005" cy="4859075"/>
          </a:xfrm>
        </p:grpSpPr>
        <p:grpSp>
          <p:nvGrpSpPr>
            <p:cNvPr id="3" name="组合 2"/>
            <p:cNvGrpSpPr/>
            <p:nvPr/>
          </p:nvGrpSpPr>
          <p:grpSpPr>
            <a:xfrm>
              <a:off x="376144" y="1133037"/>
              <a:ext cx="9587005" cy="4859075"/>
              <a:chOff x="376144" y="1133037"/>
              <a:chExt cx="9587005" cy="4859075"/>
            </a:xfrm>
          </p:grpSpPr>
          <p:pic>
            <p:nvPicPr>
              <p:cNvPr id="9" name="图片 8"/>
              <p:cNvPicPr>
                <a:picLocks noChangeAspect="1"/>
              </p:cNvPicPr>
              <p:nvPr/>
            </p:nvPicPr>
            <p:blipFill>
              <a:blip r:embed="rId1" cstate="screen"/>
              <a:srcRect/>
              <a:stretch>
                <a:fillRect/>
              </a:stretch>
            </p:blipFill>
            <p:spPr>
              <a:xfrm>
                <a:off x="2256550" y="1133037"/>
                <a:ext cx="7706599" cy="4609771"/>
              </a:xfrm>
              <a:custGeom>
                <a:avLst/>
                <a:gdLst>
                  <a:gd name="connsiteX0" fmla="*/ 75384 w 7297898"/>
                  <a:gd name="connsiteY0" fmla="*/ 75384 h 4444795"/>
                  <a:gd name="connsiteX1" fmla="*/ 75384 w 7297898"/>
                  <a:gd name="connsiteY1" fmla="*/ 4369411 h 4444795"/>
                  <a:gd name="connsiteX2" fmla="*/ 7222514 w 7297898"/>
                  <a:gd name="connsiteY2" fmla="*/ 4369411 h 4444795"/>
                  <a:gd name="connsiteX3" fmla="*/ 7222514 w 7297898"/>
                  <a:gd name="connsiteY3" fmla="*/ 75384 h 4444795"/>
                  <a:gd name="connsiteX4" fmla="*/ 0 w 7297898"/>
                  <a:gd name="connsiteY4" fmla="*/ 0 h 4444795"/>
                  <a:gd name="connsiteX5" fmla="*/ 7297898 w 7297898"/>
                  <a:gd name="connsiteY5" fmla="*/ 0 h 4444795"/>
                  <a:gd name="connsiteX6" fmla="*/ 7297898 w 7297898"/>
                  <a:gd name="connsiteY6" fmla="*/ 4444795 h 4444795"/>
                  <a:gd name="connsiteX7" fmla="*/ 0 w 7297898"/>
                  <a:gd name="connsiteY7" fmla="*/ 4444795 h 4444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97898" h="4444795">
                    <a:moveTo>
                      <a:pt x="75384" y="75384"/>
                    </a:moveTo>
                    <a:lnTo>
                      <a:pt x="75384" y="4369411"/>
                    </a:lnTo>
                    <a:lnTo>
                      <a:pt x="7222514" y="4369411"/>
                    </a:lnTo>
                    <a:lnTo>
                      <a:pt x="7222514" y="75384"/>
                    </a:lnTo>
                    <a:close/>
                    <a:moveTo>
                      <a:pt x="0" y="0"/>
                    </a:moveTo>
                    <a:lnTo>
                      <a:pt x="7297898" y="0"/>
                    </a:lnTo>
                    <a:lnTo>
                      <a:pt x="7297898" y="4444795"/>
                    </a:lnTo>
                    <a:lnTo>
                      <a:pt x="0" y="4444795"/>
                    </a:lnTo>
                    <a:close/>
                  </a:path>
                </a:pathLst>
              </a:custGeom>
            </p:spPr>
          </p:pic>
          <p:grpSp>
            <p:nvGrpSpPr>
              <p:cNvPr id="10" name="组合 9"/>
              <p:cNvGrpSpPr/>
              <p:nvPr/>
            </p:nvGrpSpPr>
            <p:grpSpPr>
              <a:xfrm>
                <a:off x="376144" y="1382783"/>
                <a:ext cx="5071377" cy="4609329"/>
                <a:chOff x="3448510" y="1555158"/>
                <a:chExt cx="5071377" cy="4444369"/>
              </a:xfrm>
            </p:grpSpPr>
            <p:pic>
              <p:nvPicPr>
                <p:cNvPr id="14" name="图片 13"/>
                <p:cNvPicPr>
                  <a:picLocks noChangeAspect="1"/>
                </p:cNvPicPr>
                <p:nvPr/>
              </p:nvPicPr>
              <p:blipFill>
                <a:blip r:embed="rId2" cstate="screen">
                  <a:extLst>
                    <a:ext uri="{BEBA8EAE-BF5A-486C-A8C5-ECC9F3942E4B}">
                      <a14:imgProps xmlns:a14="http://schemas.microsoft.com/office/drawing/2010/main">
                        <a14:imgLayer r:embed="rId3">
                          <a14:imgEffect>
                            <a14:backgroundRemoval t="0" b="100000" l="0" r="85827"/>
                          </a14:imgEffect>
                        </a14:imgLayer>
                      </a14:imgProps>
                    </a:ext>
                  </a:extLst>
                </a:blip>
                <a:srcRect/>
                <a:stretch>
                  <a:fillRect/>
                </a:stretch>
              </p:blipFill>
              <p:spPr>
                <a:xfrm rot="3887794" flipH="1">
                  <a:off x="3361424" y="2385654"/>
                  <a:ext cx="1553029" cy="1378857"/>
                </a:xfrm>
                <a:custGeom>
                  <a:avLst/>
                  <a:gdLst>
                    <a:gd name="connsiteX0" fmla="*/ 667657 w 1553029"/>
                    <a:gd name="connsiteY0" fmla="*/ 0 h 1378857"/>
                    <a:gd name="connsiteX1" fmla="*/ 1553029 w 1553029"/>
                    <a:gd name="connsiteY1" fmla="*/ 72571 h 1378857"/>
                    <a:gd name="connsiteX2" fmla="*/ 1553029 w 1553029"/>
                    <a:gd name="connsiteY2" fmla="*/ 1132114 h 1378857"/>
                    <a:gd name="connsiteX3" fmla="*/ 653143 w 1553029"/>
                    <a:gd name="connsiteY3" fmla="*/ 1378857 h 1378857"/>
                    <a:gd name="connsiteX4" fmla="*/ 0 w 1553029"/>
                    <a:gd name="connsiteY4" fmla="*/ 319314 h 1378857"/>
                    <a:gd name="connsiteX5" fmla="*/ 159657 w 1553029"/>
                    <a:gd name="connsiteY5" fmla="*/ 116114 h 1378857"/>
                    <a:gd name="connsiteX6" fmla="*/ 667657 w 1553029"/>
                    <a:gd name="connsiteY6" fmla="*/ 0 h 1378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029" h="1378857">
                      <a:moveTo>
                        <a:pt x="667657" y="0"/>
                      </a:moveTo>
                      <a:lnTo>
                        <a:pt x="1553029" y="72571"/>
                      </a:lnTo>
                      <a:lnTo>
                        <a:pt x="1553029" y="1132114"/>
                      </a:lnTo>
                      <a:lnTo>
                        <a:pt x="653143" y="1378857"/>
                      </a:lnTo>
                      <a:lnTo>
                        <a:pt x="0" y="319314"/>
                      </a:lnTo>
                      <a:lnTo>
                        <a:pt x="159657" y="116114"/>
                      </a:lnTo>
                      <a:lnTo>
                        <a:pt x="667657" y="0"/>
                      </a:lnTo>
                      <a:close/>
                    </a:path>
                  </a:pathLst>
                </a:custGeom>
              </p:spPr>
            </p:pic>
            <p:pic>
              <p:nvPicPr>
                <p:cNvPr id="15" name="图片 14"/>
                <p:cNvPicPr>
                  <a:picLocks noChangeAspect="1"/>
                </p:cNvPicPr>
                <p:nvPr/>
              </p:nvPicPr>
              <p:blipFill>
                <a:blip r:embed="rId4" cstate="screen"/>
                <a:stretch>
                  <a:fillRect/>
                </a:stretch>
              </p:blipFill>
              <p:spPr>
                <a:xfrm rot="16438735">
                  <a:off x="4126356" y="2754632"/>
                  <a:ext cx="1478203" cy="1297533"/>
                </a:xfrm>
                <a:prstGeom prst="rect">
                  <a:avLst/>
                </a:prstGeom>
              </p:spPr>
            </p:pic>
            <p:pic>
              <p:nvPicPr>
                <p:cNvPr id="16" name="图片 15"/>
                <p:cNvPicPr>
                  <a:picLocks noChangeAspect="1"/>
                </p:cNvPicPr>
                <p:nvPr/>
              </p:nvPicPr>
              <p:blipFill>
                <a:blip r:embed="rId5">
                  <a:extLst>
                    <a:ext uri="{BEBA8EAE-BF5A-486C-A8C5-ECC9F3942E4B}">
                      <a14:imgProps xmlns:a14="http://schemas.microsoft.com/office/drawing/2010/main">
                        <a14:imgLayer r:embed="rId6">
                          <a14:imgEffect>
                            <a14:backgroundRemoval t="9877" b="93416" l="2315" r="89815">
                              <a14:foregroundMark x1="11111" y1="51852" x2="6327" y2="56516"/>
                              <a14:foregroundMark x1="2623" y1="58711" x2="2315" y2="57750"/>
                              <a14:foregroundMark x1="17593" y1="90123" x2="21296" y2="93416"/>
                              <a14:backgroundMark x1="13580" y1="35254" x2="12191" y2="40055"/>
                              <a14:backgroundMark x1="10648" y1="43759" x2="14352" y2="38546"/>
                            </a14:backgroundRemoval>
                          </a14:imgEffect>
                        </a14:imgLayer>
                      </a14:imgProps>
                    </a:ext>
                  </a:extLst>
                </a:blip>
                <a:stretch>
                  <a:fillRect/>
                </a:stretch>
              </p:blipFill>
              <p:spPr>
                <a:xfrm>
                  <a:off x="4569337" y="1555158"/>
                  <a:ext cx="3950550" cy="4444369"/>
                </a:xfrm>
                <a:prstGeom prst="rect">
                  <a:avLst/>
                </a:prstGeom>
              </p:spPr>
            </p:pic>
          </p:grpSp>
          <p:grpSp>
            <p:nvGrpSpPr>
              <p:cNvPr id="11" name="组合 10"/>
              <p:cNvGrpSpPr/>
              <p:nvPr/>
            </p:nvGrpSpPr>
            <p:grpSpPr>
              <a:xfrm>
                <a:off x="7451839" y="4394025"/>
                <a:ext cx="2488146" cy="1521438"/>
                <a:chOff x="7242289" y="4298775"/>
                <a:chExt cx="2488146" cy="1521438"/>
              </a:xfrm>
            </p:grpSpPr>
            <p:pic>
              <p:nvPicPr>
                <p:cNvPr id="12" name="图片 11"/>
                <p:cNvPicPr>
                  <a:picLocks noChangeAspect="1"/>
                </p:cNvPicPr>
                <p:nvPr/>
              </p:nvPicPr>
              <p:blipFill>
                <a:blip r:embed="rId7" cstate="screen">
                  <a:extLst>
                    <a:ext uri="{BEBA8EAE-BF5A-486C-A8C5-ECC9F3942E4B}">
                      <a14:imgProps xmlns:a14="http://schemas.microsoft.com/office/drawing/2010/main">
                        <a14:imgLayer r:embed="rId8">
                          <a14:imgEffect>
                            <a14:backgroundRemoval t="6641" b="90323" l="2186" r="89930">
                              <a14:foregroundMark x1="7338" y1="26376" x2="4840" y2="66034"/>
                              <a14:foregroundMark x1="67838" y1="89184" x2="70023" y2="90323"/>
                              <a14:foregroundMark x1="2888" y1="44592" x2="3201" y2="72486"/>
                              <a14:foregroundMark x1="2186" y1="50664" x2="2654" y2="58824"/>
                              <a14:foregroundMark x1="5855" y1="30361" x2="9524" y2="20304"/>
                              <a14:foregroundMark x1="21311" y1="9108" x2="27322" y2="6641"/>
                              <a14:foregroundMark x1="29899" y1="10057" x2="35207" y2="10057"/>
                              <a14:backgroundMark x1="3201" y1="17457" x2="3201" y2="27514"/>
                              <a14:backgroundMark x1="9290" y1="16129" x2="12959" y2="12713"/>
                              <a14:backgroundMark x1="12412" y1="9108" x2="20453" y2="5503"/>
                              <a14:backgroundMark x1="21233" y1="3226" x2="23888" y2="2846"/>
                              <a14:backgroundMark x1="21702" y1="4554" x2="24122" y2="4364"/>
                              <a14:backgroundMark x1="26308" y1="2846" x2="27713" y2="3226"/>
                              <a14:backgroundMark x1="26932" y1="1139" x2="29664" y2="3226"/>
                            </a14:backgroundRemoval>
                          </a14:imgEffect>
                        </a14:imgLayer>
                      </a14:imgProps>
                    </a:ext>
                  </a:extLst>
                </a:blip>
                <a:stretch>
                  <a:fillRect/>
                </a:stretch>
              </p:blipFill>
              <p:spPr>
                <a:xfrm flipH="1">
                  <a:off x="7242289" y="4796596"/>
                  <a:ext cx="2488146" cy="1023617"/>
                </a:xfrm>
                <a:custGeom>
                  <a:avLst/>
                  <a:gdLst>
                    <a:gd name="connsiteX0" fmla="*/ 2488146 w 2488146"/>
                    <a:gd name="connsiteY0" fmla="*/ 0 h 1023617"/>
                    <a:gd name="connsiteX1" fmla="*/ 54801 w 2488146"/>
                    <a:gd name="connsiteY1" fmla="*/ 0 h 1023617"/>
                    <a:gd name="connsiteX2" fmla="*/ 54801 w 2488146"/>
                    <a:gd name="connsiteY2" fmla="*/ 1023616 h 1023617"/>
                    <a:gd name="connsiteX3" fmla="*/ 0 w 2488146"/>
                    <a:gd name="connsiteY3" fmla="*/ 1023616 h 1023617"/>
                    <a:gd name="connsiteX4" fmla="*/ 0 w 2488146"/>
                    <a:gd name="connsiteY4" fmla="*/ 1023617 h 1023617"/>
                    <a:gd name="connsiteX5" fmla="*/ 2488146 w 2488146"/>
                    <a:gd name="connsiteY5" fmla="*/ 1023617 h 102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8146" h="1023617">
                      <a:moveTo>
                        <a:pt x="2488146" y="0"/>
                      </a:moveTo>
                      <a:lnTo>
                        <a:pt x="54801" y="0"/>
                      </a:lnTo>
                      <a:lnTo>
                        <a:pt x="54801" y="1023616"/>
                      </a:lnTo>
                      <a:lnTo>
                        <a:pt x="0" y="1023616"/>
                      </a:lnTo>
                      <a:lnTo>
                        <a:pt x="0" y="1023617"/>
                      </a:lnTo>
                      <a:lnTo>
                        <a:pt x="2488146" y="1023617"/>
                      </a:lnTo>
                      <a:close/>
                    </a:path>
                  </a:pathLst>
                </a:custGeom>
              </p:spPr>
            </p:pic>
            <p:pic>
              <p:nvPicPr>
                <p:cNvPr id="13" name="图片 12"/>
                <p:cNvPicPr>
                  <a:picLocks noChangeAspect="1"/>
                </p:cNvPicPr>
                <p:nvPr/>
              </p:nvPicPr>
              <p:blipFill>
                <a:blip r:embed="rId9" cstate="screen"/>
                <a:stretch>
                  <a:fillRect/>
                </a:stretch>
              </p:blipFill>
              <p:spPr>
                <a:xfrm rot="16438735">
                  <a:off x="8313454" y="4359620"/>
                  <a:ext cx="995642" cy="873952"/>
                </a:xfrm>
                <a:prstGeom prst="rect">
                  <a:avLst/>
                </a:prstGeom>
              </p:spPr>
            </p:pic>
          </p:grpSp>
        </p:grpSp>
        <p:sp>
          <p:nvSpPr>
            <p:cNvPr id="4" name="文本框 3"/>
            <p:cNvSpPr txBox="1"/>
            <p:nvPr/>
          </p:nvSpPr>
          <p:spPr>
            <a:xfrm>
              <a:off x="3900296" y="2955957"/>
              <a:ext cx="5064921" cy="1753235"/>
            </a:xfrm>
            <a:prstGeom prst="rect">
              <a:avLst/>
            </a:prstGeom>
            <a:noFill/>
          </p:spPr>
          <p:txBody>
            <a:bodyPr wrap="square" rtlCol="0">
              <a:noAutofit/>
            </a:bodyPr>
            <a:lstStyle>
              <a:defPPr>
                <a:defRPr lang="zh-CN"/>
              </a:defPPr>
              <a:lvl1pPr algn="dist">
                <a:defRPr sz="5400">
                  <a:solidFill>
                    <a:srgbClr val="685652"/>
                  </a:solidFill>
                  <a:latin typeface="汉仪长美黑简" panose="02010609000101010101" pitchFamily="49" charset="-122"/>
                  <a:ea typeface="汉仪长美黑简" panose="02010609000101010101" pitchFamily="49" charset="-122"/>
                </a:defRPr>
              </a:lvl1pPr>
            </a:lstStyle>
            <a:p>
              <a:r>
                <a:rPr lang="zh-CN" altLang="en-US" dirty="0"/>
                <a:t>治理路径与反思</a:t>
              </a:r>
              <a:endParaRPr lang="zh-CN" altLang="en-US" dirty="0"/>
            </a:p>
          </p:txBody>
        </p:sp>
        <p:grpSp>
          <p:nvGrpSpPr>
            <p:cNvPr id="6" name="组合 5"/>
            <p:cNvGrpSpPr/>
            <p:nvPr/>
          </p:nvGrpSpPr>
          <p:grpSpPr>
            <a:xfrm>
              <a:off x="5543550" y="1937039"/>
              <a:ext cx="1501754" cy="2100038"/>
              <a:chOff x="5524500" y="1898939"/>
              <a:chExt cx="1501754" cy="2100038"/>
            </a:xfrm>
          </p:grpSpPr>
          <p:pic>
            <p:nvPicPr>
              <p:cNvPr id="7" name="图片 6"/>
              <p:cNvPicPr>
                <a:picLocks noChangeAspect="1"/>
              </p:cNvPicPr>
              <p:nvPr/>
            </p:nvPicPr>
            <p:blipFill>
              <a:blip r:embed="rId10" cstate="screen">
                <a:extLst>
                  <a:ext uri="{BEBA8EAE-BF5A-486C-A8C5-ECC9F3942E4B}">
                    <a14:imgProps xmlns:a14="http://schemas.microsoft.com/office/drawing/2010/main">
                      <a14:imgLayer r:embed="rId11">
                        <a14:imgEffect>
                          <a14:backgroundRemoval t="0" b="100000" l="0" r="85062"/>
                        </a14:imgEffect>
                      </a14:imgLayer>
                    </a14:imgProps>
                  </a:ext>
                </a:extLst>
              </a:blip>
              <a:srcRect/>
              <a:stretch>
                <a:fillRect/>
              </a:stretch>
            </p:blipFill>
            <p:spPr>
              <a:xfrm rot="17712206">
                <a:off x="6365673" y="1931622"/>
                <a:ext cx="693264" cy="627897"/>
              </a:xfrm>
              <a:custGeom>
                <a:avLst/>
                <a:gdLst>
                  <a:gd name="connsiteX0" fmla="*/ 865274 w 865274"/>
                  <a:gd name="connsiteY0" fmla="*/ 41247 h 783688"/>
                  <a:gd name="connsiteX1" fmla="*/ 865274 w 865274"/>
                  <a:gd name="connsiteY1" fmla="*/ 643449 h 783688"/>
                  <a:gd name="connsiteX2" fmla="*/ 334830 w 865274"/>
                  <a:gd name="connsiteY2" fmla="*/ 783688 h 783688"/>
                  <a:gd name="connsiteX3" fmla="*/ 0 w 865274"/>
                  <a:gd name="connsiteY3" fmla="*/ 259958 h 783688"/>
                  <a:gd name="connsiteX4" fmla="*/ 296442 w 865274"/>
                  <a:gd name="connsiteY4" fmla="*/ 120441 h 783688"/>
                  <a:gd name="connsiteX5" fmla="*/ 249497 w 865274"/>
                  <a:gd name="connsiteY5" fmla="*/ 20692 h 783688"/>
                  <a:gd name="connsiteX6" fmla="*/ 343386 w 865274"/>
                  <a:gd name="connsiteY6" fmla="*/ 0 h 783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274" h="783688">
                    <a:moveTo>
                      <a:pt x="865274" y="41247"/>
                    </a:moveTo>
                    <a:lnTo>
                      <a:pt x="865274" y="643449"/>
                    </a:lnTo>
                    <a:lnTo>
                      <a:pt x="334830" y="783688"/>
                    </a:lnTo>
                    <a:lnTo>
                      <a:pt x="0" y="259958"/>
                    </a:lnTo>
                    <a:lnTo>
                      <a:pt x="296442" y="120441"/>
                    </a:lnTo>
                    <a:lnTo>
                      <a:pt x="249497" y="20692"/>
                    </a:lnTo>
                    <a:lnTo>
                      <a:pt x="343386" y="0"/>
                    </a:lnTo>
                    <a:close/>
                  </a:path>
                </a:pathLst>
              </a:custGeom>
            </p:spPr>
          </p:pic>
          <p:sp>
            <p:nvSpPr>
              <p:cNvPr id="8" name="文本框 7"/>
              <p:cNvSpPr txBox="1"/>
              <p:nvPr/>
            </p:nvSpPr>
            <p:spPr>
              <a:xfrm>
                <a:off x="5524500" y="2062490"/>
                <a:ext cx="1187806" cy="1936487"/>
              </a:xfrm>
              <a:prstGeom prst="rect">
                <a:avLst/>
              </a:prstGeom>
              <a:noFill/>
            </p:spPr>
            <p:txBody>
              <a:bodyPr wrap="square" rtlCol="0">
                <a:spAutoFit/>
              </a:bodyPr>
              <a:lstStyle/>
              <a:p>
                <a:r>
                  <a:rPr lang="en-US" altLang="zh-CN" sz="6000" b="1" dirty="0">
                    <a:ln>
                      <a:solidFill>
                        <a:srgbClr val="685652"/>
                      </a:solidFill>
                    </a:ln>
                    <a:solidFill>
                      <a:srgbClr val="AE8867"/>
                    </a:solidFill>
                    <a:latin typeface="微软雅黑" panose="020B0503020204020204" pitchFamily="34" charset="-122"/>
                    <a:ea typeface="微软雅黑" panose="020B0503020204020204" pitchFamily="34" charset="-122"/>
                  </a:rPr>
                  <a:t>0</a:t>
                </a:r>
                <a:r>
                  <a:rPr lang="en-US" altLang="zh-CN" sz="6000" b="1" dirty="0">
                    <a:ln>
                      <a:solidFill>
                        <a:srgbClr val="685652"/>
                      </a:solidFill>
                    </a:ln>
                    <a:solidFill>
                      <a:srgbClr val="AE8867"/>
                    </a:solidFill>
                    <a:latin typeface="微软雅黑" panose="020B0503020204020204" pitchFamily="34" charset="-122"/>
                    <a:ea typeface="微软雅黑" panose="020B0503020204020204" pitchFamily="34" charset="-122"/>
                    <a:cs typeface="Arial" panose="020B0604020202020204" pitchFamily="34" charset="0"/>
                  </a:rPr>
                  <a:t>5</a:t>
                </a:r>
                <a:endParaRPr lang="en-US" altLang="zh-CN">
                  <a:latin typeface="微软雅黑" panose="020B0503020204020204" pitchFamily="34" charset="-122"/>
                  <a:ea typeface="微软雅黑" panose="020B0503020204020204" pitchFamily="34" charset="-122"/>
                </a:endParaRPr>
              </a:p>
            </p:txBody>
          </p:sp>
        </p:grpSp>
      </p:grpSp>
      <p:grpSp>
        <p:nvGrpSpPr>
          <p:cNvPr id="17" name="组合 16"/>
          <p:cNvGrpSpPr/>
          <p:nvPr/>
        </p:nvGrpSpPr>
        <p:grpSpPr>
          <a:xfrm>
            <a:off x="8171003" y="1401833"/>
            <a:ext cx="1506397" cy="2726545"/>
            <a:chOff x="8171003" y="1401833"/>
            <a:chExt cx="1506397" cy="2726545"/>
          </a:xfrm>
        </p:grpSpPr>
        <p:cxnSp>
          <p:nvCxnSpPr>
            <p:cNvPr id="18" name="直接连接符 17"/>
            <p:cNvCxnSpPr/>
            <p:nvPr/>
          </p:nvCxnSpPr>
          <p:spPr>
            <a:xfrm flipH="1">
              <a:off x="9677400" y="1401833"/>
              <a:ext cx="0" cy="2726545"/>
            </a:xfrm>
            <a:prstGeom prst="line">
              <a:avLst/>
            </a:prstGeom>
            <a:ln w="19050">
              <a:solidFill>
                <a:srgbClr val="BD9C7D"/>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8171003" y="1413016"/>
              <a:ext cx="1506397" cy="0"/>
            </a:xfrm>
            <a:prstGeom prst="line">
              <a:avLst/>
            </a:prstGeom>
            <a:ln w="19050">
              <a:solidFill>
                <a:srgbClr val="BD9C7D"/>
              </a:solidFill>
              <a:prstDash val="dash"/>
            </a:ln>
          </p:spPr>
          <p:style>
            <a:lnRef idx="1">
              <a:schemeClr val="accent1"/>
            </a:lnRef>
            <a:fillRef idx="0">
              <a:schemeClr val="accent1"/>
            </a:fillRef>
            <a:effectRef idx="0">
              <a:schemeClr val="accent1"/>
            </a:effectRef>
            <a:fontRef idx="minor">
              <a:schemeClr val="tx1"/>
            </a:fontRef>
          </p:style>
        </p:cxnSp>
      </p:grpSp>
      <p:sp>
        <p:nvSpPr>
          <p:cNvPr id="46" name="文本框 45"/>
          <p:cNvSpPr txBox="1"/>
          <p:nvPr/>
        </p:nvSpPr>
        <p:spPr>
          <a:xfrm>
            <a:off x="4899794" y="3791768"/>
            <a:ext cx="2475230" cy="922020"/>
          </a:xfrm>
          <a:prstGeom prst="rect">
            <a:avLst/>
          </a:prstGeom>
          <a:noFill/>
        </p:spPr>
        <p:txBody>
          <a:bodyPr wrap="none" rtlCol="0">
            <a:spAutoFit/>
          </a:bodyPr>
          <a:lstStyle>
            <a:defPPr>
              <a:defRPr lang="zh-CN"/>
            </a:defPPr>
            <a:lvl1pPr algn="dist">
              <a:defRPr sz="2800">
                <a:solidFill>
                  <a:srgbClr val="685652"/>
                </a:solidFill>
                <a:latin typeface="微软雅黑" panose="020B0503020204020204" pitchFamily="34" charset="-122"/>
                <a:ea typeface="微软雅黑" panose="020B0503020204020204" pitchFamily="34" charset="-122"/>
              </a:defRPr>
            </a:lvl1pPr>
          </a:lstStyle>
          <a:p>
            <a:pPr algn="ctr"/>
            <a:r>
              <a:rPr lang="zh-CN" altLang="en-US" sz="1800" b="1" dirty="0"/>
              <a:t>应对上述困境</a:t>
            </a:r>
            <a:endParaRPr lang="zh-CN" altLang="en-US" sz="1800" b="1" dirty="0"/>
          </a:p>
          <a:p>
            <a:pPr algn="ctr"/>
            <a:r>
              <a:rPr lang="zh-CN" altLang="en-US" sz="1800" b="1" dirty="0"/>
              <a:t>需平台、受众、创作者</a:t>
            </a:r>
            <a:endParaRPr lang="zh-CN" altLang="en-US" sz="1800" b="1" dirty="0"/>
          </a:p>
          <a:p>
            <a:pPr algn="ctr"/>
            <a:r>
              <a:rPr lang="zh-CN" altLang="en-US" sz="1800" b="1" dirty="0"/>
              <a:t>与社会多方协同</a:t>
            </a:r>
            <a:endParaRPr lang="zh-CN" altLang="en-US" sz="1800" b="1"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438150"/>
            <a:ext cx="12237156" cy="6419850"/>
            <a:chOff x="0" y="438150"/>
            <a:chExt cx="12237156" cy="6419850"/>
          </a:xfrm>
        </p:grpSpPr>
        <p:sp>
          <p:nvSpPr>
            <p:cNvPr id="3" name="矩形 2"/>
            <p:cNvSpPr/>
            <p:nvPr/>
          </p:nvSpPr>
          <p:spPr>
            <a:xfrm>
              <a:off x="400050" y="438150"/>
              <a:ext cx="11391900" cy="6129462"/>
            </a:xfrm>
            <a:prstGeom prst="rect">
              <a:avLst/>
            </a:prstGeom>
            <a:noFill/>
            <a:ln w="28575">
              <a:solidFill>
                <a:srgbClr val="BD9C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cstate="screen">
              <a:extLst>
                <a:ext uri="{BEBA8EAE-BF5A-486C-A8C5-ECC9F3942E4B}">
                  <a14:imgProps xmlns:a14="http://schemas.microsoft.com/office/drawing/2010/main">
                    <a14:imgLayer r:embed="rId2">
                      <a14:imgEffect>
                        <a14:backgroundRemoval t="8969" b="89238" l="3300" r="97500">
                          <a14:foregroundMark x1="3350" y1="29596" x2="16150" y2="72197"/>
                          <a14:foregroundMark x1="16150" y1="72197" x2="50500" y2="24215"/>
                          <a14:foregroundMark x1="50500" y1="24215" x2="54650" y2="42601"/>
                          <a14:foregroundMark x1="54650" y1="42601" x2="72700" y2="17489"/>
                          <a14:foregroundMark x1="72700" y1="17489" x2="87300" y2="49776"/>
                          <a14:foregroundMark x1="87300" y1="49776" x2="91600" y2="42152"/>
                          <a14:foregroundMark x1="91600" y1="42152" x2="91650" y2="42152"/>
                          <a14:foregroundMark x1="3700" y1="35874" x2="5500" y2="39910"/>
                          <a14:foregroundMark x1="95600" y1="39910" x2="97500" y2="52018"/>
                          <a14:foregroundMark x1="45600" y1="15247" x2="45600" y2="15247"/>
                          <a14:foregroundMark x1="45950" y1="14798" x2="45950" y2="14798"/>
                          <a14:foregroundMark x1="46500" y1="14798" x2="46500" y2="14798"/>
                          <a14:foregroundMark x1="65900" y1="13901" x2="65900" y2="13901"/>
                          <a14:foregroundMark x1="59550" y1="14350" x2="59550" y2="14350"/>
                          <a14:foregroundMark x1="73850" y1="14350" x2="73850" y2="14350"/>
                          <a14:foregroundMark x1="87650" y1="14350" x2="87650" y2="14350"/>
                          <a14:foregroundMark x1="79200" y1="13901" x2="79850" y2="15247"/>
                          <a14:foregroundMark x1="93200" y1="13453" x2="94150" y2="14350"/>
                          <a14:foregroundMark x1="51300" y1="13453" x2="52050" y2="13453"/>
                          <a14:foregroundMark x1="23400" y1="16143" x2="24250" y2="16143"/>
                          <a14:foregroundMark x1="31100" y1="16592" x2="32900" y2="19283"/>
                          <a14:foregroundMark x1="31550" y1="15247" x2="32400" y2="16592"/>
                          <a14:foregroundMark x1="37350" y1="16143" x2="38500" y2="17040"/>
                          <a14:foregroundMark x1="3300" y1="16143" x2="4450" y2="17489"/>
                          <a14:foregroundMark x1="17350" y1="17937" x2="19150" y2="17937"/>
                        </a14:backgroundRemoval>
                      </a14:imgEffect>
                    </a14:imgLayer>
                  </a14:imgProps>
                </a:ext>
              </a:extLst>
            </a:blip>
            <a:srcRect l="459" b="58084"/>
            <a:stretch>
              <a:fillRect/>
            </a:stretch>
          </p:blipFill>
          <p:spPr>
            <a:xfrm>
              <a:off x="0" y="6288194"/>
              <a:ext cx="12237156" cy="569806"/>
            </a:xfrm>
            <a:custGeom>
              <a:avLst/>
              <a:gdLst>
                <a:gd name="connsiteX0" fmla="*/ 0 w 12237156"/>
                <a:gd name="connsiteY0" fmla="*/ 0 h 569806"/>
                <a:gd name="connsiteX1" fmla="*/ 12237156 w 12237156"/>
                <a:gd name="connsiteY1" fmla="*/ 0 h 569806"/>
                <a:gd name="connsiteX2" fmla="*/ 12237156 w 12237156"/>
                <a:gd name="connsiteY2" fmla="*/ 569806 h 569806"/>
                <a:gd name="connsiteX3" fmla="*/ 0 w 12237156"/>
                <a:gd name="connsiteY3" fmla="*/ 569806 h 569806"/>
              </a:gdLst>
              <a:ahLst/>
              <a:cxnLst>
                <a:cxn ang="0">
                  <a:pos x="connsiteX0" y="connsiteY0"/>
                </a:cxn>
                <a:cxn ang="0">
                  <a:pos x="connsiteX1" y="connsiteY1"/>
                </a:cxn>
                <a:cxn ang="0">
                  <a:pos x="connsiteX2" y="connsiteY2"/>
                </a:cxn>
                <a:cxn ang="0">
                  <a:pos x="connsiteX3" y="connsiteY3"/>
                </a:cxn>
              </a:cxnLst>
              <a:rect l="l" t="t" r="r" b="b"/>
              <a:pathLst>
                <a:path w="12237156" h="569806">
                  <a:moveTo>
                    <a:pt x="0" y="0"/>
                  </a:moveTo>
                  <a:lnTo>
                    <a:pt x="12237156" y="0"/>
                  </a:lnTo>
                  <a:lnTo>
                    <a:pt x="12237156" y="569806"/>
                  </a:lnTo>
                  <a:lnTo>
                    <a:pt x="0" y="569806"/>
                  </a:lnTo>
                  <a:close/>
                </a:path>
              </a:pathLst>
            </a:custGeom>
          </p:spPr>
        </p:pic>
      </p:grpSp>
      <p:grpSp>
        <p:nvGrpSpPr>
          <p:cNvPr id="5" name="组合 4"/>
          <p:cNvGrpSpPr/>
          <p:nvPr/>
        </p:nvGrpSpPr>
        <p:grpSpPr>
          <a:xfrm>
            <a:off x="502016" y="372414"/>
            <a:ext cx="3279409" cy="932511"/>
            <a:chOff x="502016" y="372414"/>
            <a:chExt cx="3279409" cy="932511"/>
          </a:xfrm>
        </p:grpSpPr>
        <p:sp>
          <p:nvSpPr>
            <p:cNvPr id="9" name="文本框 8"/>
            <p:cNvSpPr txBox="1"/>
            <p:nvPr/>
          </p:nvSpPr>
          <p:spPr>
            <a:xfrm>
              <a:off x="1078698" y="828590"/>
              <a:ext cx="2702324" cy="398780"/>
            </a:xfrm>
            <a:prstGeom prst="rect">
              <a:avLst/>
            </a:prstGeom>
            <a:noFill/>
          </p:spPr>
          <p:txBody>
            <a:bodyPr wrap="square" rtlCol="0">
              <a:spAutoFit/>
            </a:bodyPr>
            <a:lstStyle/>
            <a:p>
              <a:pPr algn="dist"/>
              <a:r>
                <a:rPr lang="zh-CN" altLang="en-US" sz="2000" dirty="0">
                  <a:solidFill>
                    <a:srgbClr val="685652"/>
                  </a:solidFill>
                  <a:latin typeface="汉仪长美黑简" panose="02010609000101010101" pitchFamily="49" charset="-122"/>
                  <a:ea typeface="汉仪长美黑简" panose="02010609000101010101" pitchFamily="49" charset="-122"/>
                </a:rPr>
                <a:t>治理方式</a:t>
              </a:r>
              <a:endParaRPr lang="zh-CN" altLang="en-US" sz="2000" dirty="0">
                <a:solidFill>
                  <a:srgbClr val="685652"/>
                </a:solidFill>
                <a:latin typeface="汉仪长美黑简" panose="02010609000101010101" pitchFamily="49" charset="-122"/>
                <a:ea typeface="汉仪长美黑简" panose="02010609000101010101" pitchFamily="49" charset="-122"/>
              </a:endParaRPr>
            </a:p>
          </p:txBody>
        </p:sp>
        <p:pic>
          <p:nvPicPr>
            <p:cNvPr id="7" name="图片 6" descr="图片包含 桌子, 小, 游戏机, 花瓶&#10;&#10;描述已自动生成"/>
            <p:cNvPicPr>
              <a:picLocks noChangeAspect="1"/>
            </p:cNvPicPr>
            <p:nvPr/>
          </p:nvPicPr>
          <p:blipFill>
            <a:blip r:embed="rId3" cstate="screen">
              <a:extLst>
                <a:ext uri="{BEBA8EAE-BF5A-486C-A8C5-ECC9F3942E4B}">
                  <a14:imgProps xmlns:a14="http://schemas.microsoft.com/office/drawing/2010/main">
                    <a14:imgLayer r:embed="rId4">
                      <a14:imgEffect>
                        <a14:backgroundRemoval t="9934" b="90177" l="9878" r="89970">
                          <a14:foregroundMark x1="21429" y1="28477" x2="32067" y2="36865"/>
                          <a14:foregroundMark x1="32219" y1="25497" x2="32067" y2="24172"/>
                          <a14:foregroundMark x1="28116" y1="39183" x2="32219" y2="39845"/>
                          <a14:foregroundMark x1="19605" y1="34658" x2="20821" y2="34989"/>
                          <a14:foregroundMark x1="53343" y1="32009" x2="54711" y2="32671"/>
                          <a14:foregroundMark x1="59271" y1="42163" x2="61094" y2="43157"/>
                          <a14:foregroundMark x1="63222" y1="32671" x2="63222" y2="32340"/>
                          <a14:foregroundMark x1="50608" y1="90177" x2="51520" y2="89956"/>
                          <a14:foregroundMark x1="36170" y1="40618" x2="38602" y2="43488"/>
                          <a14:foregroundMark x1="43769" y1="49890" x2="44681" y2="50221"/>
                        </a14:backgroundRemoval>
                      </a14:imgEffect>
                    </a14:imgLayer>
                  </a14:imgProps>
                </a:ext>
              </a:extLst>
            </a:blip>
            <a:stretch>
              <a:fillRect/>
            </a:stretch>
          </p:blipFill>
          <p:spPr>
            <a:xfrm>
              <a:off x="502016" y="372414"/>
              <a:ext cx="698926" cy="932511"/>
            </a:xfrm>
            <a:prstGeom prst="rect">
              <a:avLst/>
            </a:prstGeom>
          </p:spPr>
        </p:pic>
        <p:cxnSp>
          <p:nvCxnSpPr>
            <p:cNvPr id="8" name="直接连接符 7"/>
            <p:cNvCxnSpPr/>
            <p:nvPr/>
          </p:nvCxnSpPr>
          <p:spPr>
            <a:xfrm>
              <a:off x="766763" y="1214438"/>
              <a:ext cx="3014662" cy="0"/>
            </a:xfrm>
            <a:prstGeom prst="line">
              <a:avLst/>
            </a:prstGeom>
            <a:ln w="12700">
              <a:solidFill>
                <a:srgbClr val="685652"/>
              </a:solidFill>
            </a:ln>
          </p:spPr>
          <p:style>
            <a:lnRef idx="1">
              <a:schemeClr val="accent1"/>
            </a:lnRef>
            <a:fillRef idx="0">
              <a:schemeClr val="accent1"/>
            </a:fillRef>
            <a:effectRef idx="0">
              <a:schemeClr val="accent1"/>
            </a:effectRef>
            <a:fontRef idx="minor">
              <a:schemeClr val="tx1"/>
            </a:fontRef>
          </p:style>
        </p:cxnSp>
      </p:grpSp>
      <p:grpSp>
        <p:nvGrpSpPr>
          <p:cNvPr id="57" name="组合 56"/>
          <p:cNvGrpSpPr/>
          <p:nvPr/>
        </p:nvGrpSpPr>
        <p:grpSpPr>
          <a:xfrm>
            <a:off x="850600" y="2451612"/>
            <a:ext cx="4117415" cy="3065762"/>
            <a:chOff x="1191164" y="2395531"/>
            <a:chExt cx="4117415" cy="3065762"/>
          </a:xfrm>
        </p:grpSpPr>
        <p:pic>
          <p:nvPicPr>
            <p:cNvPr id="56" name="图片 55"/>
            <p:cNvPicPr>
              <a:picLocks noChangeAspect="1"/>
            </p:cNvPicPr>
            <p:nvPr/>
          </p:nvPicPr>
          <p:blipFill>
            <a:blip r:embed="rId5" cstate="screen"/>
            <a:srcRect/>
            <a:stretch>
              <a:fillRect/>
            </a:stretch>
          </p:blipFill>
          <p:spPr>
            <a:xfrm flipH="1">
              <a:off x="4324498" y="4472463"/>
              <a:ext cx="984081" cy="984081"/>
            </a:xfrm>
            <a:custGeom>
              <a:avLst/>
              <a:gdLst>
                <a:gd name="connsiteX0" fmla="*/ 820064 w 984081"/>
                <a:gd name="connsiteY0" fmla="*/ 0 h 984081"/>
                <a:gd name="connsiteX1" fmla="*/ 164017 w 984081"/>
                <a:gd name="connsiteY1" fmla="*/ 0 h 984081"/>
                <a:gd name="connsiteX2" fmla="*/ 0 w 984081"/>
                <a:gd name="connsiteY2" fmla="*/ 164017 h 984081"/>
                <a:gd name="connsiteX3" fmla="*/ 0 w 984081"/>
                <a:gd name="connsiteY3" fmla="*/ 820064 h 984081"/>
                <a:gd name="connsiteX4" fmla="*/ 164017 w 984081"/>
                <a:gd name="connsiteY4" fmla="*/ 984081 h 984081"/>
                <a:gd name="connsiteX5" fmla="*/ 820064 w 984081"/>
                <a:gd name="connsiteY5" fmla="*/ 984081 h 984081"/>
                <a:gd name="connsiteX6" fmla="*/ 984081 w 984081"/>
                <a:gd name="connsiteY6" fmla="*/ 820064 h 984081"/>
                <a:gd name="connsiteX7" fmla="*/ 984081 w 984081"/>
                <a:gd name="connsiteY7" fmla="*/ 164017 h 984081"/>
                <a:gd name="connsiteX8" fmla="*/ 820064 w 984081"/>
                <a:gd name="connsiteY8" fmla="*/ 0 h 98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081" h="984081">
                  <a:moveTo>
                    <a:pt x="820064" y="0"/>
                  </a:moveTo>
                  <a:lnTo>
                    <a:pt x="164017" y="0"/>
                  </a:lnTo>
                  <a:cubicBezTo>
                    <a:pt x="73433" y="0"/>
                    <a:pt x="0" y="73433"/>
                    <a:pt x="0" y="164017"/>
                  </a:cubicBezTo>
                  <a:lnTo>
                    <a:pt x="0" y="820064"/>
                  </a:lnTo>
                  <a:cubicBezTo>
                    <a:pt x="0" y="910648"/>
                    <a:pt x="73433" y="984081"/>
                    <a:pt x="164017" y="984081"/>
                  </a:cubicBezTo>
                  <a:lnTo>
                    <a:pt x="820064" y="984081"/>
                  </a:lnTo>
                  <a:cubicBezTo>
                    <a:pt x="910648" y="984081"/>
                    <a:pt x="984081" y="910648"/>
                    <a:pt x="984081" y="820064"/>
                  </a:cubicBezTo>
                  <a:lnTo>
                    <a:pt x="984081" y="164017"/>
                  </a:lnTo>
                  <a:cubicBezTo>
                    <a:pt x="984081" y="73433"/>
                    <a:pt x="910648" y="0"/>
                    <a:pt x="820064" y="0"/>
                  </a:cubicBezTo>
                  <a:close/>
                </a:path>
              </a:pathLst>
            </a:custGeom>
            <a:effectLst>
              <a:outerShdw blurRad="63500" sx="102000" sy="102000" algn="ctr" rotWithShape="0">
                <a:prstClr val="black">
                  <a:alpha val="40000"/>
                </a:prstClr>
              </a:outerShdw>
            </a:effectLst>
          </p:spPr>
        </p:pic>
        <p:pic>
          <p:nvPicPr>
            <p:cNvPr id="55" name="图片 54"/>
            <p:cNvPicPr>
              <a:picLocks noChangeAspect="1"/>
            </p:cNvPicPr>
            <p:nvPr/>
          </p:nvPicPr>
          <p:blipFill>
            <a:blip r:embed="rId6" cstate="screen"/>
            <a:srcRect/>
            <a:stretch>
              <a:fillRect/>
            </a:stretch>
          </p:blipFill>
          <p:spPr>
            <a:xfrm flipH="1">
              <a:off x="3280671" y="4474046"/>
              <a:ext cx="984081" cy="984081"/>
            </a:xfrm>
            <a:custGeom>
              <a:avLst/>
              <a:gdLst>
                <a:gd name="connsiteX0" fmla="*/ 820064 w 984081"/>
                <a:gd name="connsiteY0" fmla="*/ 0 h 984081"/>
                <a:gd name="connsiteX1" fmla="*/ 164017 w 984081"/>
                <a:gd name="connsiteY1" fmla="*/ 0 h 984081"/>
                <a:gd name="connsiteX2" fmla="*/ 0 w 984081"/>
                <a:gd name="connsiteY2" fmla="*/ 164017 h 984081"/>
                <a:gd name="connsiteX3" fmla="*/ 0 w 984081"/>
                <a:gd name="connsiteY3" fmla="*/ 820064 h 984081"/>
                <a:gd name="connsiteX4" fmla="*/ 164017 w 984081"/>
                <a:gd name="connsiteY4" fmla="*/ 984081 h 984081"/>
                <a:gd name="connsiteX5" fmla="*/ 820064 w 984081"/>
                <a:gd name="connsiteY5" fmla="*/ 984081 h 984081"/>
                <a:gd name="connsiteX6" fmla="*/ 984081 w 984081"/>
                <a:gd name="connsiteY6" fmla="*/ 820064 h 984081"/>
                <a:gd name="connsiteX7" fmla="*/ 984081 w 984081"/>
                <a:gd name="connsiteY7" fmla="*/ 164017 h 984081"/>
                <a:gd name="connsiteX8" fmla="*/ 820064 w 984081"/>
                <a:gd name="connsiteY8" fmla="*/ 0 h 98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081" h="984081">
                  <a:moveTo>
                    <a:pt x="820064" y="0"/>
                  </a:moveTo>
                  <a:lnTo>
                    <a:pt x="164017" y="0"/>
                  </a:lnTo>
                  <a:cubicBezTo>
                    <a:pt x="73433" y="0"/>
                    <a:pt x="0" y="73433"/>
                    <a:pt x="0" y="164017"/>
                  </a:cubicBezTo>
                  <a:lnTo>
                    <a:pt x="0" y="820064"/>
                  </a:lnTo>
                  <a:cubicBezTo>
                    <a:pt x="0" y="910648"/>
                    <a:pt x="73433" y="984081"/>
                    <a:pt x="164017" y="984081"/>
                  </a:cubicBezTo>
                  <a:lnTo>
                    <a:pt x="820064" y="984081"/>
                  </a:lnTo>
                  <a:cubicBezTo>
                    <a:pt x="910648" y="984081"/>
                    <a:pt x="984081" y="910648"/>
                    <a:pt x="984081" y="820064"/>
                  </a:cubicBezTo>
                  <a:lnTo>
                    <a:pt x="984081" y="164017"/>
                  </a:lnTo>
                  <a:cubicBezTo>
                    <a:pt x="984081" y="73433"/>
                    <a:pt x="910648" y="0"/>
                    <a:pt x="820064" y="0"/>
                  </a:cubicBezTo>
                  <a:close/>
                </a:path>
              </a:pathLst>
            </a:custGeom>
            <a:effectLst>
              <a:outerShdw blurRad="63500" sx="102000" sy="102000" algn="ctr" rotWithShape="0">
                <a:prstClr val="black">
                  <a:alpha val="40000"/>
                </a:prstClr>
              </a:outerShdw>
            </a:effectLst>
          </p:spPr>
        </p:pic>
        <p:pic>
          <p:nvPicPr>
            <p:cNvPr id="54" name="图片 53"/>
            <p:cNvPicPr>
              <a:picLocks noChangeAspect="1"/>
            </p:cNvPicPr>
            <p:nvPr/>
          </p:nvPicPr>
          <p:blipFill>
            <a:blip r:embed="rId7" cstate="screen"/>
            <a:srcRect/>
            <a:stretch>
              <a:fillRect/>
            </a:stretch>
          </p:blipFill>
          <p:spPr>
            <a:xfrm flipH="1">
              <a:off x="2235608" y="4477212"/>
              <a:ext cx="984081" cy="984081"/>
            </a:xfrm>
            <a:custGeom>
              <a:avLst/>
              <a:gdLst>
                <a:gd name="connsiteX0" fmla="*/ 820064 w 984081"/>
                <a:gd name="connsiteY0" fmla="*/ 0 h 984081"/>
                <a:gd name="connsiteX1" fmla="*/ 164017 w 984081"/>
                <a:gd name="connsiteY1" fmla="*/ 0 h 984081"/>
                <a:gd name="connsiteX2" fmla="*/ 0 w 984081"/>
                <a:gd name="connsiteY2" fmla="*/ 164017 h 984081"/>
                <a:gd name="connsiteX3" fmla="*/ 0 w 984081"/>
                <a:gd name="connsiteY3" fmla="*/ 820064 h 984081"/>
                <a:gd name="connsiteX4" fmla="*/ 164017 w 984081"/>
                <a:gd name="connsiteY4" fmla="*/ 984081 h 984081"/>
                <a:gd name="connsiteX5" fmla="*/ 820064 w 984081"/>
                <a:gd name="connsiteY5" fmla="*/ 984081 h 984081"/>
                <a:gd name="connsiteX6" fmla="*/ 984081 w 984081"/>
                <a:gd name="connsiteY6" fmla="*/ 820064 h 984081"/>
                <a:gd name="connsiteX7" fmla="*/ 984081 w 984081"/>
                <a:gd name="connsiteY7" fmla="*/ 164017 h 984081"/>
                <a:gd name="connsiteX8" fmla="*/ 820064 w 984081"/>
                <a:gd name="connsiteY8" fmla="*/ 0 h 98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081" h="984081">
                  <a:moveTo>
                    <a:pt x="820064" y="0"/>
                  </a:moveTo>
                  <a:lnTo>
                    <a:pt x="164017" y="0"/>
                  </a:lnTo>
                  <a:cubicBezTo>
                    <a:pt x="73433" y="0"/>
                    <a:pt x="0" y="73433"/>
                    <a:pt x="0" y="164017"/>
                  </a:cubicBezTo>
                  <a:lnTo>
                    <a:pt x="0" y="820064"/>
                  </a:lnTo>
                  <a:cubicBezTo>
                    <a:pt x="0" y="910648"/>
                    <a:pt x="73433" y="984081"/>
                    <a:pt x="164017" y="984081"/>
                  </a:cubicBezTo>
                  <a:lnTo>
                    <a:pt x="820064" y="984081"/>
                  </a:lnTo>
                  <a:cubicBezTo>
                    <a:pt x="910648" y="984081"/>
                    <a:pt x="984081" y="910648"/>
                    <a:pt x="984081" y="820064"/>
                  </a:cubicBezTo>
                  <a:lnTo>
                    <a:pt x="984081" y="164017"/>
                  </a:lnTo>
                  <a:cubicBezTo>
                    <a:pt x="984081" y="73433"/>
                    <a:pt x="910648" y="0"/>
                    <a:pt x="820064" y="0"/>
                  </a:cubicBezTo>
                  <a:close/>
                </a:path>
              </a:pathLst>
            </a:custGeom>
            <a:effectLst>
              <a:outerShdw blurRad="63500" sx="102000" sy="102000" algn="ctr" rotWithShape="0">
                <a:prstClr val="black">
                  <a:alpha val="40000"/>
                </a:prstClr>
              </a:outerShdw>
            </a:effectLst>
          </p:spPr>
        </p:pic>
        <p:pic>
          <p:nvPicPr>
            <p:cNvPr id="53" name="图片 52"/>
            <p:cNvPicPr>
              <a:picLocks noChangeAspect="1"/>
            </p:cNvPicPr>
            <p:nvPr/>
          </p:nvPicPr>
          <p:blipFill>
            <a:blip r:embed="rId8" cstate="screen"/>
            <a:srcRect/>
            <a:stretch>
              <a:fillRect/>
            </a:stretch>
          </p:blipFill>
          <p:spPr>
            <a:xfrm flipH="1">
              <a:off x="1191164" y="4477212"/>
              <a:ext cx="984081" cy="984081"/>
            </a:xfrm>
            <a:custGeom>
              <a:avLst/>
              <a:gdLst>
                <a:gd name="connsiteX0" fmla="*/ 820064 w 984081"/>
                <a:gd name="connsiteY0" fmla="*/ 0 h 984081"/>
                <a:gd name="connsiteX1" fmla="*/ 164017 w 984081"/>
                <a:gd name="connsiteY1" fmla="*/ 0 h 984081"/>
                <a:gd name="connsiteX2" fmla="*/ 0 w 984081"/>
                <a:gd name="connsiteY2" fmla="*/ 164017 h 984081"/>
                <a:gd name="connsiteX3" fmla="*/ 0 w 984081"/>
                <a:gd name="connsiteY3" fmla="*/ 820064 h 984081"/>
                <a:gd name="connsiteX4" fmla="*/ 164017 w 984081"/>
                <a:gd name="connsiteY4" fmla="*/ 984081 h 984081"/>
                <a:gd name="connsiteX5" fmla="*/ 820064 w 984081"/>
                <a:gd name="connsiteY5" fmla="*/ 984081 h 984081"/>
                <a:gd name="connsiteX6" fmla="*/ 984081 w 984081"/>
                <a:gd name="connsiteY6" fmla="*/ 820064 h 984081"/>
                <a:gd name="connsiteX7" fmla="*/ 984081 w 984081"/>
                <a:gd name="connsiteY7" fmla="*/ 164017 h 984081"/>
                <a:gd name="connsiteX8" fmla="*/ 820064 w 984081"/>
                <a:gd name="connsiteY8" fmla="*/ 0 h 98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081" h="984081">
                  <a:moveTo>
                    <a:pt x="820064" y="0"/>
                  </a:moveTo>
                  <a:lnTo>
                    <a:pt x="164017" y="0"/>
                  </a:lnTo>
                  <a:cubicBezTo>
                    <a:pt x="73433" y="0"/>
                    <a:pt x="0" y="73433"/>
                    <a:pt x="0" y="164017"/>
                  </a:cubicBezTo>
                  <a:lnTo>
                    <a:pt x="0" y="820064"/>
                  </a:lnTo>
                  <a:cubicBezTo>
                    <a:pt x="0" y="910648"/>
                    <a:pt x="73433" y="984081"/>
                    <a:pt x="164017" y="984081"/>
                  </a:cubicBezTo>
                  <a:lnTo>
                    <a:pt x="820064" y="984081"/>
                  </a:lnTo>
                  <a:cubicBezTo>
                    <a:pt x="910648" y="984081"/>
                    <a:pt x="984081" y="910648"/>
                    <a:pt x="984081" y="820064"/>
                  </a:cubicBezTo>
                  <a:lnTo>
                    <a:pt x="984081" y="164017"/>
                  </a:lnTo>
                  <a:cubicBezTo>
                    <a:pt x="984081" y="73433"/>
                    <a:pt x="910648" y="0"/>
                    <a:pt x="820064" y="0"/>
                  </a:cubicBezTo>
                  <a:close/>
                </a:path>
              </a:pathLst>
            </a:custGeom>
            <a:effectLst>
              <a:outerShdw blurRad="63500" sx="102000" sy="102000" algn="ctr" rotWithShape="0">
                <a:prstClr val="black">
                  <a:alpha val="40000"/>
                </a:prstClr>
              </a:outerShdw>
            </a:effectLst>
          </p:spPr>
        </p:pic>
        <p:pic>
          <p:nvPicPr>
            <p:cNvPr id="52" name="图片 51"/>
            <p:cNvPicPr>
              <a:picLocks noChangeAspect="1"/>
            </p:cNvPicPr>
            <p:nvPr/>
          </p:nvPicPr>
          <p:blipFill>
            <a:blip r:embed="rId9" cstate="screen"/>
            <a:srcRect/>
            <a:stretch>
              <a:fillRect/>
            </a:stretch>
          </p:blipFill>
          <p:spPr>
            <a:xfrm flipH="1">
              <a:off x="4324498" y="3430559"/>
              <a:ext cx="984081" cy="984081"/>
            </a:xfrm>
            <a:custGeom>
              <a:avLst/>
              <a:gdLst>
                <a:gd name="connsiteX0" fmla="*/ 820064 w 984081"/>
                <a:gd name="connsiteY0" fmla="*/ 0 h 984081"/>
                <a:gd name="connsiteX1" fmla="*/ 164017 w 984081"/>
                <a:gd name="connsiteY1" fmla="*/ 0 h 984081"/>
                <a:gd name="connsiteX2" fmla="*/ 0 w 984081"/>
                <a:gd name="connsiteY2" fmla="*/ 164017 h 984081"/>
                <a:gd name="connsiteX3" fmla="*/ 0 w 984081"/>
                <a:gd name="connsiteY3" fmla="*/ 820064 h 984081"/>
                <a:gd name="connsiteX4" fmla="*/ 164017 w 984081"/>
                <a:gd name="connsiteY4" fmla="*/ 984081 h 984081"/>
                <a:gd name="connsiteX5" fmla="*/ 820064 w 984081"/>
                <a:gd name="connsiteY5" fmla="*/ 984081 h 984081"/>
                <a:gd name="connsiteX6" fmla="*/ 984081 w 984081"/>
                <a:gd name="connsiteY6" fmla="*/ 820064 h 984081"/>
                <a:gd name="connsiteX7" fmla="*/ 984081 w 984081"/>
                <a:gd name="connsiteY7" fmla="*/ 164017 h 984081"/>
                <a:gd name="connsiteX8" fmla="*/ 820064 w 984081"/>
                <a:gd name="connsiteY8" fmla="*/ 0 h 98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081" h="984081">
                  <a:moveTo>
                    <a:pt x="820064" y="0"/>
                  </a:moveTo>
                  <a:lnTo>
                    <a:pt x="164017" y="0"/>
                  </a:lnTo>
                  <a:cubicBezTo>
                    <a:pt x="73433" y="0"/>
                    <a:pt x="0" y="73433"/>
                    <a:pt x="0" y="164017"/>
                  </a:cubicBezTo>
                  <a:lnTo>
                    <a:pt x="0" y="820064"/>
                  </a:lnTo>
                  <a:cubicBezTo>
                    <a:pt x="0" y="910648"/>
                    <a:pt x="73433" y="984081"/>
                    <a:pt x="164017" y="984081"/>
                  </a:cubicBezTo>
                  <a:lnTo>
                    <a:pt x="820064" y="984081"/>
                  </a:lnTo>
                  <a:cubicBezTo>
                    <a:pt x="910648" y="984081"/>
                    <a:pt x="984081" y="910648"/>
                    <a:pt x="984081" y="820064"/>
                  </a:cubicBezTo>
                  <a:lnTo>
                    <a:pt x="984081" y="164017"/>
                  </a:lnTo>
                  <a:cubicBezTo>
                    <a:pt x="984081" y="73433"/>
                    <a:pt x="910648" y="0"/>
                    <a:pt x="820064" y="0"/>
                  </a:cubicBezTo>
                  <a:close/>
                </a:path>
              </a:pathLst>
            </a:custGeom>
            <a:effectLst>
              <a:outerShdw blurRad="63500" sx="102000" sy="102000" algn="ctr" rotWithShape="0">
                <a:prstClr val="black">
                  <a:alpha val="40000"/>
                </a:prstClr>
              </a:outerShdw>
            </a:effectLst>
          </p:spPr>
        </p:pic>
        <p:pic>
          <p:nvPicPr>
            <p:cNvPr id="51" name="图片 50"/>
            <p:cNvPicPr>
              <a:picLocks noChangeAspect="1"/>
            </p:cNvPicPr>
            <p:nvPr/>
          </p:nvPicPr>
          <p:blipFill>
            <a:blip r:embed="rId10" cstate="screen"/>
            <a:srcRect/>
            <a:stretch>
              <a:fillRect/>
            </a:stretch>
          </p:blipFill>
          <p:spPr>
            <a:xfrm flipH="1">
              <a:off x="3280671" y="3432142"/>
              <a:ext cx="984081" cy="984081"/>
            </a:xfrm>
            <a:custGeom>
              <a:avLst/>
              <a:gdLst>
                <a:gd name="connsiteX0" fmla="*/ 820064 w 984081"/>
                <a:gd name="connsiteY0" fmla="*/ 0 h 984081"/>
                <a:gd name="connsiteX1" fmla="*/ 164017 w 984081"/>
                <a:gd name="connsiteY1" fmla="*/ 0 h 984081"/>
                <a:gd name="connsiteX2" fmla="*/ 0 w 984081"/>
                <a:gd name="connsiteY2" fmla="*/ 164017 h 984081"/>
                <a:gd name="connsiteX3" fmla="*/ 0 w 984081"/>
                <a:gd name="connsiteY3" fmla="*/ 820064 h 984081"/>
                <a:gd name="connsiteX4" fmla="*/ 164017 w 984081"/>
                <a:gd name="connsiteY4" fmla="*/ 984081 h 984081"/>
                <a:gd name="connsiteX5" fmla="*/ 820064 w 984081"/>
                <a:gd name="connsiteY5" fmla="*/ 984081 h 984081"/>
                <a:gd name="connsiteX6" fmla="*/ 984081 w 984081"/>
                <a:gd name="connsiteY6" fmla="*/ 820064 h 984081"/>
                <a:gd name="connsiteX7" fmla="*/ 984081 w 984081"/>
                <a:gd name="connsiteY7" fmla="*/ 164017 h 984081"/>
                <a:gd name="connsiteX8" fmla="*/ 820064 w 984081"/>
                <a:gd name="connsiteY8" fmla="*/ 0 h 98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081" h="984081">
                  <a:moveTo>
                    <a:pt x="820064" y="0"/>
                  </a:moveTo>
                  <a:lnTo>
                    <a:pt x="164017" y="0"/>
                  </a:lnTo>
                  <a:cubicBezTo>
                    <a:pt x="73433" y="0"/>
                    <a:pt x="0" y="73433"/>
                    <a:pt x="0" y="164017"/>
                  </a:cubicBezTo>
                  <a:lnTo>
                    <a:pt x="0" y="820064"/>
                  </a:lnTo>
                  <a:cubicBezTo>
                    <a:pt x="0" y="910648"/>
                    <a:pt x="73433" y="984081"/>
                    <a:pt x="164017" y="984081"/>
                  </a:cubicBezTo>
                  <a:lnTo>
                    <a:pt x="820064" y="984081"/>
                  </a:lnTo>
                  <a:cubicBezTo>
                    <a:pt x="910648" y="984081"/>
                    <a:pt x="984081" y="910648"/>
                    <a:pt x="984081" y="820064"/>
                  </a:cubicBezTo>
                  <a:lnTo>
                    <a:pt x="984081" y="164017"/>
                  </a:lnTo>
                  <a:cubicBezTo>
                    <a:pt x="984081" y="73433"/>
                    <a:pt x="910648" y="0"/>
                    <a:pt x="820064" y="0"/>
                  </a:cubicBezTo>
                  <a:close/>
                </a:path>
              </a:pathLst>
            </a:custGeom>
            <a:effectLst>
              <a:outerShdw blurRad="63500" sx="102000" sy="102000" algn="ctr" rotWithShape="0">
                <a:prstClr val="black">
                  <a:alpha val="40000"/>
                </a:prstClr>
              </a:outerShdw>
            </a:effectLst>
          </p:spPr>
        </p:pic>
        <p:pic>
          <p:nvPicPr>
            <p:cNvPr id="50" name="图片 49"/>
            <p:cNvPicPr>
              <a:picLocks noChangeAspect="1"/>
            </p:cNvPicPr>
            <p:nvPr/>
          </p:nvPicPr>
          <p:blipFill>
            <a:blip r:embed="rId11" cstate="screen"/>
            <a:srcRect/>
            <a:stretch>
              <a:fillRect/>
            </a:stretch>
          </p:blipFill>
          <p:spPr>
            <a:xfrm flipH="1">
              <a:off x="2235608" y="3435309"/>
              <a:ext cx="984081" cy="984081"/>
            </a:xfrm>
            <a:custGeom>
              <a:avLst/>
              <a:gdLst>
                <a:gd name="connsiteX0" fmla="*/ 820064 w 984081"/>
                <a:gd name="connsiteY0" fmla="*/ 0 h 984081"/>
                <a:gd name="connsiteX1" fmla="*/ 164017 w 984081"/>
                <a:gd name="connsiteY1" fmla="*/ 0 h 984081"/>
                <a:gd name="connsiteX2" fmla="*/ 0 w 984081"/>
                <a:gd name="connsiteY2" fmla="*/ 164017 h 984081"/>
                <a:gd name="connsiteX3" fmla="*/ 0 w 984081"/>
                <a:gd name="connsiteY3" fmla="*/ 820064 h 984081"/>
                <a:gd name="connsiteX4" fmla="*/ 164017 w 984081"/>
                <a:gd name="connsiteY4" fmla="*/ 984081 h 984081"/>
                <a:gd name="connsiteX5" fmla="*/ 820064 w 984081"/>
                <a:gd name="connsiteY5" fmla="*/ 984081 h 984081"/>
                <a:gd name="connsiteX6" fmla="*/ 984081 w 984081"/>
                <a:gd name="connsiteY6" fmla="*/ 820064 h 984081"/>
                <a:gd name="connsiteX7" fmla="*/ 984081 w 984081"/>
                <a:gd name="connsiteY7" fmla="*/ 164017 h 984081"/>
                <a:gd name="connsiteX8" fmla="*/ 820064 w 984081"/>
                <a:gd name="connsiteY8" fmla="*/ 0 h 98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081" h="984081">
                  <a:moveTo>
                    <a:pt x="820064" y="0"/>
                  </a:moveTo>
                  <a:lnTo>
                    <a:pt x="164017" y="0"/>
                  </a:lnTo>
                  <a:cubicBezTo>
                    <a:pt x="73433" y="0"/>
                    <a:pt x="0" y="73433"/>
                    <a:pt x="0" y="164017"/>
                  </a:cubicBezTo>
                  <a:lnTo>
                    <a:pt x="0" y="820064"/>
                  </a:lnTo>
                  <a:cubicBezTo>
                    <a:pt x="0" y="910648"/>
                    <a:pt x="73433" y="984081"/>
                    <a:pt x="164017" y="984081"/>
                  </a:cubicBezTo>
                  <a:lnTo>
                    <a:pt x="820064" y="984081"/>
                  </a:lnTo>
                  <a:cubicBezTo>
                    <a:pt x="910648" y="984081"/>
                    <a:pt x="984081" y="910648"/>
                    <a:pt x="984081" y="820064"/>
                  </a:cubicBezTo>
                  <a:lnTo>
                    <a:pt x="984081" y="164017"/>
                  </a:lnTo>
                  <a:cubicBezTo>
                    <a:pt x="984081" y="73433"/>
                    <a:pt x="910648" y="0"/>
                    <a:pt x="820064" y="0"/>
                  </a:cubicBezTo>
                  <a:close/>
                </a:path>
              </a:pathLst>
            </a:custGeom>
            <a:effectLst>
              <a:outerShdw blurRad="63500" sx="102000" sy="102000" algn="ctr" rotWithShape="0">
                <a:prstClr val="black">
                  <a:alpha val="40000"/>
                </a:prstClr>
              </a:outerShdw>
            </a:effectLst>
          </p:spPr>
        </p:pic>
        <p:pic>
          <p:nvPicPr>
            <p:cNvPr id="49" name="图片 48"/>
            <p:cNvPicPr>
              <a:picLocks noChangeAspect="1"/>
            </p:cNvPicPr>
            <p:nvPr/>
          </p:nvPicPr>
          <p:blipFill>
            <a:blip r:embed="rId12" cstate="screen"/>
            <a:srcRect/>
            <a:stretch>
              <a:fillRect/>
            </a:stretch>
          </p:blipFill>
          <p:spPr>
            <a:xfrm flipH="1">
              <a:off x="1191164" y="3435309"/>
              <a:ext cx="984081" cy="984081"/>
            </a:xfrm>
            <a:custGeom>
              <a:avLst/>
              <a:gdLst>
                <a:gd name="connsiteX0" fmla="*/ 820064 w 984081"/>
                <a:gd name="connsiteY0" fmla="*/ 0 h 984081"/>
                <a:gd name="connsiteX1" fmla="*/ 164017 w 984081"/>
                <a:gd name="connsiteY1" fmla="*/ 0 h 984081"/>
                <a:gd name="connsiteX2" fmla="*/ 0 w 984081"/>
                <a:gd name="connsiteY2" fmla="*/ 164017 h 984081"/>
                <a:gd name="connsiteX3" fmla="*/ 0 w 984081"/>
                <a:gd name="connsiteY3" fmla="*/ 820064 h 984081"/>
                <a:gd name="connsiteX4" fmla="*/ 164017 w 984081"/>
                <a:gd name="connsiteY4" fmla="*/ 984081 h 984081"/>
                <a:gd name="connsiteX5" fmla="*/ 820064 w 984081"/>
                <a:gd name="connsiteY5" fmla="*/ 984081 h 984081"/>
                <a:gd name="connsiteX6" fmla="*/ 984081 w 984081"/>
                <a:gd name="connsiteY6" fmla="*/ 820064 h 984081"/>
                <a:gd name="connsiteX7" fmla="*/ 984081 w 984081"/>
                <a:gd name="connsiteY7" fmla="*/ 164017 h 984081"/>
                <a:gd name="connsiteX8" fmla="*/ 820064 w 984081"/>
                <a:gd name="connsiteY8" fmla="*/ 0 h 98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081" h="984081">
                  <a:moveTo>
                    <a:pt x="820064" y="0"/>
                  </a:moveTo>
                  <a:lnTo>
                    <a:pt x="164017" y="0"/>
                  </a:lnTo>
                  <a:cubicBezTo>
                    <a:pt x="73433" y="0"/>
                    <a:pt x="0" y="73433"/>
                    <a:pt x="0" y="164017"/>
                  </a:cubicBezTo>
                  <a:lnTo>
                    <a:pt x="0" y="820064"/>
                  </a:lnTo>
                  <a:cubicBezTo>
                    <a:pt x="0" y="910648"/>
                    <a:pt x="73433" y="984081"/>
                    <a:pt x="164017" y="984081"/>
                  </a:cubicBezTo>
                  <a:lnTo>
                    <a:pt x="820064" y="984081"/>
                  </a:lnTo>
                  <a:cubicBezTo>
                    <a:pt x="910648" y="984081"/>
                    <a:pt x="984081" y="910648"/>
                    <a:pt x="984081" y="820064"/>
                  </a:cubicBezTo>
                  <a:lnTo>
                    <a:pt x="984081" y="164017"/>
                  </a:lnTo>
                  <a:cubicBezTo>
                    <a:pt x="984081" y="73433"/>
                    <a:pt x="910648" y="0"/>
                    <a:pt x="820064" y="0"/>
                  </a:cubicBezTo>
                  <a:close/>
                </a:path>
              </a:pathLst>
            </a:custGeom>
            <a:effectLst>
              <a:outerShdw blurRad="63500" sx="102000" sy="102000" algn="ctr" rotWithShape="0">
                <a:prstClr val="black">
                  <a:alpha val="40000"/>
                </a:prstClr>
              </a:outerShdw>
            </a:effectLst>
          </p:spPr>
        </p:pic>
        <p:pic>
          <p:nvPicPr>
            <p:cNvPr id="48" name="图片 47"/>
            <p:cNvPicPr>
              <a:picLocks noChangeAspect="1"/>
            </p:cNvPicPr>
            <p:nvPr/>
          </p:nvPicPr>
          <p:blipFill>
            <a:blip r:embed="rId13" cstate="screen"/>
            <a:srcRect/>
            <a:stretch>
              <a:fillRect/>
            </a:stretch>
          </p:blipFill>
          <p:spPr>
            <a:xfrm flipH="1">
              <a:off x="3280954" y="2395531"/>
              <a:ext cx="984081" cy="984081"/>
            </a:xfrm>
            <a:custGeom>
              <a:avLst/>
              <a:gdLst>
                <a:gd name="connsiteX0" fmla="*/ 820064 w 984081"/>
                <a:gd name="connsiteY0" fmla="*/ 0 h 984081"/>
                <a:gd name="connsiteX1" fmla="*/ 164017 w 984081"/>
                <a:gd name="connsiteY1" fmla="*/ 0 h 984081"/>
                <a:gd name="connsiteX2" fmla="*/ 0 w 984081"/>
                <a:gd name="connsiteY2" fmla="*/ 164017 h 984081"/>
                <a:gd name="connsiteX3" fmla="*/ 0 w 984081"/>
                <a:gd name="connsiteY3" fmla="*/ 820064 h 984081"/>
                <a:gd name="connsiteX4" fmla="*/ 164017 w 984081"/>
                <a:gd name="connsiteY4" fmla="*/ 984081 h 984081"/>
                <a:gd name="connsiteX5" fmla="*/ 820064 w 984081"/>
                <a:gd name="connsiteY5" fmla="*/ 984081 h 984081"/>
                <a:gd name="connsiteX6" fmla="*/ 984081 w 984081"/>
                <a:gd name="connsiteY6" fmla="*/ 820064 h 984081"/>
                <a:gd name="connsiteX7" fmla="*/ 984081 w 984081"/>
                <a:gd name="connsiteY7" fmla="*/ 164017 h 984081"/>
                <a:gd name="connsiteX8" fmla="*/ 820064 w 984081"/>
                <a:gd name="connsiteY8" fmla="*/ 0 h 98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081" h="984081">
                  <a:moveTo>
                    <a:pt x="820064" y="0"/>
                  </a:moveTo>
                  <a:lnTo>
                    <a:pt x="164017" y="0"/>
                  </a:lnTo>
                  <a:cubicBezTo>
                    <a:pt x="73433" y="0"/>
                    <a:pt x="0" y="73433"/>
                    <a:pt x="0" y="164017"/>
                  </a:cubicBezTo>
                  <a:lnTo>
                    <a:pt x="0" y="820064"/>
                  </a:lnTo>
                  <a:cubicBezTo>
                    <a:pt x="0" y="910648"/>
                    <a:pt x="73433" y="984081"/>
                    <a:pt x="164017" y="984081"/>
                  </a:cubicBezTo>
                  <a:lnTo>
                    <a:pt x="820064" y="984081"/>
                  </a:lnTo>
                  <a:cubicBezTo>
                    <a:pt x="910648" y="984081"/>
                    <a:pt x="984081" y="910648"/>
                    <a:pt x="984081" y="820064"/>
                  </a:cubicBezTo>
                  <a:lnTo>
                    <a:pt x="984081" y="164017"/>
                  </a:lnTo>
                  <a:cubicBezTo>
                    <a:pt x="984081" y="73433"/>
                    <a:pt x="910648" y="0"/>
                    <a:pt x="820064" y="0"/>
                  </a:cubicBezTo>
                  <a:close/>
                </a:path>
              </a:pathLst>
            </a:custGeom>
            <a:effectLst>
              <a:outerShdw blurRad="63500" sx="102000" sy="102000" algn="ctr" rotWithShape="0">
                <a:prstClr val="black">
                  <a:alpha val="40000"/>
                </a:prstClr>
              </a:outerShdw>
            </a:effectLst>
          </p:spPr>
        </p:pic>
        <p:pic>
          <p:nvPicPr>
            <p:cNvPr id="47" name="图片 46"/>
            <p:cNvPicPr>
              <a:picLocks noChangeAspect="1"/>
            </p:cNvPicPr>
            <p:nvPr/>
          </p:nvPicPr>
          <p:blipFill>
            <a:blip r:embed="rId14" cstate="screen"/>
            <a:srcRect/>
            <a:stretch>
              <a:fillRect/>
            </a:stretch>
          </p:blipFill>
          <p:spPr>
            <a:xfrm flipH="1">
              <a:off x="2235891" y="2398698"/>
              <a:ext cx="984081" cy="984081"/>
            </a:xfrm>
            <a:custGeom>
              <a:avLst/>
              <a:gdLst>
                <a:gd name="connsiteX0" fmla="*/ 820064 w 984081"/>
                <a:gd name="connsiteY0" fmla="*/ 0 h 984081"/>
                <a:gd name="connsiteX1" fmla="*/ 164017 w 984081"/>
                <a:gd name="connsiteY1" fmla="*/ 0 h 984081"/>
                <a:gd name="connsiteX2" fmla="*/ 0 w 984081"/>
                <a:gd name="connsiteY2" fmla="*/ 164017 h 984081"/>
                <a:gd name="connsiteX3" fmla="*/ 0 w 984081"/>
                <a:gd name="connsiteY3" fmla="*/ 820064 h 984081"/>
                <a:gd name="connsiteX4" fmla="*/ 164017 w 984081"/>
                <a:gd name="connsiteY4" fmla="*/ 984081 h 984081"/>
                <a:gd name="connsiteX5" fmla="*/ 820064 w 984081"/>
                <a:gd name="connsiteY5" fmla="*/ 984081 h 984081"/>
                <a:gd name="connsiteX6" fmla="*/ 984081 w 984081"/>
                <a:gd name="connsiteY6" fmla="*/ 820064 h 984081"/>
                <a:gd name="connsiteX7" fmla="*/ 984081 w 984081"/>
                <a:gd name="connsiteY7" fmla="*/ 164017 h 984081"/>
                <a:gd name="connsiteX8" fmla="*/ 820064 w 984081"/>
                <a:gd name="connsiteY8" fmla="*/ 0 h 98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081" h="984081">
                  <a:moveTo>
                    <a:pt x="820064" y="0"/>
                  </a:moveTo>
                  <a:lnTo>
                    <a:pt x="164017" y="0"/>
                  </a:lnTo>
                  <a:cubicBezTo>
                    <a:pt x="73433" y="0"/>
                    <a:pt x="0" y="73433"/>
                    <a:pt x="0" y="164017"/>
                  </a:cubicBezTo>
                  <a:lnTo>
                    <a:pt x="0" y="820064"/>
                  </a:lnTo>
                  <a:cubicBezTo>
                    <a:pt x="0" y="910648"/>
                    <a:pt x="73433" y="984081"/>
                    <a:pt x="164017" y="984081"/>
                  </a:cubicBezTo>
                  <a:lnTo>
                    <a:pt x="820064" y="984081"/>
                  </a:lnTo>
                  <a:cubicBezTo>
                    <a:pt x="910648" y="984081"/>
                    <a:pt x="984081" y="910648"/>
                    <a:pt x="984081" y="820064"/>
                  </a:cubicBezTo>
                  <a:lnTo>
                    <a:pt x="984081" y="164017"/>
                  </a:lnTo>
                  <a:cubicBezTo>
                    <a:pt x="984081" y="73433"/>
                    <a:pt x="910648" y="0"/>
                    <a:pt x="820064" y="0"/>
                  </a:cubicBezTo>
                  <a:close/>
                </a:path>
              </a:pathLst>
            </a:custGeom>
            <a:effectLst>
              <a:outerShdw blurRad="63500" sx="102000" sy="102000" algn="ctr" rotWithShape="0">
                <a:prstClr val="black">
                  <a:alpha val="40000"/>
                </a:prstClr>
              </a:outerShdw>
            </a:effectLst>
          </p:spPr>
        </p:pic>
        <p:pic>
          <p:nvPicPr>
            <p:cNvPr id="46" name="图片 45"/>
            <p:cNvPicPr>
              <a:picLocks noChangeAspect="1"/>
            </p:cNvPicPr>
            <p:nvPr/>
          </p:nvPicPr>
          <p:blipFill>
            <a:blip r:embed="rId15" cstate="screen"/>
            <a:srcRect/>
            <a:stretch>
              <a:fillRect/>
            </a:stretch>
          </p:blipFill>
          <p:spPr>
            <a:xfrm flipH="1">
              <a:off x="1191447" y="2398698"/>
              <a:ext cx="984081" cy="984081"/>
            </a:xfrm>
            <a:custGeom>
              <a:avLst/>
              <a:gdLst>
                <a:gd name="connsiteX0" fmla="*/ 820064 w 984081"/>
                <a:gd name="connsiteY0" fmla="*/ 0 h 984081"/>
                <a:gd name="connsiteX1" fmla="*/ 164017 w 984081"/>
                <a:gd name="connsiteY1" fmla="*/ 0 h 984081"/>
                <a:gd name="connsiteX2" fmla="*/ 0 w 984081"/>
                <a:gd name="connsiteY2" fmla="*/ 164017 h 984081"/>
                <a:gd name="connsiteX3" fmla="*/ 0 w 984081"/>
                <a:gd name="connsiteY3" fmla="*/ 820064 h 984081"/>
                <a:gd name="connsiteX4" fmla="*/ 164017 w 984081"/>
                <a:gd name="connsiteY4" fmla="*/ 984081 h 984081"/>
                <a:gd name="connsiteX5" fmla="*/ 820064 w 984081"/>
                <a:gd name="connsiteY5" fmla="*/ 984081 h 984081"/>
                <a:gd name="connsiteX6" fmla="*/ 984081 w 984081"/>
                <a:gd name="connsiteY6" fmla="*/ 820064 h 984081"/>
                <a:gd name="connsiteX7" fmla="*/ 984081 w 984081"/>
                <a:gd name="connsiteY7" fmla="*/ 164017 h 984081"/>
                <a:gd name="connsiteX8" fmla="*/ 820064 w 984081"/>
                <a:gd name="connsiteY8" fmla="*/ 0 h 984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84081" h="984081">
                  <a:moveTo>
                    <a:pt x="820064" y="0"/>
                  </a:moveTo>
                  <a:lnTo>
                    <a:pt x="164017" y="0"/>
                  </a:lnTo>
                  <a:cubicBezTo>
                    <a:pt x="73433" y="0"/>
                    <a:pt x="0" y="73433"/>
                    <a:pt x="0" y="164017"/>
                  </a:cubicBezTo>
                  <a:lnTo>
                    <a:pt x="0" y="820064"/>
                  </a:lnTo>
                  <a:cubicBezTo>
                    <a:pt x="0" y="910648"/>
                    <a:pt x="73433" y="984081"/>
                    <a:pt x="164017" y="984081"/>
                  </a:cubicBezTo>
                  <a:lnTo>
                    <a:pt x="820064" y="984081"/>
                  </a:lnTo>
                  <a:cubicBezTo>
                    <a:pt x="910648" y="984081"/>
                    <a:pt x="984081" y="910648"/>
                    <a:pt x="984081" y="820064"/>
                  </a:cubicBezTo>
                  <a:lnTo>
                    <a:pt x="984081" y="164017"/>
                  </a:lnTo>
                  <a:cubicBezTo>
                    <a:pt x="984081" y="73433"/>
                    <a:pt x="910648" y="0"/>
                    <a:pt x="820064" y="0"/>
                  </a:cubicBezTo>
                  <a:close/>
                </a:path>
              </a:pathLst>
            </a:custGeom>
            <a:effectLst>
              <a:outerShdw blurRad="63500" sx="102000" sy="102000" algn="ctr" rotWithShape="0">
                <a:prstClr val="black">
                  <a:alpha val="40000"/>
                </a:prstClr>
              </a:outerShdw>
            </a:effectLst>
          </p:spPr>
        </p:pic>
      </p:grpSp>
      <p:sp>
        <p:nvSpPr>
          <p:cNvPr id="61" name="文本框 60"/>
          <p:cNvSpPr txBox="1"/>
          <p:nvPr/>
        </p:nvSpPr>
        <p:spPr>
          <a:xfrm>
            <a:off x="4469430" y="828535"/>
            <a:ext cx="1884264" cy="39878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r>
              <a:rPr lang="zh-CN" altLang="en-US" sz="2000" b="1" dirty="0">
                <a:solidFill>
                  <a:srgbClr val="685652"/>
                </a:solidFill>
                <a:latin typeface="微软雅黑" panose="020B0503020204020204" pitchFamily="34" charset="-122"/>
                <a:ea typeface="微软雅黑" panose="020B0503020204020204" pitchFamily="34" charset="-122"/>
              </a:rPr>
              <a:t>平台</a:t>
            </a:r>
            <a:endParaRPr lang="zh-CN" altLang="en-US" sz="2000" b="1" dirty="0">
              <a:solidFill>
                <a:srgbClr val="685652"/>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4463916" y="1132815"/>
            <a:ext cx="2846196" cy="1476992"/>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200" dirty="0">
                <a:solidFill>
                  <a:srgbClr val="685652"/>
                </a:solidFill>
                <a:latin typeface="微软雅黑" panose="020B0503020204020204" pitchFamily="34" charset="-122"/>
                <a:ea typeface="微软雅黑" panose="020B0503020204020204" pitchFamily="34" charset="-122"/>
              </a:rPr>
              <a:t>革新算法分发模式，调整流量权重配比，打破唯互动数据的单一规则，既为优质内容提供空间，也为理性评析保留曝光渠道。针对性整治贩卖悲情、猎奇方言等不良营销，建立异质观点保护机制。同时升级评论区治理，精准识别人身攻击和恶意控评，缓解舆论对立。</a:t>
            </a:r>
            <a:endParaRPr lang="zh-CN" altLang="en-US" sz="1200" dirty="0">
              <a:solidFill>
                <a:srgbClr val="685652"/>
              </a:solidFill>
              <a:latin typeface="微软雅黑" panose="020B0503020204020204" pitchFamily="34" charset="-122"/>
              <a:ea typeface="微软雅黑" panose="020B0503020204020204" pitchFamily="34" charset="-122"/>
            </a:endParaRPr>
          </a:p>
        </p:txBody>
      </p:sp>
      <p:sp>
        <p:nvSpPr>
          <p:cNvPr id="60" name="椭圆 59"/>
          <p:cNvSpPr/>
          <p:nvPr/>
        </p:nvSpPr>
        <p:spPr>
          <a:xfrm>
            <a:off x="4243071" y="974590"/>
            <a:ext cx="108000" cy="108000"/>
          </a:xfrm>
          <a:prstGeom prst="ellipse">
            <a:avLst/>
          </a:prstGeom>
          <a:solidFill>
            <a:srgbClr val="A88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66" name="文本框 65"/>
          <p:cNvSpPr txBox="1"/>
          <p:nvPr/>
        </p:nvSpPr>
        <p:spPr>
          <a:xfrm>
            <a:off x="5415440" y="3220043"/>
            <a:ext cx="1884263" cy="39878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sz="2000" b="1" dirty="0">
                <a:solidFill>
                  <a:srgbClr val="685652"/>
                </a:solidFill>
                <a:latin typeface="微软雅黑" panose="020B0503020204020204" pitchFamily="34" charset="-122"/>
                <a:ea typeface="微软雅黑" panose="020B0503020204020204" pitchFamily="34" charset="-122"/>
              </a:rPr>
              <a:t>内容生产端</a:t>
            </a:r>
            <a:endParaRPr lang="zh-CN" altLang="en-US" sz="2000" b="1" dirty="0">
              <a:solidFill>
                <a:srgbClr val="685652"/>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5409926" y="3524208"/>
            <a:ext cx="3137376" cy="230695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200" dirty="0">
                <a:solidFill>
                  <a:srgbClr val="685652"/>
                </a:solidFill>
                <a:latin typeface="微软雅黑" panose="020B0503020204020204" pitchFamily="34" charset="-122"/>
                <a:ea typeface="微软雅黑" panose="020B0503020204020204" pitchFamily="34" charset="-122"/>
              </a:rPr>
              <a:t>创作者应深耕地域文化内核，杜绝为博流量制造猎奇效果，打造有温度有深度的作品。行业要树立辩证发展思维，拒绝全盘否定工业化制作，兼顾商业影视与文艺创作成长。相关部门需完善行业政策，平衡院线资源分配，为高质量小成本影片提供排片扶持，改善其市场生存困境。</a:t>
            </a:r>
            <a:endParaRPr lang="zh-CN" altLang="en-US" sz="1200" dirty="0">
              <a:solidFill>
                <a:srgbClr val="685652"/>
              </a:solidFill>
              <a:latin typeface="微软雅黑" panose="020B0503020204020204" pitchFamily="34" charset="-122"/>
              <a:ea typeface="微软雅黑" panose="020B0503020204020204" pitchFamily="34" charset="-122"/>
            </a:endParaRPr>
          </a:p>
        </p:txBody>
      </p:sp>
      <p:sp>
        <p:nvSpPr>
          <p:cNvPr id="65" name="椭圆 64"/>
          <p:cNvSpPr/>
          <p:nvPr/>
        </p:nvSpPr>
        <p:spPr>
          <a:xfrm>
            <a:off x="5189082" y="3366098"/>
            <a:ext cx="108000" cy="108000"/>
          </a:xfrm>
          <a:prstGeom prst="ellipse">
            <a:avLst/>
          </a:prstGeom>
          <a:solidFill>
            <a:srgbClr val="A88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71" name="文本框 70"/>
          <p:cNvSpPr txBox="1"/>
          <p:nvPr/>
        </p:nvSpPr>
        <p:spPr>
          <a:xfrm>
            <a:off x="8257525" y="828535"/>
            <a:ext cx="1884263" cy="39878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sz="2000" b="1" dirty="0">
                <a:solidFill>
                  <a:srgbClr val="685652"/>
                </a:solidFill>
                <a:latin typeface="微软雅黑" panose="020B0503020204020204" pitchFamily="34" charset="-122"/>
                <a:ea typeface="微软雅黑" panose="020B0503020204020204" pitchFamily="34" charset="-122"/>
              </a:rPr>
              <a:t>受众媒介素养</a:t>
            </a:r>
            <a:endParaRPr lang="zh-CN" altLang="en-US" sz="2000" b="1" dirty="0">
              <a:solidFill>
                <a:srgbClr val="685652"/>
              </a:solidFill>
              <a:latin typeface="微软雅黑" panose="020B0503020204020204" pitchFamily="34" charset="-122"/>
              <a:ea typeface="微软雅黑" panose="020B0503020204020204" pitchFamily="34" charset="-122"/>
            </a:endParaRPr>
          </a:p>
        </p:txBody>
      </p:sp>
      <p:sp>
        <p:nvSpPr>
          <p:cNvPr id="72" name="文本框 71"/>
          <p:cNvSpPr txBox="1"/>
          <p:nvPr/>
        </p:nvSpPr>
        <p:spPr>
          <a:xfrm>
            <a:off x="8252011" y="1132815"/>
            <a:ext cx="3075843" cy="2030095"/>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200" dirty="0">
                <a:solidFill>
                  <a:srgbClr val="685652"/>
                </a:solidFill>
                <a:latin typeface="微软雅黑" panose="020B0503020204020204" pitchFamily="34" charset="-122"/>
                <a:ea typeface="微软雅黑" panose="020B0503020204020204" pitchFamily="34" charset="-122"/>
              </a:rPr>
              <a:t>常态化普及影视鉴赏知识，帮助大众建立专业评判思维，扭转依靠主观情绪判定作品质量的习惯。分享多元女性叙事理念，引导跳出固化标签认知。影评平台应主动征集多角度评论，兼顾优势与创作短板，培养辩证观影、理性发言的习惯。</a:t>
            </a:r>
            <a:endParaRPr lang="zh-CN" altLang="en-US" sz="1200" dirty="0">
              <a:solidFill>
                <a:srgbClr val="685652"/>
              </a:solidFill>
              <a:latin typeface="微软雅黑" panose="020B0503020204020204" pitchFamily="34" charset="-122"/>
              <a:ea typeface="微软雅黑" panose="020B0503020204020204" pitchFamily="34" charset="-122"/>
            </a:endParaRPr>
          </a:p>
        </p:txBody>
      </p:sp>
      <p:sp>
        <p:nvSpPr>
          <p:cNvPr id="70" name="椭圆 69"/>
          <p:cNvSpPr/>
          <p:nvPr/>
        </p:nvSpPr>
        <p:spPr>
          <a:xfrm>
            <a:off x="8031168" y="974590"/>
            <a:ext cx="108000" cy="108000"/>
          </a:xfrm>
          <a:prstGeom prst="ellipse">
            <a:avLst/>
          </a:prstGeom>
          <a:solidFill>
            <a:srgbClr val="A88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685652"/>
              </a:solidFill>
              <a:latin typeface="微软雅黑" panose="020B0503020204020204" pitchFamily="34" charset="-122"/>
              <a:ea typeface="微软雅黑" panose="020B0503020204020204" pitchFamily="34" charset="-122"/>
            </a:endParaRPr>
          </a:p>
        </p:txBody>
      </p:sp>
      <p:sp>
        <p:nvSpPr>
          <p:cNvPr id="76" name="文本框 75"/>
          <p:cNvSpPr txBox="1"/>
          <p:nvPr/>
        </p:nvSpPr>
        <p:spPr>
          <a:xfrm>
            <a:off x="8666107" y="2952683"/>
            <a:ext cx="1884264" cy="39878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r>
              <a:rPr lang="zh-CN" altLang="en-US" sz="2000" b="1" dirty="0">
                <a:solidFill>
                  <a:srgbClr val="685652"/>
                </a:solidFill>
                <a:latin typeface="微软雅黑" panose="020B0503020204020204" pitchFamily="34" charset="-122"/>
                <a:ea typeface="微软雅黑" panose="020B0503020204020204" pitchFamily="34" charset="-122"/>
              </a:rPr>
              <a:t>舆论引导层面</a:t>
            </a:r>
            <a:endParaRPr lang="zh-CN" altLang="en-US">
              <a:latin typeface="微软雅黑" panose="020B0503020204020204" pitchFamily="34" charset="-122"/>
              <a:ea typeface="微软雅黑" panose="020B0503020204020204" pitchFamily="34" charset="-122"/>
            </a:endParaRPr>
          </a:p>
        </p:txBody>
      </p:sp>
      <p:sp>
        <p:nvSpPr>
          <p:cNvPr id="77" name="文本框 76"/>
          <p:cNvSpPr txBox="1"/>
          <p:nvPr/>
        </p:nvSpPr>
        <p:spPr>
          <a:xfrm>
            <a:off x="8660593" y="3256963"/>
            <a:ext cx="2854519" cy="203009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200" dirty="0">
                <a:solidFill>
                  <a:srgbClr val="685652"/>
                </a:solidFill>
                <a:latin typeface="微软雅黑" panose="020B0503020204020204" pitchFamily="34" charset="-122"/>
                <a:ea typeface="微软雅黑" panose="020B0503020204020204" pitchFamily="34" charset="-122"/>
              </a:rPr>
              <a:t>主流媒体应客观中立，全面解读影片价值与不足，避免过度神化或制造极端对立。行业平台应大力扶持专业影评发展，以理性评论对冲情绪化内容，壮大专业评论力量。长效来看，还需完善影视行业帮扶政策，将个案奇迹转化为改善行业生态的制度动力。</a:t>
            </a:r>
            <a:endParaRPr lang="zh-CN" altLang="en-US" sz="1200" dirty="0">
              <a:solidFill>
                <a:srgbClr val="685652"/>
              </a:solidFill>
              <a:latin typeface="微软雅黑" panose="020B0503020204020204" pitchFamily="34" charset="-122"/>
              <a:ea typeface="微软雅黑" panose="020B0503020204020204" pitchFamily="34" charset="-122"/>
            </a:endParaRPr>
          </a:p>
        </p:txBody>
      </p:sp>
      <p:sp>
        <p:nvSpPr>
          <p:cNvPr id="75" name="椭圆 74"/>
          <p:cNvSpPr/>
          <p:nvPr/>
        </p:nvSpPr>
        <p:spPr>
          <a:xfrm>
            <a:off x="8439749" y="3098738"/>
            <a:ext cx="108000" cy="108000"/>
          </a:xfrm>
          <a:prstGeom prst="ellipse">
            <a:avLst/>
          </a:prstGeom>
          <a:solidFill>
            <a:srgbClr val="A8805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dirty="0">
              <a:solidFill>
                <a:srgbClr val="68565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438150"/>
            <a:ext cx="12237156" cy="6419850"/>
            <a:chOff x="0" y="438150"/>
            <a:chExt cx="12237156" cy="6419850"/>
          </a:xfrm>
        </p:grpSpPr>
        <p:sp>
          <p:nvSpPr>
            <p:cNvPr id="2" name="矩形 1"/>
            <p:cNvSpPr/>
            <p:nvPr/>
          </p:nvSpPr>
          <p:spPr>
            <a:xfrm>
              <a:off x="400050" y="438150"/>
              <a:ext cx="11391900" cy="6129462"/>
            </a:xfrm>
            <a:prstGeom prst="rect">
              <a:avLst/>
            </a:prstGeom>
            <a:noFill/>
            <a:ln w="28575">
              <a:solidFill>
                <a:srgbClr val="BD9C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cstate="screen">
              <a:extLst>
                <a:ext uri="{BEBA8EAE-BF5A-486C-A8C5-ECC9F3942E4B}">
                  <a14:imgProps xmlns:a14="http://schemas.microsoft.com/office/drawing/2010/main">
                    <a14:imgLayer r:embed="rId2">
                      <a14:imgEffect>
                        <a14:backgroundRemoval t="8969" b="89238" l="3300" r="97500">
                          <a14:foregroundMark x1="3350" y1="29596" x2="16150" y2="72197"/>
                          <a14:foregroundMark x1="16150" y1="72197" x2="50500" y2="24215"/>
                          <a14:foregroundMark x1="50500" y1="24215" x2="54650" y2="42601"/>
                          <a14:foregroundMark x1="54650" y1="42601" x2="72700" y2="17489"/>
                          <a14:foregroundMark x1="72700" y1="17489" x2="87300" y2="49776"/>
                          <a14:foregroundMark x1="87300" y1="49776" x2="91600" y2="42152"/>
                          <a14:foregroundMark x1="91600" y1="42152" x2="91650" y2="42152"/>
                          <a14:foregroundMark x1="3700" y1="35874" x2="5500" y2="39910"/>
                          <a14:foregroundMark x1="95600" y1="39910" x2="97500" y2="52018"/>
                          <a14:foregroundMark x1="45600" y1="15247" x2="45600" y2="15247"/>
                          <a14:foregroundMark x1="45950" y1="14798" x2="45950" y2="14798"/>
                          <a14:foregroundMark x1="46500" y1="14798" x2="46500" y2="14798"/>
                          <a14:foregroundMark x1="65900" y1="13901" x2="65900" y2="13901"/>
                          <a14:foregroundMark x1="59550" y1="14350" x2="59550" y2="14350"/>
                          <a14:foregroundMark x1="73850" y1="14350" x2="73850" y2="14350"/>
                          <a14:foregroundMark x1="87650" y1="14350" x2="87650" y2="14350"/>
                          <a14:foregroundMark x1="79200" y1="13901" x2="79850" y2="15247"/>
                          <a14:foregroundMark x1="93200" y1="13453" x2="94150" y2="14350"/>
                          <a14:foregroundMark x1="51300" y1="13453" x2="52050" y2="13453"/>
                          <a14:foregroundMark x1="23400" y1="16143" x2="24250" y2="16143"/>
                          <a14:foregroundMark x1="31100" y1="16592" x2="32900" y2="19283"/>
                          <a14:foregroundMark x1="31550" y1="15247" x2="32400" y2="16592"/>
                          <a14:foregroundMark x1="37350" y1="16143" x2="38500" y2="17040"/>
                          <a14:foregroundMark x1="3300" y1="16143" x2="4450" y2="17489"/>
                          <a14:foregroundMark x1="17350" y1="17937" x2="19150" y2="17937"/>
                        </a14:backgroundRemoval>
                      </a14:imgEffect>
                    </a14:imgLayer>
                  </a14:imgProps>
                </a:ext>
              </a:extLst>
            </a:blip>
            <a:srcRect l="459" b="58084"/>
            <a:stretch>
              <a:fillRect/>
            </a:stretch>
          </p:blipFill>
          <p:spPr>
            <a:xfrm>
              <a:off x="0" y="6288194"/>
              <a:ext cx="12237156" cy="569806"/>
            </a:xfrm>
            <a:custGeom>
              <a:avLst/>
              <a:gdLst>
                <a:gd name="connsiteX0" fmla="*/ 0 w 12237156"/>
                <a:gd name="connsiteY0" fmla="*/ 0 h 569806"/>
                <a:gd name="connsiteX1" fmla="*/ 12237156 w 12237156"/>
                <a:gd name="connsiteY1" fmla="*/ 0 h 569806"/>
                <a:gd name="connsiteX2" fmla="*/ 12237156 w 12237156"/>
                <a:gd name="connsiteY2" fmla="*/ 569806 h 569806"/>
                <a:gd name="connsiteX3" fmla="*/ 0 w 12237156"/>
                <a:gd name="connsiteY3" fmla="*/ 569806 h 569806"/>
              </a:gdLst>
              <a:ahLst/>
              <a:cxnLst>
                <a:cxn ang="0">
                  <a:pos x="connsiteX0" y="connsiteY0"/>
                </a:cxn>
                <a:cxn ang="0">
                  <a:pos x="connsiteX1" y="connsiteY1"/>
                </a:cxn>
                <a:cxn ang="0">
                  <a:pos x="connsiteX2" y="connsiteY2"/>
                </a:cxn>
                <a:cxn ang="0">
                  <a:pos x="connsiteX3" y="connsiteY3"/>
                </a:cxn>
              </a:cxnLst>
              <a:rect l="l" t="t" r="r" b="b"/>
              <a:pathLst>
                <a:path w="12237156" h="569806">
                  <a:moveTo>
                    <a:pt x="0" y="0"/>
                  </a:moveTo>
                  <a:lnTo>
                    <a:pt x="12237156" y="0"/>
                  </a:lnTo>
                  <a:lnTo>
                    <a:pt x="12237156" y="569806"/>
                  </a:lnTo>
                  <a:lnTo>
                    <a:pt x="0" y="569806"/>
                  </a:lnTo>
                  <a:close/>
                </a:path>
              </a:pathLst>
            </a:custGeom>
          </p:spPr>
        </p:pic>
      </p:grpSp>
      <p:sp>
        <p:nvSpPr>
          <p:cNvPr id="23" name="文本框 22"/>
          <p:cNvSpPr txBox="1"/>
          <p:nvPr/>
        </p:nvSpPr>
        <p:spPr>
          <a:xfrm>
            <a:off x="2580701" y="3211777"/>
            <a:ext cx="7677693" cy="3076416"/>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50000"/>
              </a:lnSpc>
            </a:pPr>
            <a:r>
              <a:rPr lang="zh-CN" altLang="en-US" sz="1600" dirty="0">
                <a:solidFill>
                  <a:srgbClr val="685652"/>
                </a:solidFill>
                <a:latin typeface="微软雅黑" panose="020B0503020204020204" pitchFamily="34" charset="-122"/>
                <a:ea typeface="微软雅黑" panose="020B0503020204020204" pitchFamily="34" charset="-122"/>
              </a:rPr>
              <a:t>影片的成功并非偶然，而是</a:t>
            </a:r>
            <a:r>
              <a:rPr lang="zh-CN" altLang="en-US" sz="1600" b="1" dirty="0">
                <a:solidFill>
                  <a:srgbClr val="685652"/>
                </a:solidFill>
                <a:latin typeface="微软雅黑" panose="020B0503020204020204" pitchFamily="34" charset="-122"/>
                <a:ea typeface="微软雅黑" panose="020B0503020204020204" pitchFamily="34" charset="-122"/>
              </a:rPr>
              <a:t>情感符号编码、受众心理需求填补、多层级口碑扩散与社会审美变革趋势共同作用</a:t>
            </a:r>
            <a:r>
              <a:rPr lang="zh-CN" altLang="en-US" sz="1600" dirty="0">
                <a:solidFill>
                  <a:srgbClr val="685652"/>
                </a:solidFill>
                <a:latin typeface="微软雅黑" panose="020B0503020204020204" pitchFamily="34" charset="-122"/>
                <a:ea typeface="微软雅黑" panose="020B0503020204020204" pitchFamily="34" charset="-122"/>
              </a:rPr>
              <a:t>的产物。然而，在这种逆袭神话的光环之下，情感动员的异化、舆论极化的压制、反叛逻辑的符号化挪用以及市场结构性失衡的遮蔽等问题同样不容忽视。这提醒我们，对于现象级传播案例，既不能简单归因为</a:t>
            </a:r>
            <a:r>
              <a:rPr lang="zh-CN" altLang="en-US" sz="1600" b="1" dirty="0">
                <a:solidFill>
                  <a:srgbClr val="685652"/>
                </a:solidFill>
                <a:latin typeface="微软雅黑" panose="020B0503020204020204" pitchFamily="34" charset="-122"/>
                <a:ea typeface="微软雅黑" panose="020B0503020204020204" pitchFamily="34" charset="-122"/>
              </a:rPr>
              <a:t>“内容为王”而盲目复制</a:t>
            </a:r>
            <a:r>
              <a:rPr lang="zh-CN" altLang="en-US" sz="1600" dirty="0">
                <a:solidFill>
                  <a:srgbClr val="685652"/>
                </a:solidFill>
                <a:latin typeface="微软雅黑" panose="020B0503020204020204" pitchFamily="34" charset="-122"/>
                <a:ea typeface="微软雅黑" panose="020B0503020204020204" pitchFamily="34" charset="-122"/>
              </a:rPr>
              <a:t>，也不应因其</a:t>
            </a:r>
            <a:r>
              <a:rPr lang="zh-CN" altLang="en-US" sz="1600" b="1" dirty="0">
                <a:solidFill>
                  <a:srgbClr val="685652"/>
                </a:solidFill>
                <a:latin typeface="微软雅黑" panose="020B0503020204020204" pitchFamily="34" charset="-122"/>
                <a:ea typeface="微软雅黑" panose="020B0503020204020204" pitchFamily="34" charset="-122"/>
              </a:rPr>
              <a:t>伴生效应而否定其创新价值</a:t>
            </a:r>
            <a:r>
              <a:rPr lang="zh-CN" altLang="en-US" sz="1600" dirty="0">
                <a:solidFill>
                  <a:srgbClr val="685652"/>
                </a:solidFill>
                <a:latin typeface="微软雅黑" panose="020B0503020204020204" pitchFamily="34" charset="-122"/>
                <a:ea typeface="微软雅黑" panose="020B0503020204020204" pitchFamily="34" charset="-122"/>
              </a:rPr>
              <a:t>。如何在小众真诚表达与大众情感消费之间寻找平衡，如何</a:t>
            </a:r>
            <a:r>
              <a:rPr lang="zh-CN" altLang="en-US" sz="1600" b="1" dirty="0">
                <a:solidFill>
                  <a:srgbClr val="685652"/>
                </a:solidFill>
                <a:latin typeface="微软雅黑" panose="020B0503020204020204" pitchFamily="34" charset="-122"/>
                <a:ea typeface="微软雅黑" panose="020B0503020204020204" pitchFamily="34" charset="-122"/>
              </a:rPr>
              <a:t>在口碑裂变中为理性讨论保留空间</a:t>
            </a:r>
            <a:r>
              <a:rPr lang="zh-CN" altLang="en-US" sz="1600" dirty="0">
                <a:solidFill>
                  <a:srgbClr val="685652"/>
                </a:solidFill>
                <a:latin typeface="微软雅黑" panose="020B0503020204020204" pitchFamily="34" charset="-122"/>
                <a:ea typeface="微软雅黑" panose="020B0503020204020204" pitchFamily="34" charset="-122"/>
              </a:rPr>
              <a:t>，又如何让</a:t>
            </a:r>
            <a:r>
              <a:rPr lang="zh-CN" altLang="en-US" sz="1600" b="1" dirty="0">
                <a:solidFill>
                  <a:srgbClr val="685652"/>
                </a:solidFill>
                <a:latin typeface="微软雅黑" panose="020B0503020204020204" pitchFamily="34" charset="-122"/>
                <a:ea typeface="微软雅黑" panose="020B0503020204020204" pitchFamily="34" charset="-122"/>
              </a:rPr>
              <a:t>个案奇迹转化为改善行业生态的制度性动力</a:t>
            </a:r>
            <a:r>
              <a:rPr lang="zh-CN" altLang="en-US" sz="1600" dirty="0">
                <a:solidFill>
                  <a:srgbClr val="685652"/>
                </a:solidFill>
                <a:latin typeface="微软雅黑" panose="020B0503020204020204" pitchFamily="34" charset="-122"/>
                <a:ea typeface="微软雅黑" panose="020B0503020204020204" pitchFamily="34" charset="-122"/>
              </a:rPr>
              <a:t>，是我们应该探讨的话题。</a:t>
            </a:r>
            <a:endParaRPr lang="zh-CN" altLang="en-US" sz="1600" dirty="0">
              <a:solidFill>
                <a:srgbClr val="685652"/>
              </a:solidFill>
              <a:latin typeface="微软雅黑" panose="020B0503020204020204" pitchFamily="34" charset="-122"/>
              <a:ea typeface="微软雅黑" panose="020B0503020204020204" pitchFamily="34" charset="-122"/>
            </a:endParaRPr>
          </a:p>
        </p:txBody>
      </p:sp>
      <p:sp>
        <p:nvSpPr>
          <p:cNvPr id="37" name="TextBox 4"/>
          <p:cNvSpPr txBox="1"/>
          <p:nvPr/>
        </p:nvSpPr>
        <p:spPr>
          <a:xfrm>
            <a:off x="0" y="5"/>
            <a:ext cx="604867" cy="13324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135">
                <a:solidFill>
                  <a:schemeClr val="tx1">
                    <a:alpha val="0"/>
                  </a:schemeClr>
                </a:solidFill>
                <a:latin typeface="微软雅黑" panose="020B0503020204020204" pitchFamily="34" charset="-122"/>
                <a:ea typeface="微软雅黑" panose="020B0503020204020204" pitchFamily="34" charset="-122"/>
              </a:rPr>
              <a:t>行业</a:t>
            </a:r>
            <a:r>
              <a:rPr lang="en-US" altLang="zh-CN" sz="135">
                <a:solidFill>
                  <a:schemeClr val="tx1">
                    <a:alpha val="0"/>
                  </a:schemeClr>
                </a:solidFill>
                <a:latin typeface="微软雅黑" panose="020B0503020204020204" pitchFamily="34" charset="-122"/>
                <a:ea typeface="微软雅黑" panose="020B0503020204020204" pitchFamily="34" charset="-122"/>
              </a:rPr>
              <a:t>PPT</a:t>
            </a:r>
            <a:r>
              <a:rPr lang="zh-CN" altLang="en-US" sz="135">
                <a:solidFill>
                  <a:schemeClr val="tx1">
                    <a:alpha val="0"/>
                  </a:schemeClr>
                </a:solidFill>
                <a:latin typeface="微软雅黑" panose="020B0503020204020204" pitchFamily="34" charset="-122"/>
                <a:ea typeface="微软雅黑" panose="020B0503020204020204" pitchFamily="34" charset="-122"/>
              </a:rPr>
              <a:t>模板</a:t>
            </a:r>
            <a:r>
              <a:rPr lang="en-US" altLang="zh-CN" sz="135">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35">
              <a:solidFill>
                <a:schemeClr val="tx1">
                  <a:alpha val="0"/>
                </a:schemeClr>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3589090" y="60643"/>
            <a:ext cx="4736395" cy="2958933"/>
            <a:chOff x="2273228" y="243647"/>
            <a:chExt cx="4736395" cy="2958933"/>
          </a:xfrm>
        </p:grpSpPr>
        <p:sp>
          <p:nvSpPr>
            <p:cNvPr id="15" name="椭圆 14"/>
            <p:cNvSpPr/>
            <p:nvPr/>
          </p:nvSpPr>
          <p:spPr>
            <a:xfrm>
              <a:off x="2582796" y="1999595"/>
              <a:ext cx="596900" cy="596900"/>
            </a:xfrm>
            <a:prstGeom prst="ellipse">
              <a:avLst/>
            </a:prstGeom>
            <a:noFill/>
            <a:ln w="28575">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8805C"/>
                </a:solidFill>
                <a:latin typeface="微软雅黑" panose="020B0503020204020204" pitchFamily="34" charset="-122"/>
                <a:ea typeface="微软雅黑" panose="020B0503020204020204" pitchFamily="34" charset="-122"/>
              </a:endParaRPr>
            </a:p>
          </p:txBody>
        </p:sp>
        <p:sp>
          <p:nvSpPr>
            <p:cNvPr id="16" name="椭圆 15"/>
            <p:cNvSpPr/>
            <p:nvPr/>
          </p:nvSpPr>
          <p:spPr>
            <a:xfrm>
              <a:off x="2273228" y="2709336"/>
              <a:ext cx="110912" cy="110912"/>
            </a:xfrm>
            <a:prstGeom prst="ellipse">
              <a:avLst/>
            </a:prstGeom>
            <a:noFill/>
            <a:ln w="19050">
              <a:solidFill>
                <a:srgbClr val="9450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8805C"/>
                </a:solidFill>
                <a:latin typeface="微软雅黑" panose="020B0503020204020204" pitchFamily="34" charset="-122"/>
                <a:ea typeface="微软雅黑" panose="020B0503020204020204" pitchFamily="34" charset="-122"/>
              </a:endParaRPr>
            </a:p>
          </p:txBody>
        </p:sp>
        <p:sp>
          <p:nvSpPr>
            <p:cNvPr id="17" name="椭圆 16"/>
            <p:cNvSpPr/>
            <p:nvPr/>
          </p:nvSpPr>
          <p:spPr>
            <a:xfrm>
              <a:off x="5578545" y="684231"/>
              <a:ext cx="725714" cy="725714"/>
            </a:xfrm>
            <a:prstGeom prst="ellipse">
              <a:avLst/>
            </a:prstGeom>
            <a:noFill/>
            <a:ln w="28575">
              <a:solidFill>
                <a:srgbClr val="9450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8805C"/>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371718" y="836991"/>
              <a:ext cx="272084" cy="2365589"/>
              <a:chOff x="8432738" y="743303"/>
              <a:chExt cx="272084" cy="2365589"/>
            </a:xfrm>
          </p:grpSpPr>
          <p:cxnSp>
            <p:nvCxnSpPr>
              <p:cNvPr id="6" name="直接连接符 5"/>
              <p:cNvCxnSpPr/>
              <p:nvPr/>
            </p:nvCxnSpPr>
            <p:spPr>
              <a:xfrm>
                <a:off x="8524822" y="929786"/>
                <a:ext cx="180000"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8432738" y="743303"/>
                <a:ext cx="0" cy="2365589"/>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3854570" y="908751"/>
              <a:ext cx="2611337" cy="666960"/>
              <a:chOff x="5950383" y="2875642"/>
              <a:chExt cx="2611337" cy="666960"/>
            </a:xfrm>
          </p:grpSpPr>
          <p:cxnSp>
            <p:nvCxnSpPr>
              <p:cNvPr id="41" name="直接连接符 40"/>
              <p:cNvCxnSpPr/>
              <p:nvPr/>
            </p:nvCxnSpPr>
            <p:spPr>
              <a:xfrm flipV="1">
                <a:off x="5950383" y="2875642"/>
                <a:ext cx="0" cy="66696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rot="10800000" flipH="1">
                <a:off x="7275253" y="3473626"/>
                <a:ext cx="1286467"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grpSp>
        <p:sp>
          <p:nvSpPr>
            <p:cNvPr id="21" name="文本框 20"/>
            <p:cNvSpPr txBox="1"/>
            <p:nvPr/>
          </p:nvSpPr>
          <p:spPr>
            <a:xfrm>
              <a:off x="3840773" y="1354544"/>
              <a:ext cx="2680970" cy="1579880"/>
            </a:xfrm>
            <a:prstGeom prst="rect">
              <a:avLst/>
            </a:prstGeom>
            <a:noFill/>
          </p:spPr>
          <p:txBody>
            <a:bodyPr wrap="square" rtlCol="0">
              <a:noAutofit/>
            </a:bodyPr>
            <a:lstStyle/>
            <a:p>
              <a:r>
                <a:rPr lang="zh-CN" altLang="en-US" sz="9600" dirty="0">
                  <a:solidFill>
                    <a:srgbClr val="945043"/>
                  </a:solidFill>
                  <a:latin typeface="汉仪长美黑简" panose="02010609000101010101" pitchFamily="49" charset="-122"/>
                  <a:ea typeface="汉仪长美黑简" panose="02010609000101010101" pitchFamily="49" charset="-122"/>
                </a:rPr>
                <a:t>结语</a:t>
              </a:r>
              <a:endParaRPr lang="zh-CN" altLang="en-US">
                <a:latin typeface="汉仪长美黑简" panose="02010609000101010101" pitchFamily="49" charset="-122"/>
                <a:ea typeface="汉仪长美黑简" panose="02010609000101010101" pitchFamily="49" charset="-122"/>
              </a:endParaRPr>
            </a:p>
          </p:txBody>
        </p:sp>
        <p:grpSp>
          <p:nvGrpSpPr>
            <p:cNvPr id="27" name="组合 26"/>
            <p:cNvGrpSpPr/>
            <p:nvPr/>
          </p:nvGrpSpPr>
          <p:grpSpPr>
            <a:xfrm>
              <a:off x="4628747" y="1092787"/>
              <a:ext cx="1953726" cy="1873250"/>
              <a:chOff x="9800441" y="999099"/>
              <a:chExt cx="1953726" cy="1873250"/>
            </a:xfrm>
          </p:grpSpPr>
          <p:cxnSp>
            <p:nvCxnSpPr>
              <p:cNvPr id="14" name="直接连接符 13"/>
              <p:cNvCxnSpPr/>
              <p:nvPr/>
            </p:nvCxnSpPr>
            <p:spPr>
              <a:xfrm>
                <a:off x="9800441" y="1141142"/>
                <a:ext cx="949791" cy="0"/>
              </a:xfrm>
              <a:prstGeom prst="line">
                <a:avLst/>
              </a:prstGeom>
              <a:ln w="19050">
                <a:solidFill>
                  <a:srgbClr val="945043"/>
                </a:solidFill>
                <a:prstDash val="sys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11747182" y="999099"/>
                <a:ext cx="6985" cy="1873250"/>
              </a:xfrm>
              <a:prstGeom prst="line">
                <a:avLst/>
              </a:prstGeom>
              <a:ln w="19050">
                <a:solidFill>
                  <a:srgbClr val="945043"/>
                </a:solidFill>
                <a:prstDash val="sysDash"/>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rot="10800000">
              <a:off x="3741553" y="1354549"/>
              <a:ext cx="1951171" cy="1669385"/>
              <a:chOff x="6792431" y="1477946"/>
              <a:chExt cx="1951171" cy="1669385"/>
            </a:xfrm>
          </p:grpSpPr>
          <p:cxnSp>
            <p:nvCxnSpPr>
              <p:cNvPr id="24" name="直接连接符 23"/>
              <p:cNvCxnSpPr/>
              <p:nvPr/>
            </p:nvCxnSpPr>
            <p:spPr>
              <a:xfrm rot="10800000" flipH="1">
                <a:off x="6792431" y="1477946"/>
                <a:ext cx="779002" cy="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10800000" flipH="1" flipV="1">
                <a:off x="8743602" y="2138553"/>
                <a:ext cx="0" cy="1008778"/>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grpSp>
        <p:cxnSp>
          <p:nvCxnSpPr>
            <p:cNvPr id="29" name="直接连接符 28"/>
            <p:cNvCxnSpPr/>
            <p:nvPr/>
          </p:nvCxnSpPr>
          <p:spPr>
            <a:xfrm flipH="1">
              <a:off x="3554417" y="2339877"/>
              <a:ext cx="0" cy="68400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3916197" y="2169385"/>
              <a:ext cx="0" cy="540000"/>
            </a:xfrm>
            <a:prstGeom prst="line">
              <a:avLst/>
            </a:prstGeom>
            <a:ln w="19050">
              <a:solidFill>
                <a:srgbClr val="945043"/>
              </a:solidFill>
              <a:prstDash val="sys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6465247" y="2363292"/>
              <a:ext cx="0" cy="50400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sp>
          <p:nvSpPr>
            <p:cNvPr id="47" name="椭圆 46"/>
            <p:cNvSpPr/>
            <p:nvPr/>
          </p:nvSpPr>
          <p:spPr>
            <a:xfrm>
              <a:off x="6690853" y="1092324"/>
              <a:ext cx="318770" cy="318135"/>
            </a:xfrm>
            <a:prstGeom prst="ellipse">
              <a:avLst/>
            </a:prstGeom>
            <a:noFill/>
            <a:ln w="19050">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8805C"/>
                </a:solidFill>
                <a:latin typeface="微软雅黑" panose="020B0503020204020204" pitchFamily="34" charset="-122"/>
                <a:ea typeface="微软雅黑" panose="020B0503020204020204" pitchFamily="34" charset="-122"/>
              </a:endParaRPr>
            </a:p>
          </p:txBody>
        </p:sp>
        <p:pic>
          <p:nvPicPr>
            <p:cNvPr id="50" name="图片 49"/>
            <p:cNvPicPr>
              <a:picLocks noChangeAspect="1"/>
            </p:cNvPicPr>
            <p:nvPr/>
          </p:nvPicPr>
          <p:blipFill>
            <a:blip r:embed="rId3" cstate="screen"/>
            <a:stretch>
              <a:fillRect/>
            </a:stretch>
          </p:blipFill>
          <p:spPr>
            <a:xfrm rot="16438735">
              <a:off x="2371583" y="345564"/>
              <a:ext cx="1329690" cy="1125855"/>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l="-20" r="-20"/>
          </a:stretch>
        </a:blipFill>
        <a:effectLst/>
      </p:bgPr>
    </p:bg>
    <p:spTree>
      <p:nvGrpSpPr>
        <p:cNvPr id="1" name=""/>
        <p:cNvGrpSpPr/>
        <p:nvPr/>
      </p:nvGrpSpPr>
      <p:grpSpPr>
        <a:xfrm>
          <a:off x="0" y="0"/>
          <a:ext cx="0" cy="0"/>
          <a:chOff x="0" y="0"/>
          <a:chExt cx="0" cy="0"/>
        </a:xfrm>
      </p:grpSpPr>
      <p:sp>
        <p:nvSpPr>
          <p:cNvPr id="8" name="椭圆 7"/>
          <p:cNvSpPr/>
          <p:nvPr/>
        </p:nvSpPr>
        <p:spPr>
          <a:xfrm>
            <a:off x="1680992" y="4021823"/>
            <a:ext cx="596900" cy="596900"/>
          </a:xfrm>
          <a:prstGeom prst="ellipse">
            <a:avLst/>
          </a:prstGeom>
          <a:noFill/>
          <a:ln w="28575">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8805C"/>
              </a:solidFill>
              <a:latin typeface="微软雅黑" panose="020B0503020204020204" pitchFamily="34" charset="-122"/>
              <a:ea typeface="微软雅黑" panose="020B0503020204020204" pitchFamily="34" charset="-122"/>
            </a:endParaRPr>
          </a:p>
        </p:txBody>
      </p:sp>
      <p:sp>
        <p:nvSpPr>
          <p:cNvPr id="9" name="椭圆 8"/>
          <p:cNvSpPr/>
          <p:nvPr/>
        </p:nvSpPr>
        <p:spPr>
          <a:xfrm>
            <a:off x="2087392" y="4736411"/>
            <a:ext cx="110912" cy="110912"/>
          </a:xfrm>
          <a:prstGeom prst="ellipse">
            <a:avLst/>
          </a:prstGeom>
          <a:noFill/>
          <a:ln w="19050">
            <a:solidFill>
              <a:srgbClr val="9450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8805C"/>
              </a:solidFill>
              <a:latin typeface="微软雅黑" panose="020B0503020204020204" pitchFamily="34" charset="-122"/>
              <a:ea typeface="微软雅黑" panose="020B0503020204020204" pitchFamily="34" charset="-122"/>
            </a:endParaRPr>
          </a:p>
        </p:txBody>
      </p:sp>
      <p:sp>
        <p:nvSpPr>
          <p:cNvPr id="10" name="椭圆 9"/>
          <p:cNvSpPr/>
          <p:nvPr/>
        </p:nvSpPr>
        <p:spPr>
          <a:xfrm>
            <a:off x="5440192" y="1665973"/>
            <a:ext cx="725714" cy="725714"/>
          </a:xfrm>
          <a:prstGeom prst="ellipse">
            <a:avLst/>
          </a:prstGeom>
          <a:noFill/>
          <a:ln w="28575">
            <a:solidFill>
              <a:srgbClr val="9450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8805C"/>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1909439" y="1445986"/>
            <a:ext cx="1157216" cy="2365589"/>
            <a:chOff x="7120009" y="999213"/>
            <a:chExt cx="1157216" cy="2365589"/>
          </a:xfrm>
        </p:grpSpPr>
        <p:cxnSp>
          <p:nvCxnSpPr>
            <p:cNvPr id="37" name="直接连接符 36"/>
            <p:cNvCxnSpPr/>
            <p:nvPr/>
          </p:nvCxnSpPr>
          <p:spPr>
            <a:xfrm>
              <a:off x="7120009" y="1014453"/>
              <a:ext cx="180000"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7135293" y="999213"/>
              <a:ext cx="0" cy="2365589"/>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7125768" y="3347380"/>
              <a:ext cx="1151457"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a:xfrm rot="10800000">
            <a:off x="3854506" y="1439636"/>
            <a:ext cx="1292225" cy="2365589"/>
            <a:chOff x="7120009" y="999213"/>
            <a:chExt cx="1292225" cy="2365589"/>
          </a:xfrm>
        </p:grpSpPr>
        <p:cxnSp>
          <p:nvCxnSpPr>
            <p:cNvPr id="34" name="直接连接符 33"/>
            <p:cNvCxnSpPr/>
            <p:nvPr/>
          </p:nvCxnSpPr>
          <p:spPr>
            <a:xfrm rot="10800000" flipH="1">
              <a:off x="7120009" y="1014453"/>
              <a:ext cx="377825"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7135293" y="999213"/>
              <a:ext cx="0" cy="2365589"/>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rot="10800000" flipH="1">
              <a:off x="7125767" y="3360080"/>
              <a:ext cx="1286467" cy="0"/>
            </a:xfrm>
            <a:prstGeom prst="line">
              <a:avLst/>
            </a:prstGeom>
            <a:ln w="38100">
              <a:solidFill>
                <a:srgbClr val="A8805C"/>
              </a:solidFill>
            </a:ln>
          </p:spPr>
          <p:style>
            <a:lnRef idx="1">
              <a:schemeClr val="accent1"/>
            </a:lnRef>
            <a:fillRef idx="0">
              <a:schemeClr val="accent1"/>
            </a:fillRef>
            <a:effectRef idx="0">
              <a:schemeClr val="accent1"/>
            </a:effectRef>
            <a:fontRef idx="minor">
              <a:schemeClr val="tx1"/>
            </a:fontRef>
          </p:style>
        </p:cxnSp>
      </p:grpSp>
      <p:sp>
        <p:nvSpPr>
          <p:cNvPr id="13" name="文本框 12"/>
          <p:cNvSpPr txBox="1"/>
          <p:nvPr/>
        </p:nvSpPr>
        <p:spPr>
          <a:xfrm>
            <a:off x="3509247" y="2027310"/>
            <a:ext cx="700088" cy="1630045"/>
          </a:xfrm>
          <a:prstGeom prst="rect">
            <a:avLst/>
          </a:prstGeom>
          <a:noFill/>
        </p:spPr>
        <p:txBody>
          <a:bodyPr wrap="square" rtlCol="0">
            <a:spAutoFit/>
          </a:bodyPr>
          <a:lstStyle/>
          <a:p>
            <a:r>
              <a:rPr lang="zh-CN" altLang="en-US" sz="10000" dirty="0">
                <a:solidFill>
                  <a:srgbClr val="945043"/>
                </a:solidFill>
                <a:latin typeface="汉仪长美黑简" panose="02010609000101010101" pitchFamily="49" charset="-122"/>
                <a:ea typeface="汉仪长美黑简" panose="02010609000101010101" pitchFamily="49" charset="-122"/>
              </a:rPr>
              <a:t>告</a:t>
            </a:r>
            <a:endParaRPr lang="zh-CN" altLang="en-US" sz="10000" dirty="0">
              <a:solidFill>
                <a:srgbClr val="945043"/>
              </a:solidFill>
              <a:latin typeface="汉仪长美黑简" panose="02010609000101010101" pitchFamily="49" charset="-122"/>
              <a:ea typeface="汉仪长美黑简" panose="02010609000101010101" pitchFamily="49" charset="-122"/>
            </a:endParaRPr>
          </a:p>
        </p:txBody>
      </p:sp>
      <p:sp>
        <p:nvSpPr>
          <p:cNvPr id="14" name="文本框 13"/>
          <p:cNvSpPr txBox="1"/>
          <p:nvPr/>
        </p:nvSpPr>
        <p:spPr>
          <a:xfrm>
            <a:off x="3657983" y="3410897"/>
            <a:ext cx="700088" cy="1322070"/>
          </a:xfrm>
          <a:prstGeom prst="rect">
            <a:avLst/>
          </a:prstGeom>
          <a:noFill/>
        </p:spPr>
        <p:txBody>
          <a:bodyPr wrap="square" rtlCol="0">
            <a:spAutoFit/>
          </a:bodyPr>
          <a:lstStyle/>
          <a:p>
            <a:r>
              <a:rPr lang="zh-CN" altLang="en-US" sz="8000" dirty="0">
                <a:solidFill>
                  <a:srgbClr val="A8805C"/>
                </a:solidFill>
                <a:latin typeface="汉仪长美黑简" panose="02010609000101010101" pitchFamily="49" charset="-122"/>
                <a:ea typeface="汉仪长美黑简" panose="02010609000101010101" pitchFamily="49" charset="-122"/>
              </a:rPr>
              <a:t>结</a:t>
            </a:r>
            <a:endParaRPr lang="zh-CN" altLang="en-US">
              <a:latin typeface="汉仪长美黑简" panose="02010609000101010101" pitchFamily="49" charset="-122"/>
              <a:ea typeface="汉仪长美黑简" panose="02010609000101010101" pitchFamily="49" charset="-122"/>
            </a:endParaRPr>
          </a:p>
        </p:txBody>
      </p:sp>
      <p:sp>
        <p:nvSpPr>
          <p:cNvPr id="15" name="文本框 14"/>
          <p:cNvSpPr txBox="1"/>
          <p:nvPr/>
        </p:nvSpPr>
        <p:spPr>
          <a:xfrm>
            <a:off x="3642108" y="4370793"/>
            <a:ext cx="700088" cy="1322070"/>
          </a:xfrm>
          <a:prstGeom prst="rect">
            <a:avLst/>
          </a:prstGeom>
          <a:noFill/>
        </p:spPr>
        <p:txBody>
          <a:bodyPr wrap="square" rtlCol="0">
            <a:spAutoFit/>
          </a:bodyPr>
          <a:lstStyle/>
          <a:p>
            <a:r>
              <a:rPr lang="zh-CN" altLang="en-US" sz="8000" dirty="0">
                <a:solidFill>
                  <a:srgbClr val="A8805C"/>
                </a:solidFill>
                <a:latin typeface="汉仪长美黑简" panose="02010609000101010101" pitchFamily="49" charset="-122"/>
                <a:ea typeface="汉仪长美黑简" panose="02010609000101010101" pitchFamily="49" charset="-122"/>
              </a:rPr>
              <a:t>束</a:t>
            </a:r>
            <a:endParaRPr lang="zh-CN" altLang="en-US" sz="8000" dirty="0">
              <a:solidFill>
                <a:srgbClr val="A8805C"/>
              </a:solidFill>
              <a:latin typeface="汉仪长美黑简" panose="02010609000101010101" pitchFamily="49" charset="-122"/>
              <a:ea typeface="汉仪长美黑简" panose="02010609000101010101" pitchFamily="49" charset="-122"/>
            </a:endParaRPr>
          </a:p>
        </p:txBody>
      </p:sp>
      <p:grpSp>
        <p:nvGrpSpPr>
          <p:cNvPr id="19" name="组合 18"/>
          <p:cNvGrpSpPr/>
          <p:nvPr/>
        </p:nvGrpSpPr>
        <p:grpSpPr>
          <a:xfrm>
            <a:off x="4008027" y="1589382"/>
            <a:ext cx="949791" cy="1658517"/>
            <a:chOff x="9329271" y="1142609"/>
            <a:chExt cx="949791" cy="1658517"/>
          </a:xfrm>
        </p:grpSpPr>
        <p:cxnSp>
          <p:nvCxnSpPr>
            <p:cNvPr id="32" name="直接连接符 31"/>
            <p:cNvCxnSpPr/>
            <p:nvPr/>
          </p:nvCxnSpPr>
          <p:spPr>
            <a:xfrm>
              <a:off x="9329271" y="1153207"/>
              <a:ext cx="949791" cy="0"/>
            </a:xfrm>
            <a:prstGeom prst="line">
              <a:avLst/>
            </a:prstGeom>
            <a:ln w="19050">
              <a:solidFill>
                <a:srgbClr val="945043"/>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0279062" y="1142609"/>
              <a:ext cx="0" cy="1658517"/>
            </a:xfrm>
            <a:prstGeom prst="line">
              <a:avLst/>
            </a:prstGeom>
            <a:ln w="19050">
              <a:solidFill>
                <a:srgbClr val="945043"/>
              </a:solidFill>
              <a:prstDash val="sysDash"/>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rot="10800000">
            <a:off x="2056543" y="2703579"/>
            <a:ext cx="779003" cy="1008778"/>
            <a:chOff x="9500059" y="1142608"/>
            <a:chExt cx="779003" cy="1008778"/>
          </a:xfrm>
        </p:grpSpPr>
        <p:cxnSp>
          <p:nvCxnSpPr>
            <p:cNvPr id="30" name="直接连接符 29"/>
            <p:cNvCxnSpPr/>
            <p:nvPr/>
          </p:nvCxnSpPr>
          <p:spPr>
            <a:xfrm rot="10800000" flipH="1">
              <a:off x="9500059" y="1153207"/>
              <a:ext cx="779002" cy="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rot="10800000" flipH="1" flipV="1">
              <a:off x="10279062" y="1142608"/>
              <a:ext cx="0" cy="1008778"/>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grpSp>
      <p:cxnSp>
        <p:nvCxnSpPr>
          <p:cNvPr id="22" name="直接连接符 21"/>
          <p:cNvCxnSpPr/>
          <p:nvPr/>
        </p:nvCxnSpPr>
        <p:spPr>
          <a:xfrm flipH="1">
            <a:off x="4757617" y="2770258"/>
            <a:ext cx="0" cy="612000"/>
          </a:xfrm>
          <a:prstGeom prst="line">
            <a:avLst/>
          </a:prstGeom>
          <a:ln w="19050">
            <a:solidFill>
              <a:srgbClr val="945043"/>
            </a:solidFill>
            <a:prstDash val="sys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3861524" y="3789985"/>
            <a:ext cx="0" cy="57600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4575232" y="5090112"/>
            <a:ext cx="0" cy="21600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5393369" y="2549913"/>
            <a:ext cx="110912" cy="110912"/>
          </a:xfrm>
          <a:prstGeom prst="ellipse">
            <a:avLst/>
          </a:prstGeom>
          <a:noFill/>
          <a:ln w="19050">
            <a:solidFill>
              <a:srgbClr val="A8805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A8805C"/>
              </a:solidFill>
              <a:latin typeface="微软雅黑" panose="020B0503020204020204" pitchFamily="34" charset="-122"/>
              <a:ea typeface="微软雅黑" panose="020B0503020204020204" pitchFamily="34" charset="-122"/>
            </a:endParaRPr>
          </a:p>
        </p:txBody>
      </p:sp>
      <p:sp>
        <p:nvSpPr>
          <p:cNvPr id="27" name="矩形 26"/>
          <p:cNvSpPr/>
          <p:nvPr/>
        </p:nvSpPr>
        <p:spPr>
          <a:xfrm>
            <a:off x="2230171" y="2612060"/>
            <a:ext cx="1492916" cy="1076325"/>
          </a:xfrm>
          <a:prstGeom prst="rect">
            <a:avLst/>
          </a:prstGeom>
        </p:spPr>
        <p:txBody>
          <a:bodyPr wrap="square">
            <a:spAutoFit/>
          </a:bodyPr>
          <a:lstStyle/>
          <a:p>
            <a:r>
              <a:rPr lang="zh-CN" altLang="en-US" sz="1600" dirty="0">
                <a:solidFill>
                  <a:srgbClr val="945043"/>
                </a:solidFill>
                <a:latin typeface="微软雅黑" panose="020B0503020204020204" pitchFamily="34" charset="-122"/>
                <a:ea typeface="微软雅黑" panose="020B0503020204020204" pitchFamily="34" charset="-122"/>
              </a:rPr>
              <a:t>《给阿嬷的情书》爆火的传播现象多理论分析报告</a:t>
            </a:r>
            <a:endParaRPr lang="zh-CN" altLang="en-US" sz="1600" dirty="0">
              <a:solidFill>
                <a:srgbClr val="945043"/>
              </a:solidFill>
              <a:latin typeface="微软雅黑" panose="020B0503020204020204" pitchFamily="34" charset="-122"/>
              <a:ea typeface="微软雅黑" panose="020B0503020204020204" pitchFamily="34" charset="-122"/>
            </a:endParaRPr>
          </a:p>
        </p:txBody>
      </p:sp>
      <p:pic>
        <p:nvPicPr>
          <p:cNvPr id="28" name="图片 27"/>
          <p:cNvPicPr>
            <a:picLocks noChangeAspect="1"/>
          </p:cNvPicPr>
          <p:nvPr/>
        </p:nvPicPr>
        <p:blipFill>
          <a:blip r:embed="rId2" cstate="screen"/>
          <a:stretch>
            <a:fillRect/>
          </a:stretch>
        </p:blipFill>
        <p:spPr>
          <a:xfrm rot="16438735">
            <a:off x="1175501" y="759031"/>
            <a:ext cx="1161550" cy="983093"/>
          </a:xfrm>
          <a:prstGeom prst="rect">
            <a:avLst/>
          </a:prstGeom>
        </p:spPr>
      </p:pic>
      <p:sp>
        <p:nvSpPr>
          <p:cNvPr id="29" name="文本框 28"/>
          <p:cNvSpPr txBox="1"/>
          <p:nvPr/>
        </p:nvSpPr>
        <p:spPr>
          <a:xfrm>
            <a:off x="2118985" y="544169"/>
            <a:ext cx="700088" cy="1938020"/>
          </a:xfrm>
          <a:prstGeom prst="rect">
            <a:avLst/>
          </a:prstGeom>
          <a:noFill/>
        </p:spPr>
        <p:txBody>
          <a:bodyPr wrap="square" rtlCol="0">
            <a:spAutoFit/>
          </a:bodyPr>
          <a:lstStyle/>
          <a:p>
            <a:r>
              <a:rPr lang="zh-CN" altLang="en-US" sz="12000" dirty="0">
                <a:solidFill>
                  <a:srgbClr val="A8805C"/>
                </a:solidFill>
                <a:latin typeface="汉仪长美黑简" panose="02010609000101010101" pitchFamily="49" charset="-122"/>
                <a:ea typeface="汉仪长美黑简" panose="02010609000101010101" pitchFamily="49" charset="-122"/>
              </a:rPr>
              <a:t>报</a:t>
            </a:r>
            <a:endParaRPr lang="zh-CN" altLang="en-US">
              <a:latin typeface="汉仪长美黑简" panose="02010609000101010101" pitchFamily="49" charset="-122"/>
              <a:ea typeface="汉仪长美黑简" panose="02010609000101010101" pitchFamily="49" charset="-122"/>
            </a:endParaRPr>
          </a:p>
        </p:txBody>
      </p:sp>
      <p:cxnSp>
        <p:nvCxnSpPr>
          <p:cNvPr id="40" name="直接连接符 39"/>
          <p:cNvCxnSpPr/>
          <p:nvPr/>
        </p:nvCxnSpPr>
        <p:spPr>
          <a:xfrm flipH="1">
            <a:off x="2423467" y="1074013"/>
            <a:ext cx="0" cy="540000"/>
          </a:xfrm>
          <a:prstGeom prst="line">
            <a:avLst/>
          </a:prstGeom>
          <a:ln w="19050">
            <a:solidFill>
              <a:srgbClr val="A8805C"/>
            </a:solidFill>
            <a:prstDash val="sys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COMMONDATA" val="eyJjb3VudCI6MSwiaGRpZCI6IjUxOWZjYjJjMDJhZDNkZGE3ZjhhYTkyMmEyOGZhY2IzIiwidXNlckNvdW50IjoxfQ=="/>
  <p:tag name="KSO_WPP_MARK_KEY" val="04d08fe5-53e0-4289-8286-4f7681313f70"/>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4110</Words>
  <Application>WPS 演示</Application>
  <PresentationFormat>宽屏</PresentationFormat>
  <Paragraphs>228</Paragraphs>
  <Slides>19</Slides>
  <Notes>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19</vt:i4>
      </vt:variant>
    </vt:vector>
  </HeadingPairs>
  <TitlesOfParts>
    <vt:vector size="33" baseType="lpstr">
      <vt:lpstr>Arial</vt:lpstr>
      <vt:lpstr>宋体</vt:lpstr>
      <vt:lpstr>Wingdings</vt:lpstr>
      <vt:lpstr>微软雅黑</vt:lpstr>
      <vt:lpstr>Wingdings</vt:lpstr>
      <vt:lpstr>Arial</vt:lpstr>
      <vt:lpstr>汉仪长美黑简</vt:lpstr>
      <vt:lpstr>黑体</vt:lpstr>
      <vt:lpstr>华文仿宋</vt:lpstr>
      <vt:lpstr>汉仪长美黑简</vt:lpstr>
      <vt:lpstr>Arial Unicode MS</vt:lpstr>
      <vt:lpstr>等线 Light</vt:lpstr>
      <vt:lpstr>第一PPT，www.1ppt.com</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插画风</dc:title>
  <dc:creator>第一PPT</dc:creator>
  <cp:keywords>www.1ppt.com</cp:keywords>
  <dc:description>www.1ppt.com</dc:description>
  <cp:lastModifiedBy>麻将桌四缺一</cp:lastModifiedBy>
  <cp:revision>1</cp:revision>
  <dcterms:created xsi:type="dcterms:W3CDTF">2026-06-14T17:00:04Z</dcterms:created>
  <dcterms:modified xsi:type="dcterms:W3CDTF">2026-06-14T17:00:05Z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68A999E2E82B4C1F96CB788E2BBAF27C</vt:lpwstr>
  </property>
  <property fmtid="{D5CDD505-2E9C-101B-9397-08002B2CF9AE}" pid="3" name="KSOProductBuildVer">
    <vt:lpwstr>2052-12.1.0.22175</vt:lpwstr>
  </property>
  <property fmtid="{D5CDD505-2E9C-101B-9397-08002B2CF9AE}" pid="4" name="KSOTemplateUUID">
    <vt:lpwstr>v1.0_mb_xGbiQEIhdXLV3yEqoExMKw==</vt:lpwstr>
  </property>
</Properties>
</file>