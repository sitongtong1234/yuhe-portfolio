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67" r:id="rId9"/>
    <p:sldId id="263" r:id="rId10"/>
    <p:sldId id="259" r:id="rId11"/>
    <p:sldId id="260" r:id="rId12"/>
    <p:sldId id="261" r:id="rId13"/>
    <p:sldId id="26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9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大家好，今天我将和大家一起回顾一个充满激情与创造力的时代——Web 2.0的黄金年代。这不仅仅是一次技术的升级，更是一场深刻的文化革命，它赋予了每个普通人改变文化版图的力量。让我们一起回到那个起点，探寻这场革命的缘起、发展与回响。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先从两个故事开始。左边是ZUN，一个普通的程序员，他用业余时间创造了庞大的“东方Project”世界。右边是奈须蘑菇，一个热爱写作的少年，他和朋友一起打造了“型月”这个如今家喻户晓的IP。他们都不是商业巨头，只是热爱创作的普通人。那么，他们是如何做到让自己的作品引爆全球的呢？这背后隐藏着一个时代的密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答案的关键词，就是Web 2.0。它不仅仅是技术升级，更是一场深刻的文化平权运动。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在Web 1.0时代，我们只是信息的消费者，是“只读”的互联网；而在Web 2.0时代，我们成为了内容的创造者，是“读写”的互联网。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什么说它是“文化平权运动”？因为它做到了四件事：打破了精英对文化生产的垄断，将工具交给大众；极大地降低了创作门槛，让每个人都能表达；让传播不再依赖中心化媒体，而是靠大家的分享；更让无数小众的兴趣和文化找到了栖息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总结来说，Web 2.0改变了文化生产的关系，赋予了每一个个体前所未有的力量。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答案的关键词，就是Web 2.0。它不仅仅是技术升级，更是一场深刻的文化平权运动。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在Web 1.0时代，我们只是信息的消费者，是“只读”的互联网；而在Web 2.0时代，我们成为了内容的创造者，是“读写”的互联网。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什么说它是“文化平权运动”？因为它做到了四件事：打破了精英对文化生产的垄断，将工具交给大众；极大地降低了创作门槛，让每个人都能表达；让传播不再依赖中心化媒体，而是靠大家的分享；更让无数小众的兴趣和文化找到了栖息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总结来说，Web 2.0改变了文化生产的关系，赋予了每一个个体前所未有的力量。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这三大奇迹看似不同，却共享着相同的“Web 2.0基因”。首先是“不完美”的本真魅力，简陋的制作反而拉近了与粉丝的距离。其次是对粉丝二次创作的开放，让IP成为一个共创的平台。最后是它们都遵循了从边缘到中心的社群传播路径。这些共同特征，正是它们成功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Web 2.0的第一件武器，是生产工具的下放。过去，写文章需要懂代码，画画需要昂贵的工具，做视频更是专业领域。但在Web 2.0时代，简单的博客、廉价的数位板、易用的剪辑软件，让创作的门槛被彻底踏平。每个人都可以成为作家、画家、导演。这就是技术赋能的力量。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第二件武器，是连接方式的变革。过去，我们围着门户网站转，被动接受信息。而Web 2.0带来了兴趣社群，比如早期的博客和百度贴吧。我们不再是围绕网站，而是围绕兴趣聚集。这种新的连接方式，让拥有相同爱好的人跨越地域找到彼此，形成了一个个充满活力的文化发酵池。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第三件武器，是分发权力的转移。过去，一首歌能不能火，要看电台播不播。但在Web 2.0时代，一个“分享”按钮就能让内容病毒式传播。就像东方Project的《Bad Apple!!》，原本只是游戏配乐，却通过粉丝的二次创作，变成了一个全网流行的文化模因。传播的权力，真正交到了每一个用户手中。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那么，当我们今天谈论Web 2.0时，我们究竟在怀念什么？我们怀念的不是技术本身，而是一种精神。我们怀念那个可以自由探索、充满惊喜的互联网，怀念创作者“为爱发电”的纯粹，怀念基于兴趣建立的真实连接。在今天算法主导、流量至上的环境中，这种精神显得尤为珍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黄金时代或许已经过去，但它所证明的信念依然闪耀。今天，我们面临着AI和算法的新挑战。但Web 2.0告诉我们，文化的核心永远是人。在这个新的时代，我们能留下什么？是真诚的表达，是有深度的思考，是真实的连接，还是我们作为用户的每一次选择？这个问题，留给大家，也留给我们自己。谢谢大家。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5.png"/><Relationship Id="rId19" Type="http://schemas.openxmlformats.org/officeDocument/2006/relationships/notesSlide" Target="../notesSlides/notesSlide3.x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7.xml"/><Relationship Id="rId16" Type="http://schemas.openxmlformats.org/officeDocument/2006/relationships/image" Target="../media/image13.svg"/><Relationship Id="rId15" Type="http://schemas.openxmlformats.org/officeDocument/2006/relationships/image" Target="../media/image12.png"/><Relationship Id="rId14" Type="http://schemas.openxmlformats.org/officeDocument/2006/relationships/tags" Target="../tags/tag6.xml"/><Relationship Id="rId13" Type="http://schemas.openxmlformats.org/officeDocument/2006/relationships/image" Target="../media/image11.svg"/><Relationship Id="rId12" Type="http://schemas.openxmlformats.org/officeDocument/2006/relationships/image" Target="../media/image10.png"/><Relationship Id="rId11" Type="http://schemas.openxmlformats.org/officeDocument/2006/relationships/tags" Target="../tags/tag5.xml"/><Relationship Id="rId10" Type="http://schemas.openxmlformats.org/officeDocument/2006/relationships/image" Target="../media/image9.sv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jpeg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image" Target="../media/image15.jpeg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image" Target="../media/image17.jpeg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jpeg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image" Target="../media/image22.jpe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5.png"/><Relationship Id="rId1" Type="http://schemas.openxmlformats.org/officeDocument/2006/relationships/image" Target="../media/image24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3" Type="http://schemas.openxmlformats.org/officeDocument/2006/relationships/tags" Target="../tags/tag33.xml"/><Relationship Id="rId23" Type="http://schemas.openxmlformats.org/officeDocument/2006/relationships/notesSlide" Target="../notesSlides/notesSlide10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43.xml"/><Relationship Id="rId20" Type="http://schemas.openxmlformats.org/officeDocument/2006/relationships/image" Target="../media/image34.svg"/><Relationship Id="rId2" Type="http://schemas.openxmlformats.org/officeDocument/2006/relationships/tags" Target="../tags/tag32.xml"/><Relationship Id="rId19" Type="http://schemas.openxmlformats.org/officeDocument/2006/relationships/image" Target="../media/image33.png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image" Target="../media/image32.svg"/><Relationship Id="rId14" Type="http://schemas.openxmlformats.org/officeDocument/2006/relationships/image" Target="../media/image31.png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image" Target="../media/image30.svg"/><Relationship Id="rId1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-3439795" y="861060"/>
            <a:ext cx="12192000" cy="17602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琥珀" panose="02010800040101010101" charset="-122"/>
                <a:ea typeface="华文琥珀" panose="02010800040101010101" charset="-122"/>
                <a:cs typeface="Press Start 2P"/>
                <a:sym typeface="Press Start 2P"/>
              </a:rPr>
              <a:t>Web 2.0</a:t>
            </a:r>
            <a:endParaRPr lang="en-US" sz="9600" b="1" i="0" u="none" strike="noStrike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华文琥珀" panose="02010800040101010101" charset="-122"/>
              <a:ea typeface="华文琥珀" panose="02010800040101010101" charset="-122"/>
              <a:cs typeface="Press Start 2P"/>
              <a:sym typeface="Press Start 2P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317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cene3d>
              <a:camera prst="obliqueTopRight"/>
              <a:lightRig rig="threePt" dir="t"/>
            </a:scene3d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6600" b="1" i="0" u="none" strike="noStrike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华文行楷" panose="02010800040101010101" charset="-122"/>
                <a:ea typeface="华文行楷" panose="02010800040101010101" charset="-122"/>
                <a:cs typeface="Noto Sans SC" panose="020B0200000000000000" charset="-122"/>
                <a:sym typeface="Noto Sans SC" panose="020B0200000000000000" charset="-122"/>
              </a:rPr>
              <a:t>互联网</a:t>
            </a:r>
            <a:r>
              <a:rPr lang="en-US" sz="6600" b="1" i="0" u="none" strike="noStrike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华文行楷" panose="02010800040101010101" charset="-122"/>
                <a:ea typeface="华文行楷" panose="02010800040101010101" charset="-122"/>
                <a:cs typeface="Noto Sans SC" panose="020B0200000000000000" charset="-122"/>
                <a:sym typeface="Noto Sans SC" panose="020B0200000000000000" charset="-122"/>
              </a:rPr>
              <a:t>黄金年代的</a:t>
            </a:r>
            <a:endParaRPr lang="en-US" sz="4200" b="1" i="0" u="none" strike="noStrike">
              <a:ln w="22225">
                <a:solidFill>
                  <a:schemeClr val="accent2"/>
                </a:solidFill>
                <a:prstDash val="solid"/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华文新魏" panose="02010800040101010101" charset="-122"/>
              <a:ea typeface="华文新魏" panose="02010800040101010101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8800" b="1" i="0" u="none" strike="noStrike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华文新魏" panose="02010800040101010101" charset="-122"/>
                <a:ea typeface="华文新魏" panose="02010800040101010101" charset="-122"/>
                <a:cs typeface="Noto Sans SC" panose="020B0200000000000000" charset="-122"/>
                <a:sym typeface="Noto Sans SC" panose="020B0200000000000000" charset="-122"/>
              </a:rPr>
              <a:t>二创</a:t>
            </a:r>
            <a:r>
              <a:rPr lang="en-US" sz="8800" b="1" i="0" u="none" strike="noStrike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华文新魏" panose="02010800040101010101" charset="-122"/>
                <a:ea typeface="华文新魏" panose="02010800040101010101" charset="-122"/>
                <a:cs typeface="Noto Sans SC" panose="020B0200000000000000" charset="-122"/>
                <a:sym typeface="Noto Sans SC" panose="020B0200000000000000" charset="-122"/>
              </a:rPr>
              <a:t>革命</a:t>
            </a:r>
            <a:endParaRPr lang="en-US" sz="8800" b="1" i="0" u="none" strike="noStrike">
              <a:ln w="22225">
                <a:solidFill>
                  <a:schemeClr val="accent2"/>
                </a:solidFill>
                <a:prstDash val="solid"/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华文新魏" panose="02010800040101010101" charset="-122"/>
              <a:ea typeface="华文新魏" panose="020108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1015" y="2442210"/>
            <a:ext cx="2540000" cy="50800"/>
          </a:xfrm>
          <a:prstGeom prst="roundRect">
            <a:avLst>
              <a:gd name="adj" fmla="val 0"/>
            </a:avLst>
          </a:prstGeom>
          <a:solidFill>
            <a:srgbClr val="8A2B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-95885" y="2296795"/>
            <a:ext cx="3733800" cy="15671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演讲者：</a:t>
            </a:r>
            <a:r>
              <a:rPr lang="zh-CN" altLang="en-US" sz="2000" b="0" i="0" u="none" strike="noStrike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杨雨荷</a:t>
            </a:r>
            <a:endParaRPr lang="en-US" sz="2000" b="0" i="0" u="none" strike="noStrike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2026年5月19</a:t>
            </a:r>
            <a:r>
              <a:rPr lang="zh-CN" altLang="en-US" sz="2000" b="0" i="0" u="none" strike="noStrike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</a:t>
            </a:r>
            <a:endParaRPr lang="zh-CN" altLang="en-US" sz="2000" b="0" i="0" u="none" strike="noStrike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254000"/>
            <a:ext cx="1066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1" u="none" strike="noStrike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highlight>
                  <a:srgbClr val="FFFF00"/>
                </a:highlight>
                <a:latin typeface="隶书" panose="02010509060101010101" charset="-122"/>
                <a:ea typeface="隶书" panose="02010509060101010101" charset="-122"/>
                <a:cs typeface="Noto Sans SC" panose="020B0200000000000000" charset="-122"/>
                <a:sym typeface="Noto Sans SC" panose="020B0200000000000000" charset="-122"/>
              </a:rPr>
              <a:t>如你所见，下面这位只是一个爱喝酒，喜欢美少女，画功依托的数学专业程序员</a:t>
            </a:r>
            <a:endParaRPr lang="zh-CN" altLang="en-US" sz="3600" b="1" i="1" u="none" strike="noStrike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highlight>
                <a:srgbClr val="FFFF00"/>
              </a:highlight>
              <a:latin typeface="隶书" panose="02010509060101010101" charset="-122"/>
              <a:ea typeface="隶书" panose="020105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95960" y="1731645"/>
            <a:ext cx="8138160" cy="3302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8A2BE2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26622" r="26622"/>
          <a:stretch>
            <a:fillRect/>
          </a:stretch>
        </p:blipFill>
        <p:spPr>
          <a:xfrm>
            <a:off x="952500" y="1905000"/>
            <a:ext cx="1823720" cy="273558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3119755" y="1841500"/>
            <a:ext cx="7562850" cy="11404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900" b="1" i="0" u="none" strike="noStrike">
                <a:solidFill>
                  <a:srgbClr val="8A2BE2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ZUN与东方Project，</a:t>
            </a:r>
            <a:r>
              <a:rPr lang="en-US" sz="1900" b="1">
                <a:solidFill>
                  <a:srgbClr val="8A2BE2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一个程序员的幻想乡。</a:t>
            </a:r>
            <a:endParaRPr lang="en-US" sz="1900" b="1">
              <a:solidFill>
                <a:srgbClr val="8A2BE2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indent="0" algn="l">
              <a:lnSpc>
                <a:spcPct val="117000"/>
              </a:lnSpc>
            </a:pP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5207000"/>
            <a:ext cx="6951345" cy="1391285"/>
          </a:xfrm>
          <a:prstGeom prst="roundRect">
            <a:avLst>
              <a:gd name="adj" fmla="val 13333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5207000"/>
            <a:ext cx="101600" cy="1143000"/>
          </a:xfrm>
          <a:prstGeom prst="roundRect">
            <a:avLst>
              <a:gd name="adj" fmla="val 0"/>
            </a:avLst>
          </a:prstGeom>
          <a:solidFill>
            <a:srgbClr val="8A2B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143000" y="5334000"/>
            <a:ext cx="1003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  <a:sym typeface="Noto Sans SC" panose="020B0200000000000000" charset="-122"/>
              </a:rPr>
              <a:t>一个“普通人”的作品</a:t>
            </a:r>
            <a:endParaRPr lang="en-US" sz="3600" b="1" i="0" u="none" strike="noStrike">
              <a:solidFill>
                <a:srgbClr val="FFFFFF"/>
              </a:solidFill>
              <a:latin typeface="隶书" panose="02010509060101010101" charset="-122"/>
              <a:ea typeface="隶书" panose="02010509060101010101" charset="-122"/>
              <a:cs typeface="隶书" panose="02010509060101010101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  <a:sym typeface="Noto Sans SC" panose="020B0200000000000000" charset="-122"/>
              </a:rPr>
              <a:t>如何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  <a:sym typeface="Noto Sans SC" panose="020B0200000000000000" charset="-122"/>
              </a:rPr>
              <a:t>成为一个时代的回忆</a:t>
            </a:r>
            <a:endParaRPr lang="zh-CN" altLang="en-US" sz="3600" b="1" i="0" u="none" strike="noStrike">
              <a:solidFill>
                <a:srgbClr val="FFFFFF"/>
              </a:solidFill>
              <a:latin typeface="隶书" panose="02010509060101010101" charset="-122"/>
              <a:ea typeface="隶书" panose="02010509060101010101" charset="-122"/>
              <a:cs typeface="隶书" panose="02010509060101010101" charset="-122"/>
              <a:sym typeface="Noto Sans SC" panose="020B02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04490" y="2532380"/>
            <a:ext cx="540131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1996年，</a:t>
            </a:r>
            <a:r>
              <a:rPr lang="en-US" sz="1800" b="1">
                <a:solidFill>
                  <a:srgbClr val="4B556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普通学生太田顺也（ZUN）凭一己之力发布《东方灵异传》</a:t>
            </a:r>
            <a:endParaRPr lang="en-US" sz="1800" b="1">
              <a:solidFill>
                <a:srgbClr val="4B556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  <a:p>
            <a:r>
              <a:rPr lang="en-US" sz="1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2002年</a:t>
            </a:r>
            <a:r>
              <a:rPr lang="en-US" sz="1800" b="1">
                <a:solidFill>
                  <a:srgbClr val="4B556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，《东方红魔乡》登陆Windows平台，凭借独特的“符卡系统”和</a:t>
            </a:r>
            <a:r>
              <a:rPr lang="zh-CN" altLang="en-US" sz="1800" b="1">
                <a:solidFill>
                  <a:srgbClr val="4B556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开放性极强的世界观引发大量创作</a:t>
            </a:r>
            <a:endParaRPr lang="en-US" sz="1800" b="1">
              <a:solidFill>
                <a:srgbClr val="4B556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  <a:p>
            <a:r>
              <a:rPr lang="en-US" sz="1800" b="1">
                <a:solidFill>
                  <a:srgbClr val="4B556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他一人包办程序、剧本、美术和音乐，</a:t>
            </a:r>
            <a:r>
              <a:rPr lang="zh-CN" altLang="en-US" sz="1800" b="1">
                <a:solidFill>
                  <a:srgbClr val="4B556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开放大量的二创授权，借着互联网的东风，火遍全球</a:t>
            </a:r>
            <a:endParaRPr lang="zh-CN" altLang="en-US" sz="1800" b="1">
              <a:solidFill>
                <a:srgbClr val="4B556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</p:txBody>
      </p:sp>
      <p:pic>
        <p:nvPicPr>
          <p:cNvPr id="15" name="图片 14" descr="c2b2c5f300f781f88113d9be840c6f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435" y="1264920"/>
            <a:ext cx="4631690" cy="57905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376555" y="331470"/>
            <a:ext cx="10668000" cy="12515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隶书" panose="02010509060101010101" charset="-122"/>
                <a:ea typeface="隶书" panose="02010509060101010101" charset="-122"/>
                <a:cs typeface="Noto Sans SC" panose="020B0200000000000000" charset="-122"/>
              </a:rPr>
              <a:t>除了他个人的一些设计和坚持，最重要的一点，我觉得还是</a:t>
            </a:r>
            <a:r>
              <a:rPr lang="zh-CN" altLang="en-US" sz="36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隶书" panose="02010509060101010101" charset="-122"/>
                <a:ea typeface="隶书" panose="02010509060101010101" charset="-122"/>
                <a:cs typeface="Noto Sans SC" panose="020B0200000000000000" charset="-122"/>
              </a:rPr>
              <a:t>撞大运了</a:t>
            </a:r>
            <a:endParaRPr lang="zh-CN" altLang="en-US" sz="3600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  <a:latin typeface="隶书" panose="02010509060101010101" charset="-122"/>
              <a:ea typeface="隶书" panose="02010509060101010101" charset="-122"/>
              <a:cs typeface="Noto Sans SC" panose="020B0200000000000000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23684" b="23684"/>
          <a:stretch>
            <a:fillRect/>
          </a:stretch>
        </p:blipFill>
        <p:spPr>
          <a:xfrm>
            <a:off x="190500" y="1680845"/>
            <a:ext cx="4826000" cy="1905000"/>
          </a:xfrm>
          <a:prstGeom prst="rect">
            <a:avLst/>
          </a:prstGeom>
          <a:noFill/>
          <a:ln w="25400" cap="flat" cmpd="sng">
            <a:solidFill>
              <a:srgbClr val="8A2BE2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132715" y="3683635"/>
            <a:ext cx="11729085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377190" y="3683000"/>
            <a:ext cx="1117981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8A2BE2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🔍 什么是 Web 2.0？</a:t>
            </a:r>
            <a:endParaRPr lang="en-US" sz="1800" b="1" i="0" u="none" strike="noStrike">
              <a:solidFill>
                <a:srgbClr val="8A2BE2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sz="18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2004年</a:t>
            </a:r>
            <a:r>
              <a:rPr lang="en-US" sz="1800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。蒂姆·奥莱利（Tim O'Reilly）在这一年正式提出并命名了“Web 2.0”这个概念，标志着互联网找到了“泡沫”破裂后的新方向。</a:t>
            </a:r>
            <a:endParaRPr lang="en-US" sz="1800">
              <a:solidFill>
                <a:srgbClr val="4B5563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Web 2.0是相对Web 1.0的新一代互联网应用模式。如果说Web 1.0是“</a:t>
            </a:r>
            <a:r>
              <a:rPr lang="en-US" sz="1800" b="1" i="0" u="none" strike="noStrike">
                <a:solidFill>
                  <a:srgbClr val="EA580C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只读</a:t>
            </a:r>
            <a:r>
              <a:rPr lang="en-US" sz="1800" b="0" i="0" u="none" strike="noStrike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”的互联网，用户被动浏览；那么Web 2.0则是“</a:t>
            </a:r>
            <a:r>
              <a:rPr lang="en-US" sz="1800" b="1" i="0" u="none" strike="noStrike">
                <a:solidFill>
                  <a:srgbClr val="10B98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读写</a:t>
            </a:r>
            <a:r>
              <a:rPr lang="en-US" sz="1800" b="0" i="0" u="none" strike="noStrike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”的互联网，它强调</a:t>
            </a:r>
            <a:r>
              <a:rPr lang="en-US" sz="1800" b="1" i="0" u="none" strike="noStrike">
                <a:solidFill>
                  <a:srgbClr val="8A2BE2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用户生成内容(UGC)</a:t>
            </a:r>
            <a:r>
              <a:rPr lang="en-US" sz="1800" b="0" i="0" u="none" strike="noStrike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、</a:t>
            </a:r>
            <a:r>
              <a:rPr lang="en-US" sz="1800" b="1" i="0" u="none" strike="noStrike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参与文化</a:t>
            </a:r>
            <a:r>
              <a:rPr lang="en-US" sz="1800" b="0" i="0" u="none" strike="noStrike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和</a:t>
            </a:r>
            <a:r>
              <a:rPr lang="en-US" sz="1800" b="1" i="0" u="none" strike="noStrike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互操作性</a:t>
            </a:r>
            <a:r>
              <a:rPr lang="en-US" sz="1800" b="0" i="0" u="none" strike="noStrike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。</a:t>
            </a:r>
            <a:r>
              <a:rPr lang="zh-CN" altLang="en-US" sz="1800" b="0" i="0" u="none" strike="noStrike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即常说的</a:t>
            </a:r>
            <a:r>
              <a:rPr lang="en-US" altLang="zh-CN" sz="1800" b="0" i="0" u="none" strike="noStrike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ugc</a:t>
            </a:r>
            <a:r>
              <a:rPr lang="zh-CN" altLang="en-US" sz="1800" b="0" i="0" u="none" strike="noStrike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创作</a:t>
            </a:r>
            <a:endParaRPr lang="zh-CN" altLang="en-US" sz="1800" b="0" i="0" u="none" strike="noStrike">
              <a:solidFill>
                <a:srgbClr val="4B5563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3"/>
            </p:custDataLst>
          </p:nvPr>
        </p:nvSpPr>
        <p:spPr>
          <a:xfrm>
            <a:off x="5156200" y="1588770"/>
            <a:ext cx="2794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8A2BE2">
                <a:alpha val="3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88915" y="11684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5288915" y="1980565"/>
            <a:ext cx="2426335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70C0"/>
                </a:solidFill>
                <a:latin typeface="华文琥珀" panose="02010800040101010101" charset="-122"/>
                <a:ea typeface="华文琥珀" panose="02010800040101010101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2400" b="1">
                <a:solidFill>
                  <a:srgbClr val="0070C0"/>
                </a:solidFill>
                <a:latin typeface="华文琥珀" panose="02010800040101010101" charset="-122"/>
                <a:ea typeface="华文琥珀" panose="02010800040101010101" charset="-122"/>
              </a:rPr>
              <a:t>草根文化崛起</a:t>
            </a:r>
            <a:endParaRPr lang="zh-CN" altLang="en-US" sz="2400" b="1">
              <a:solidFill>
                <a:srgbClr val="0070C0"/>
              </a:solidFill>
              <a:latin typeface="华文琥珀" panose="02010800040101010101" charset="-122"/>
              <a:ea typeface="华文琥珀" panose="02010800040101010101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0070C0"/>
                </a:solidFill>
                <a:latin typeface="华文琥珀" panose="02010800040101010101" charset="-122"/>
                <a:ea typeface="华文琥珀" panose="02010800040101010101" charset="-122"/>
                <a:cs typeface="Noto Sans SC" panose="020B0200000000000000" charset="-122"/>
                <a:sym typeface="Noto Sans SC" panose="020B0200000000000000" charset="-122"/>
              </a:rPr>
              <a:t>2创作门槛降低</a:t>
            </a:r>
            <a:endParaRPr lang="en-US" sz="2400" b="1">
              <a:solidFill>
                <a:srgbClr val="0070C0"/>
              </a:solidFill>
              <a:latin typeface="华文琥珀" panose="02010800040101010101" charset="-122"/>
              <a:ea typeface="华文琥珀" panose="02010800040101010101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2400" b="1">
                <a:solidFill>
                  <a:srgbClr val="0070C0"/>
                </a:solidFill>
                <a:latin typeface="华文琥珀" panose="02010800040101010101" charset="-122"/>
                <a:ea typeface="华文琥珀" panose="02010800040101010101" charset="-122"/>
                <a:cs typeface="Noto Sans SC" panose="020B0200000000000000" charset="-122"/>
                <a:sym typeface="Noto Sans SC" panose="020B0200000000000000" charset="-122"/>
              </a:rPr>
              <a:t>3小众文化的春天</a:t>
            </a:r>
            <a:endParaRPr lang="en-US" sz="2400" b="1">
              <a:solidFill>
                <a:srgbClr val="0070C0"/>
              </a:solidFill>
              <a:latin typeface="华文琥珀" panose="02010800040101010101" charset="-122"/>
              <a:ea typeface="华文琥珀" panose="02010800040101010101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45200" y="1168400"/>
            <a:ext cx="355600" cy="355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01155" y="1168400"/>
            <a:ext cx="355600" cy="355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87920" y="11684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90500" y="5905500"/>
            <a:ext cx="11671935" cy="825500"/>
          </a:xfrm>
          <a:prstGeom prst="roundRect">
            <a:avLst>
              <a:gd name="adj" fmla="val 12307"/>
            </a:avLst>
          </a:prstGeom>
          <a:solidFill>
            <a:srgbClr val="8A2BE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89000" y="5969000"/>
            <a:ext cx="1066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3" name="AutoShape 13"/>
          <p:cNvSpPr/>
          <p:nvPr>
            <p:custDataLst>
              <p:tags r:id="rId17"/>
            </p:custDataLst>
          </p:nvPr>
        </p:nvSpPr>
        <p:spPr>
          <a:xfrm>
            <a:off x="8112760" y="951230"/>
            <a:ext cx="3621405" cy="263398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8A2BE2">
                <a:alpha val="3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1" name="文本框 20"/>
          <p:cNvSpPr txBox="1"/>
          <p:nvPr/>
        </p:nvSpPr>
        <p:spPr>
          <a:xfrm>
            <a:off x="8201660" y="1105535"/>
            <a:ext cx="358648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2001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互联网泡沫破裂，反而成了新旧时代交替的转折点。淘汰了投机者后，真正注重用户参与的新模式开始生根发芽。</a:t>
            </a:r>
            <a:endParaRPr lang="en-US" altLang="zh-CN" sz="1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2005-2010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。博客、视频分享、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WiKi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等应用在这一时期爆发式增长，互联网全面迈入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2.0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时代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YouTube (2005)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Niconico (2006)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Facebook (2004)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、人人网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(2005)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Wiki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2001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）、优酷土豆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4340" y="6125845"/>
            <a:ext cx="10982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FF00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</a:rPr>
              <a:t>参与式文化</a:t>
            </a:r>
            <a:r>
              <a:rPr lang="en-US" altLang="zh-CN" sz="2000">
                <a:solidFill>
                  <a:srgbClr val="FFFF00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</a:rPr>
              <a:t>/</a:t>
            </a:r>
            <a:r>
              <a:rPr lang="zh-CN" altLang="en-US" sz="2000">
                <a:solidFill>
                  <a:srgbClr val="FFFF00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</a:rPr>
              <a:t>文本盗猎者（亨利</a:t>
            </a:r>
            <a:r>
              <a:rPr lang="en-US" altLang="zh-CN" sz="2000">
                <a:solidFill>
                  <a:srgbClr val="FFFF00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</a:rPr>
              <a:t>·</a:t>
            </a:r>
            <a:r>
              <a:rPr lang="zh-CN" altLang="en-US" sz="2000">
                <a:solidFill>
                  <a:srgbClr val="FFFF00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</a:rPr>
              <a:t>詹金斯）：受众从被动的消费者转变为主动的意义生产者</a:t>
            </a:r>
            <a:endParaRPr lang="zh-CN" altLang="en-US" sz="2000">
              <a:solidFill>
                <a:srgbClr val="FFFF00"/>
              </a:solidFill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376555" y="331470"/>
            <a:ext cx="10668000" cy="12515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隶书" panose="02010509060101010101" charset="-122"/>
                <a:ea typeface="隶书" panose="02010509060101010101" charset="-122"/>
                <a:cs typeface="Noto Sans SC" panose="020B0200000000000000" charset="-122"/>
              </a:rPr>
              <a:t>这些作品为什么能有如此强大的生命力呢</a:t>
            </a:r>
            <a:endParaRPr lang="zh-CN" altLang="en-US" sz="3600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  <a:latin typeface="隶书" panose="02010509060101010101" charset="-122"/>
              <a:ea typeface="隶书" panose="02010509060101010101" charset="-122"/>
              <a:cs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32715" y="3683635"/>
            <a:ext cx="11729085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90500" y="3720465"/>
            <a:ext cx="1117981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8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在</a:t>
            </a:r>
            <a:r>
              <a:rPr lang="en-US" altLang="zh-CN" sz="18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Web 2.0</a:t>
            </a:r>
            <a:r>
              <a:rPr lang="zh-CN" altLang="en-US" sz="18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语境下</a:t>
            </a:r>
            <a:r>
              <a:rPr lang="zh-CN" altLang="en-US" sz="1800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，同人文化作为</a:t>
            </a:r>
            <a:r>
              <a:rPr lang="en-US" altLang="zh-CN" sz="1800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“</a:t>
            </a:r>
            <a:r>
              <a:rPr lang="zh-CN" altLang="en-US" sz="18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极富创造力和生命力的一类青年亚文化依托各类线上平台，呈现出高度社群化的特征</a:t>
            </a:r>
            <a:r>
              <a:rPr lang="en-US" altLang="zh-CN" sz="1800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”</a:t>
            </a:r>
            <a:r>
              <a:rPr lang="zh-CN" altLang="en-US" sz="1800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，虚拟社群为青年们提供了</a:t>
            </a:r>
            <a:r>
              <a:rPr lang="en-US" altLang="zh-CN" sz="1800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“</a:t>
            </a:r>
            <a:r>
              <a:rPr lang="zh-CN" altLang="en-US" sz="1800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新的情感互动场所</a:t>
            </a:r>
            <a:r>
              <a:rPr lang="en-US" altLang="zh-CN" sz="1800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”</a:t>
            </a:r>
            <a:r>
              <a:rPr lang="zh-CN" altLang="en-US" sz="1800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，粉丝们以浪漫化的书写共同构建起</a:t>
            </a:r>
            <a:r>
              <a:rPr lang="en-US" altLang="zh-CN" sz="1800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“</a:t>
            </a:r>
            <a:r>
              <a:rPr lang="zh-CN" altLang="en-US" sz="1800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理想化的电子乌托邦</a:t>
            </a:r>
            <a:r>
              <a:rPr lang="en-US" altLang="zh-CN" sz="1800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”</a:t>
            </a:r>
            <a:endParaRPr lang="en-US" altLang="zh-CN" sz="1800">
              <a:solidFill>
                <a:srgbClr val="4B5563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zh-CN" altLang="en-US" sz="1800" b="0" i="0" u="none" strike="noStrike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以</a:t>
            </a:r>
            <a:r>
              <a:rPr lang="en-US" altLang="zh-CN" sz="1800" b="0" i="0" u="none" strike="noStrike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Web 2.0</a:t>
            </a:r>
            <a:r>
              <a:rPr lang="zh-CN" altLang="en-US" sz="1800" b="0" i="0" u="none" strike="noStrike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为代表的新媒体技术催生了用户生成内容的理论与实践，进而演变成一种</a:t>
            </a:r>
            <a:r>
              <a:rPr lang="en-US" altLang="zh-CN" sz="1800" b="0" i="0" u="none" strike="noStrike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“</a:t>
            </a:r>
            <a:r>
              <a:rPr lang="zh-CN" altLang="en-US" sz="1800" b="0" i="0" u="none" strike="noStrike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全新的媒介文化样式</a:t>
            </a:r>
            <a:r>
              <a:rPr lang="en-US" altLang="zh-CN" sz="1800" b="0" i="0" u="none" strike="noStrike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——</a:t>
            </a:r>
            <a:r>
              <a:rPr lang="zh-CN" altLang="en-US" sz="1800" b="0" i="0" u="none" strike="noStrike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参与文化</a:t>
            </a:r>
            <a:endParaRPr lang="zh-CN" altLang="en-US" sz="1800" b="0" i="0" u="none" strike="noStrike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altLang="zh-CN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[1]</a:t>
            </a:r>
            <a:r>
              <a:rPr lang="zh-CN" altLang="en-US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姚佳怡</a:t>
            </a:r>
            <a:r>
              <a:rPr lang="en-US" altLang="zh-CN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.</a:t>
            </a:r>
            <a:r>
              <a:rPr lang="zh-CN" altLang="en-US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电子乌托邦：同人写作与粉丝社群研究</a:t>
            </a:r>
            <a:r>
              <a:rPr lang="en-US" altLang="zh-CN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[J].</a:t>
            </a:r>
            <a:r>
              <a:rPr lang="zh-CN" altLang="en-US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美与时代</a:t>
            </a:r>
            <a:r>
              <a:rPr lang="en-US" altLang="zh-CN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(</a:t>
            </a:r>
            <a:r>
              <a:rPr lang="zh-CN" altLang="en-US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下</a:t>
            </a:r>
            <a:r>
              <a:rPr lang="en-US" altLang="zh-CN">
                <a:solidFill>
                  <a:srgbClr val="4B556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),2024,(10):38-41.DOI:10.16129/j.cnki.mysdx.2024.10.027.</a:t>
            </a:r>
            <a:endParaRPr lang="zh-CN" altLang="en-US" b="0" i="0" u="none" strike="noStrike">
              <a:solidFill>
                <a:srgbClr val="4B5563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2"/>
            </p:custDataLst>
          </p:nvPr>
        </p:nvSpPr>
        <p:spPr>
          <a:xfrm>
            <a:off x="5288915" y="1980565"/>
            <a:ext cx="2426335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2400" b="1">
              <a:solidFill>
                <a:srgbClr val="0070C0"/>
              </a:solidFill>
              <a:latin typeface="华文琥珀" panose="02010800040101010101" charset="-122"/>
              <a:ea typeface="华文琥珀" panose="02010800040101010101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190500" y="5905500"/>
            <a:ext cx="11671935" cy="825500"/>
          </a:xfrm>
          <a:prstGeom prst="roundRect">
            <a:avLst>
              <a:gd name="adj" fmla="val 12307"/>
            </a:avLst>
          </a:prstGeom>
          <a:solidFill>
            <a:srgbClr val="8A2BE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89000" y="5969000"/>
            <a:ext cx="1066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3" name="AutoShape 13"/>
          <p:cNvSpPr/>
          <p:nvPr>
            <p:custDataLst>
              <p:tags r:id="rId3"/>
            </p:custDataLst>
          </p:nvPr>
        </p:nvSpPr>
        <p:spPr>
          <a:xfrm>
            <a:off x="8536940" y="1207135"/>
            <a:ext cx="3197225" cy="2378075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8A2BE2">
                <a:alpha val="3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1" name="文本框 20"/>
          <p:cNvSpPr txBox="1"/>
          <p:nvPr/>
        </p:nvSpPr>
        <p:spPr>
          <a:xfrm>
            <a:off x="8640445" y="1355725"/>
            <a:ext cx="3103880" cy="2137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月姬》、《东方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Project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》和《寒蝉鸣泣之时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》，正是常说的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三大同人奇迹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它们不仅都诞生于那个时期，而且在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2002-2004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年间集中爆发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并在之后通过用户的参与，达到广泛的宣传作用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4340" y="6125845"/>
            <a:ext cx="10982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FF00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</a:rPr>
              <a:t>媒介环境学（麦克卢汉、尼尔</a:t>
            </a:r>
            <a:r>
              <a:rPr lang="en-US" altLang="zh-CN" sz="2000">
                <a:solidFill>
                  <a:srgbClr val="FFFF00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</a:rPr>
              <a:t>·</a:t>
            </a:r>
            <a:r>
              <a:rPr lang="zh-CN" altLang="en-US" sz="2000">
                <a:solidFill>
                  <a:srgbClr val="FFFF00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</a:rPr>
              <a:t>波兹曼）：媒介技术形态深刻塑造文化生态</a:t>
            </a:r>
            <a:endParaRPr lang="zh-CN" altLang="en-US" sz="2000">
              <a:solidFill>
                <a:srgbClr val="FFFF00"/>
              </a:solidFill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9590" y="1555750"/>
            <a:ext cx="770572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阿尔文</a:t>
            </a:r>
            <a:r>
              <a:rPr lang="en-US" altLang="zh-CN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·</a:t>
            </a:r>
            <a:r>
              <a:rPr lang="zh-CN" alt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托夫勒（</a:t>
            </a:r>
            <a:r>
              <a:rPr lang="en-US" altLang="zh-CN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Alvin Toffler</a:t>
            </a:r>
            <a:r>
              <a:rPr lang="zh-CN" alt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）提出的</a:t>
            </a:r>
            <a:r>
              <a:rPr lang="en-US" altLang="zh-CN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“</a:t>
            </a:r>
            <a:r>
              <a:rPr lang="zh-CN" alt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产消者</a:t>
            </a:r>
            <a:r>
              <a:rPr lang="en-US" altLang="zh-CN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”</a:t>
            </a:r>
            <a:r>
              <a:rPr lang="zh-CN" alt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</a:t>
            </a:r>
            <a:r>
              <a:rPr lang="en-US" altLang="zh-CN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Prosumer</a:t>
            </a:r>
            <a:r>
              <a:rPr lang="zh-CN" alt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）概念，在</a:t>
            </a:r>
            <a:r>
              <a:rPr lang="en-US" altLang="zh-CN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Web 2.0</a:t>
            </a:r>
            <a:r>
              <a:rPr lang="zh-CN" alt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时代有生动体现</a:t>
            </a:r>
            <a:endParaRPr lang="zh-CN" altLang="en-US" sz="2000" b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0080"/>
              </a:highligh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在同人文化中，一个东方</a:t>
            </a:r>
            <a:r>
              <a:rPr lang="en-US" altLang="zh-CN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Project</a:t>
            </a:r>
            <a:r>
              <a:rPr lang="zh-CN" alt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的粉丝上午可能在</a:t>
            </a:r>
            <a:r>
              <a:rPr lang="en-US" altLang="zh-CN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Niconico</a:t>
            </a:r>
            <a:r>
              <a:rPr lang="zh-CN" alt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观看同人动画，下午就打开绘画软件创作自己的同人插画，晚上又将这些作品分享到社群中供他人欣赏。生产者与消费者的边界彻底模糊，形成了</a:t>
            </a:r>
            <a:r>
              <a:rPr lang="en-US" altLang="zh-CN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“</a:t>
            </a:r>
            <a:r>
              <a:rPr lang="zh-CN" alt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创作</a:t>
            </a:r>
            <a:r>
              <a:rPr lang="en-US" altLang="zh-CN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—</a:t>
            </a:r>
            <a:r>
              <a:rPr lang="zh-CN" alt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消费</a:t>
            </a:r>
            <a:r>
              <a:rPr lang="en-US" altLang="zh-CN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—</a:t>
            </a:r>
            <a:r>
              <a:rPr lang="zh-CN" alt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再创作</a:t>
            </a:r>
            <a:r>
              <a:rPr lang="en-US" altLang="zh-CN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”</a:t>
            </a:r>
            <a:r>
              <a:rPr lang="zh-CN" alt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的永续循环。直到现在</a:t>
            </a:r>
            <a:endParaRPr lang="zh-CN" altLang="en-US" sz="2000" b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0080"/>
              </a:highligh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508000" y="31051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1" u="none" strike="noStrike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highlight>
                  <a:srgbClr val="FFFF00"/>
                </a:highlight>
                <a:latin typeface="隶书" panose="02010509060101010101" charset="-122"/>
                <a:ea typeface="隶书" panose="02010509060101010101" charset="-122"/>
                <a:cs typeface="Noto Sans SC" panose="020B0200000000000000" charset="-122"/>
                <a:sym typeface="Noto Sans SC" panose="020B0200000000000000" charset="-122"/>
              </a:rPr>
              <a:t>奇迹的共性：三大同人奇迹的“Web 2.0基因”</a:t>
            </a:r>
            <a:endParaRPr lang="zh-CN" altLang="en-US" sz="3600" b="1" i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highlight>
                <a:srgbClr val="FFFF00"/>
              </a:highlight>
              <a:latin typeface="隶书" panose="02010509060101010101" charset="-122"/>
              <a:ea typeface="隶书" panose="02010509060101010101" charset="-122"/>
              <a:cs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8A2BE2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2403" r="2403"/>
          <a:stretch>
            <a:fillRect/>
          </a:stretch>
        </p:blipFill>
        <p:spPr>
          <a:xfrm>
            <a:off x="1016000" y="2032000"/>
            <a:ext cx="2794000" cy="1651000"/>
          </a:xfrm>
          <a:prstGeom prst="rect">
            <a:avLst/>
          </a:prstGeom>
          <a:noFill/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016000" y="3937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8A2B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</a:t>
            </a:r>
            <a:r>
              <a:rPr lang="zh-CN" altLang="en-US" sz="1900" b="1" i="0" u="none" strike="noStrike">
                <a:solidFill>
                  <a:srgbClr val="8A2B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独特的辨识度</a:t>
            </a:r>
            <a:endParaRPr lang="zh-CN" altLang="en-US" sz="1900" b="1" i="0" u="none" strike="noStrike">
              <a:solidFill>
                <a:srgbClr val="8A2BE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952500" y="4699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zh-CN" altLang="en-US" sz="1200" b="0" i="0" u="none" strike="noStrike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赫伯特</a:t>
            </a:r>
            <a:r>
              <a:rPr lang="en-US" altLang="zh-CN" sz="1200" b="0" i="0" u="none" strike="noStrike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</a:t>
            </a:r>
            <a:r>
              <a:rPr lang="zh-CN" altLang="en-US" sz="1200" b="0" i="0" u="none" strike="noStrike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西蒙（</a:t>
            </a:r>
            <a:r>
              <a:rPr lang="en-US" altLang="zh-CN" sz="1200" b="0" i="0" u="none" strike="noStrike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Herbert A. Simon</a:t>
            </a:r>
            <a:r>
              <a:rPr lang="zh-CN" altLang="en-US" sz="1200" b="0" i="0" u="none" strike="noStrike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）曾指出，</a:t>
            </a:r>
            <a:r>
              <a:rPr lang="zh-CN" altLang="en-US" sz="1200" b="1" i="0" u="none" strike="noStrike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信息的丰富意味着注意力的贫乏。</a:t>
            </a:r>
            <a:r>
              <a:rPr lang="zh-CN" altLang="en-US" sz="1200" b="0" i="0" u="none" strike="noStrike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在高度工业化的日本</a:t>
            </a:r>
            <a:r>
              <a:rPr lang="en-US" altLang="zh-CN" sz="1200" b="0" i="0" u="none" strike="noStrike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ACG</a:t>
            </a:r>
            <a:r>
              <a:rPr lang="zh-CN" altLang="en-US" sz="1200" b="0" i="0" u="none" strike="noStrike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产业中，大量作品追求商业插画式的精美统一风格，导致画风趋于同质化</a:t>
            </a:r>
            <a:r>
              <a:rPr lang="en-US" sz="1200" b="0" i="0" u="none" strike="noStrike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这种独特的“手作感”传递出强烈的本真性，瞬间拉近了与粉丝的距离，让粉丝觉得这是“我们自己人”创造的作品。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4445000" y="1778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8A2BE2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t="5215" b="5215"/>
          <a:stretch>
            <a:fillRect/>
          </a:stretch>
        </p:blipFill>
        <p:spPr>
          <a:xfrm>
            <a:off x="4699000" y="2032000"/>
            <a:ext cx="2794000" cy="1651000"/>
          </a:xfrm>
          <a:prstGeom prst="rect">
            <a:avLst/>
          </a:prstGeom>
          <a:noFill/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</p:pic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4699000" y="3937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8A2B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粉丝的二次创作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4635500" y="4699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创作者采取开放授权态度，鼓励粉丝进行二次创作。IP不再是封闭的商业产品，而是变成了开放的“世界观平台”。粉丝从单纯的消费者转变为核心的“共创者”，构成了IP生命力的重要基石。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8128000" y="1778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8A2BE2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t="2727" b="2727"/>
          <a:stretch>
            <a:fillRect/>
          </a:stretch>
        </p:blipFill>
        <p:spPr>
          <a:xfrm>
            <a:off x="8382000" y="2032000"/>
            <a:ext cx="2794000" cy="1651000"/>
          </a:xfrm>
          <a:prstGeom prst="rect">
            <a:avLst/>
          </a:prstGeom>
          <a:noFill/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</p:pic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8382000" y="3937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8A2B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从边缘到中心的传播路径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8318500" y="4699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它们遵循了一条独特的“同人展会 → 早期网络社群 → Web 2.0平台”传播路径，完全绕开了传统商业发行渠道，只依赖社群驱动的口碑传播，最终从亚文化的边缘地带一步步走向了主流视野的中心。</a:t>
            </a:r>
            <a:endParaRPr lang="en-US" sz="1100"/>
          </a:p>
        </p:txBody>
      </p:sp>
      <p:sp>
        <p:nvSpPr>
          <p:cNvPr id="16" name="文本框 15"/>
          <p:cNvSpPr txBox="1"/>
          <p:nvPr/>
        </p:nvSpPr>
        <p:spPr>
          <a:xfrm>
            <a:off x="431165" y="1133475"/>
            <a:ext cx="97770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伯明翰学派的文化研究传统认为，青年亚文化往往带有对主流秩序的</a:t>
            </a:r>
            <a:r>
              <a:rPr lang="en-US" altLang="zh-CN" sz="1600" b="1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 sz="1600" b="1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象征性抵抗</a:t>
            </a:r>
            <a:r>
              <a:rPr lang="en-US" altLang="zh-CN" sz="1600" b="1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lang="zh-CN" altLang="en-US" sz="1600" b="1"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。在同人文化中，这种抵抗表现为：</a:t>
            </a:r>
            <a:r>
              <a:rPr lang="zh-CN" altLang="en-US" sz="1600" b="1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对官方叙事的</a:t>
            </a:r>
            <a:r>
              <a:rPr lang="en-US" altLang="zh-CN" sz="1600" b="1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 sz="1600" b="1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盗猎</a:t>
            </a:r>
            <a:r>
              <a:rPr lang="en-US" altLang="zh-CN" sz="1600" b="1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lang="zh-CN" altLang="en-US" sz="1600" b="1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与改写、对商业审美的拒绝、对独立创作精神的坚守</a:t>
            </a:r>
            <a:r>
              <a:rPr lang="zh-CN" altLang="en-US" sz="1600" b="1"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 sz="1600" b="1">
              <a:highlight>
                <a:srgbClr val="FFFF00"/>
              </a:highligh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321945" y="178435"/>
            <a:ext cx="11430000" cy="9010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舒体" panose="02010601030101010101" charset="-122"/>
                <a:ea typeface="方正舒体" panose="02010601030101010101" charset="-122"/>
                <a:cs typeface="Noto Sans SC" panose="020B0200000000000000" charset="-122"/>
                <a:sym typeface="Noto Sans SC" panose="020B0200000000000000" charset="-122"/>
              </a:rPr>
              <a:t>生产工具的下放（技术赋能）</a:t>
            </a:r>
            <a:r>
              <a:rPr lang="zh-CN" altLang="en-US" sz="3600" b="1" i="0" u="none" strike="noStrike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舒体" panose="02010601030101010101" charset="-122"/>
                <a:ea typeface="方正舒体" panose="02010601030101010101" charset="-122"/>
                <a:cs typeface="Noto Sans SC" panose="020B0200000000000000" charset="-122"/>
                <a:sym typeface="Noto Sans SC" panose="020B0200000000000000" charset="-122"/>
              </a:rPr>
              <a:t>是推动同人文化的桨</a:t>
            </a:r>
            <a:endParaRPr lang="zh-CN" altLang="en-US" sz="3600" b="1" i="0" u="none" strike="noStrike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方正舒体" panose="02010601030101010101" charset="-122"/>
              <a:ea typeface="方正舒体" panose="0201060103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10668000" cy="1206500"/>
          </a:xfrm>
          <a:prstGeom prst="roundRect">
            <a:avLst>
              <a:gd name="adj" fmla="val 10526"/>
            </a:avLst>
          </a:prstGeom>
          <a:solidFill>
            <a:srgbClr val="141414">
              <a:alpha val="85000"/>
            </a:srgbClr>
          </a:solidFill>
          <a:ln w="25400" cap="flat" cmpd="sng">
            <a:solidFill>
              <a:srgbClr val="00F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587500"/>
            <a:ext cx="1016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技术赋能 (Technological Empowerment)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当复杂的技术变得简单、廉价、易于获取时，它就能够将创造和表达的权力从少数专业人士转移到普通大众手中，打破“专业壁垒”，开启“全民创作”的新时代。</a:t>
            </a:r>
            <a:r>
              <a:rPr lang="zh-CN" alt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（比如现在的</a:t>
            </a:r>
            <a:r>
              <a:rPr lang="en-US" altLang="zh-CN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工具，但在早期，这就是各种软件）</a:t>
            </a:r>
            <a:endParaRPr lang="zh-CN" altLang="en-US" sz="1300" b="1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l="2083" r="2083"/>
          <a:stretch>
            <a:fillRect/>
          </a:stretch>
        </p:blipFill>
        <p:spPr>
          <a:xfrm>
            <a:off x="-487680" y="2851150"/>
            <a:ext cx="5917565" cy="4631055"/>
          </a:xfrm>
          <a:prstGeom prst="rect">
            <a:avLst/>
          </a:prstGeom>
          <a:noFill/>
          <a:ln w="12700" cap="flat" cmpd="sng">
            <a:solidFill>
              <a:srgbClr val="FFFFFF">
                <a:alpha val="90000"/>
              </a:srgbClr>
            </a:solidFill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5902325" y="5473065"/>
            <a:ext cx="5805805" cy="1223010"/>
          </a:xfrm>
          <a:prstGeom prst="roundRect">
            <a:avLst>
              <a:gd name="adj" fmla="val 11111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03975" y="5696585"/>
            <a:ext cx="491553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 2.0时代的“生产工具下放”，是一场静悄悄的革命，为文化大爆发提供了最坚实的基础。</a:t>
            </a:r>
            <a:endParaRPr lang="en-US" altLang="zh-CN" sz="1800" b="1" i="0" u="none" strike="noStrike">
              <a:solidFill>
                <a:srgbClr val="11182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773420" y="2981960"/>
            <a:ext cx="593407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en-US" sz="2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highlight>
                  <a:srgbClr val="FFFF00"/>
                </a:highlight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Noto Sans SC" panose="020B0200000000000000" charset="-122"/>
              </a:rPr>
              <a:t>• 个人电脑普及：</a:t>
            </a:r>
            <a:r>
              <a:rPr lang="en-US" sz="20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highlight>
                  <a:srgbClr val="FFFF00"/>
                </a:highlight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Noto Sans SC" panose="020B0200000000000000" charset="-122"/>
              </a:rPr>
              <a:t>提供了创作的硬件基础，让“内容”有了数字载体。</a:t>
            </a:r>
            <a:endParaRPr lang="en-US" sz="20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highlight>
                <a:srgbClr val="FFFF00"/>
              </a:highlight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2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highlight>
                  <a:srgbClr val="FFFF00"/>
                </a:highlight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Noto Sans SC" panose="020B0200000000000000" charset="-122"/>
              </a:rPr>
              <a:t>• 宽带网络普及：</a:t>
            </a:r>
            <a:r>
              <a:rPr lang="en-US" sz="20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highlight>
                  <a:srgbClr val="FFFF00"/>
                </a:highlight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Noto Sans SC" panose="020B0200000000000000" charset="-122"/>
              </a:rPr>
              <a:t>打破传输瓶颈，使得大容量图文、视频的上传下载成为可能。</a:t>
            </a:r>
            <a:endParaRPr lang="en-US" sz="2000" b="0" i="0" u="none" strike="noStrike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highlight>
                <a:srgbClr val="FFFF00"/>
              </a:highlight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2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highlight>
                  <a:srgbClr val="FFFF00"/>
                </a:highlight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Noto Sans SC" panose="020B0200000000000000" charset="-122"/>
              </a:rPr>
              <a:t>• 创作软件平民化：</a:t>
            </a:r>
            <a:r>
              <a:rPr lang="en-US" sz="20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highlight>
                  <a:srgbClr val="FFFF00"/>
                </a:highlight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Noto Sans SC" panose="020B0200000000000000" charset="-122"/>
              </a:rPr>
              <a:t>从PS到Flash，工具门槛降低，人人皆可创作。</a:t>
            </a:r>
            <a:endParaRPr lang="en-US" altLang="en-US" sz="20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highlight>
                <a:srgbClr val="FFFF00"/>
              </a:highlight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11303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600" b="1" i="0" strike="noStrike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隶书" panose="02010509060101010101" charset="-122"/>
                <a:ea typeface="隶书" panose="02010509060101010101" charset="-122"/>
                <a:cs typeface="Noto Sans SC" panose="020B0200000000000000" charset="-122"/>
                <a:sym typeface="Noto Sans SC" panose="020B0200000000000000" charset="-122"/>
              </a:rPr>
              <a:t>web2.0，互联网是一个巨大的麦克卢汉</a:t>
            </a:r>
            <a:endParaRPr lang="zh-CN" altLang="en-US" sz="3600" b="1" i="0" strike="noStrike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  <a:latin typeface="隶书" panose="02010509060101010101" charset="-122"/>
              <a:ea typeface="隶书" panose="020105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75640" y="942975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FF00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114425" y="1095375"/>
            <a:ext cx="10142855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00FF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Noto Sans SC" panose="020B0200000000000000" charset="-122"/>
              </a:rPr>
              <a:t>媒介即讯息</a:t>
            </a:r>
            <a:r>
              <a:rPr lang="en-US" sz="1800" b="1" i="0" u="none" strike="noStrike">
                <a:solidFill>
                  <a:srgbClr val="FF00FF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Noto Sans SC" panose="020B0200000000000000" charset="-122"/>
              </a:rPr>
              <a:t> </a:t>
            </a:r>
            <a:r>
              <a:rPr lang="en-US" b="1" i="0" u="none" strike="noStrike">
                <a:solidFill>
                  <a:srgbClr val="FF00FF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Noto Sans SC" panose="020B0200000000000000" charset="-122"/>
              </a:rPr>
              <a:t>(The Medium is the Message)</a:t>
            </a:r>
            <a:endParaRPr lang="en-US"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由马歇尔·麦克卢汉提出：真正有意义的“讯息”，不是媒介所传递的具体内容，而是媒介本身的形式带来的社会变革与人类感知方式的重塑</a:t>
            </a:r>
            <a:r>
              <a:rPr lang="zh-CN" altLang="en-US" sz="18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，关注媒介作为环境对人类文明的塑造作用</a:t>
            </a:r>
            <a:endParaRPr lang="zh-CN" altLang="en-US" sz="1800" b="1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2"/>
            </p:custDataLst>
          </p:nvPr>
        </p:nvSpPr>
        <p:spPr>
          <a:xfrm>
            <a:off x="2655570" y="2406015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 1.0：门户网站</a:t>
            </a:r>
            <a:endParaRPr lang="en-US" sz="2000" b="1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2000" b="1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2000" b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 2.0：兴趣社群</a:t>
            </a:r>
            <a:endParaRPr lang="en-US" sz="2000" b="1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20546" r="20546"/>
          <a:stretch>
            <a:fillRect/>
          </a:stretch>
        </p:blipFill>
        <p:spPr>
          <a:xfrm>
            <a:off x="762000" y="2406015"/>
            <a:ext cx="1651000" cy="1778000"/>
          </a:xfrm>
          <a:prstGeom prst="roundRect">
            <a:avLst>
              <a:gd name="adj" fmla="val 6153"/>
            </a:avLst>
          </a:prstGeom>
          <a:noFill/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75640" y="4382770"/>
            <a:ext cx="6421755" cy="17506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兴趣社群创造了“同好”连接的新范式</a:t>
            </a:r>
            <a:endParaRPr lang="en-US" sz="2000" b="1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2000" b="1" i="0" u="none" strike="noStrike">
                <a:solidFill>
                  <a:schemeClr val="tx1">
                    <a:lumMod val="95000"/>
                    <a:lumOff val="5000"/>
                    <a:alpha val="94902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这种“媒介”本身打破了地理限制，让分散的个体能轻松找到同类，形成了充满活力的虚拟社区。它们不仅是社交场所，更成为了文化创作与传播的“发酵池”，推动了亚文化自下而上的蓬勃生长与深度连接。</a:t>
            </a:r>
            <a:endParaRPr lang="en-US" sz="2000" b="1" i="0" u="none" strike="noStrike">
              <a:solidFill>
                <a:schemeClr val="tx1">
                  <a:lumMod val="95000"/>
                  <a:lumOff val="5000"/>
                  <a:alpha val="94902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zh-CN" altLang="en-US" sz="2000" b="1" i="0" u="none" strike="noStrike">
                <a:solidFill>
                  <a:schemeClr val="tx1">
                    <a:lumMod val="95000"/>
                    <a:lumOff val="5000"/>
                    <a:alpha val="94902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削弱了旧媒介机构的把关权</a:t>
            </a:r>
            <a:endParaRPr lang="zh-CN" altLang="en-US" sz="2000" b="1" i="0" u="none" strike="noStrike">
              <a:solidFill>
                <a:schemeClr val="tx1">
                  <a:lumMod val="95000"/>
                  <a:lumOff val="5000"/>
                  <a:alpha val="94902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16" name="图片 15" descr="58ec4fb26b78fab79ea1c4b2c1b44ee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655" y="2331720"/>
            <a:ext cx="3603625" cy="51454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333333"/>
                </a:solidFill>
                <a:latin typeface="方正舒体" panose="02010601030101010101" charset="-122"/>
                <a:ea typeface="方正舒体" panose="02010601030101010101" charset="-122"/>
                <a:cs typeface="Noto Sans SC" panose="020B0200000000000000" charset="-122"/>
                <a:sym typeface="Noto Sans SC" panose="020B0200000000000000" charset="-122"/>
              </a:rPr>
              <a:t>分发权力的转移</a:t>
            </a:r>
            <a:endParaRPr lang="en-US" sz="4400">
              <a:latin typeface="方正舒体" panose="02010601030101010101" charset="-122"/>
              <a:ea typeface="方正舒体" panose="02010601030101010101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Web 2.0 的传播革命</a:t>
            </a:r>
            <a:endParaRPr lang="en-US" sz="2000" b="1" i="0" u="none" strike="noStrike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5207000" cy="3175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968" r="968"/>
          <a:stretch>
            <a:fillRect/>
          </a:stretch>
        </p:blipFill>
        <p:spPr>
          <a:xfrm>
            <a:off x="1016000" y="2286000"/>
            <a:ext cx="1778000" cy="1397000"/>
          </a:xfrm>
          <a:prstGeom prst="rect">
            <a:avLst/>
          </a:prstGeom>
          <a:noFill/>
          <a:ln w="25400" cap="flat" cmpd="sng">
            <a:solidFill>
              <a:srgbClr val="2B2F36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3048000" y="22860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A500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  <a:sym typeface="Noto Sans SC" panose="020B0200000000000000" charset="-122"/>
              </a:rPr>
              <a:t> 把关人嬗变</a:t>
            </a:r>
            <a:endParaRPr lang="en-US" sz="3200"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传播权力不再掌握在传统媒体编辑手中，每个普通用户都成为了信息的小型“把关人”与“再分发者”。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016000" y="3937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b="1" i="0" u="none" strike="noStrike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博客与社交网络上的一个简单“转发”或“分享”按钮，打破了中心化分发的壁垒，让内容传播从“线性”变为“裂变式”，开启了真正的全民传播时代。</a:t>
            </a:r>
            <a:endParaRPr lang="en-US" b="1" i="0" u="none" strike="noStrike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6223000" y="2032000"/>
            <a:ext cx="5207000" cy="3175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l="10248" r="10248"/>
          <a:stretch>
            <a:fillRect/>
          </a:stretch>
        </p:blipFill>
        <p:spPr>
          <a:xfrm>
            <a:off x="6477000" y="2286000"/>
            <a:ext cx="1778000" cy="1397000"/>
          </a:xfrm>
          <a:prstGeom prst="rect">
            <a:avLst/>
          </a:prstGeom>
          <a:noFill/>
          <a:ln w="25400" cap="flat" cmpd="sng">
            <a:solidFill>
              <a:srgbClr val="2B2F36">
                <a:alpha val="100000"/>
              </a:srgbClr>
            </a:solidFill>
            <a:prstDash val="solid"/>
            <a:round/>
          </a:ln>
        </p:spPr>
      </p:pic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8509000" y="22860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00000"/>
              </a:lnSpc>
              <a:buSzTx/>
              <a:defRPr/>
            </a:pPr>
            <a:r>
              <a:rPr lang="en-US" sz="2800" b="1" i="0" u="none" strike="noStrike">
                <a:solidFill>
                  <a:srgbClr val="FFA500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  <a:sym typeface="Noto Sans SC" panose="020B0200000000000000" charset="-122"/>
              </a:rPr>
              <a:t>模因 (Meme) 理论</a:t>
            </a:r>
            <a:endParaRPr lang="en-US" sz="2800" b="1">
              <a:solidFill>
                <a:srgbClr val="FFA500"/>
              </a:solidFill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文化信息如同基因，通过模仿在人群中自我复制并传播。互联网上广为流传的“梗”，就是数字时代最具生命力的模因。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6477000" y="3937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08000"/>
              </a:lnSpc>
              <a:spcBef>
                <a:spcPts val="800"/>
              </a:spcBef>
              <a:buSzTx/>
            </a:pPr>
            <a:r>
              <a:rPr lang="en-US" sz="1400" b="1" i="0" u="none" strike="noStrike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经由粉丝二创的黑白剪影MAD视频在Niconico走红，最终脱离游戏本体成为一个独立的亚文化符号，是模因传播的经典案例。</a:t>
            </a:r>
            <a:endParaRPr lang="en-US" sz="1400" b="1" i="0" u="none" strike="noStrike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524500"/>
            <a:ext cx="10668000" cy="1016000"/>
          </a:xfrm>
          <a:prstGeom prst="roundRect">
            <a:avLst>
              <a:gd name="adj" fmla="val 15000"/>
            </a:avLst>
          </a:prstGeom>
          <a:solidFill>
            <a:srgbClr val="FFA5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71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华文隶书" panose="02010800040101010101" charset="-122"/>
                <a:ea typeface="华文隶书" panose="02010800040101010101" charset="-122"/>
                <a:cs typeface="Noto Sans SC" panose="020B0200000000000000" charset="-122"/>
                <a:sym typeface="Noto Sans SC" panose="020B0200000000000000" charset="-122"/>
              </a:rPr>
              <a:t>分发权力的转移，彻底改变了文化产品的传播逻辑</a:t>
            </a:r>
            <a:endParaRPr lang="en-US" sz="3600">
              <a:latin typeface="华文隶书" panose="02010800040101010101" charset="-122"/>
              <a:ea typeface="华文隶书" panose="0201080004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635" y="118872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highlight>
                  <a:srgbClr val="FFFF00"/>
                </a:highlight>
                <a:latin typeface="隶书" panose="02010509060101010101" charset="-122"/>
                <a:ea typeface="隶书" panose="02010509060101010101" charset="-122"/>
                <a:cs typeface="Noto Sans SC" panose="020B0200000000000000" charset="-122"/>
              </a:rPr>
              <a:t>部分学者认为，Web 2.0的标志性文化已成为过去。学者Greg Singh在2018年的著作《</a:t>
            </a:r>
            <a:r>
              <a:rPr lang="zh-CN" altLang="en-US" sz="2400" b="1" i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highlight>
                  <a:srgbClr val="FFFF00"/>
                </a:highlight>
                <a:latin typeface="隶书" panose="02010509060101010101" charset="-122"/>
                <a:ea typeface="隶书" panose="02010509060101010101" charset="-122"/>
                <a:cs typeface="Noto Sans SC" panose="020B0200000000000000" charset="-122"/>
              </a:rPr>
              <a:t>Web 2.0的死亡</a:t>
            </a:r>
            <a:r>
              <a:rPr lang="zh-CN" altLang="en-US" sz="2400" b="1" i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highlight>
                  <a:srgbClr val="FFFF00"/>
                </a:highlight>
                <a:latin typeface="隶书" panose="02010509060101010101" charset="-122"/>
                <a:ea typeface="隶书" panose="02010509060101010101" charset="-122"/>
                <a:cs typeface="Noto Sans SC" panose="020B0200000000000000" charset="-122"/>
              </a:rPr>
              <a:t>》（The Death of Web 2.0）中，就明确主张Web 2.0所代表的文化时刻“</a:t>
            </a:r>
            <a:r>
              <a:rPr lang="zh-CN" altLang="en-US" sz="2400" b="1" i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highlight>
                  <a:srgbClr val="FFFF00"/>
                </a:highlight>
                <a:latin typeface="隶书" panose="02010509060101010101" charset="-122"/>
                <a:ea typeface="隶书" panose="02010509060101010101" charset="-122"/>
                <a:cs typeface="Noto Sans SC" panose="020B0200000000000000" charset="-122"/>
              </a:rPr>
              <a:t>已经真正结束”</a:t>
            </a:r>
            <a:endParaRPr lang="zh-CN" altLang="en-US" sz="2400" b="1" i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highlight>
                <a:srgbClr val="FFFF00"/>
              </a:highlight>
              <a:latin typeface="隶书" panose="02010509060101010101" charset="-122"/>
              <a:ea typeface="隶书" panose="02010509060101010101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477000" y="2080895"/>
            <a:ext cx="5013325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D9468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✨ </a:t>
            </a:r>
            <a:r>
              <a:rPr lang="en-US" sz="2400" b="1" i="0" u="none" strike="noStrike">
                <a:solidFill>
                  <a:srgbClr val="D9468E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Noto Sans SC" panose="020B0200000000000000" charset="-122"/>
              </a:rPr>
              <a:t>Web 2.0 时代</a:t>
            </a:r>
            <a:r>
              <a:rPr lang="en-US" sz="1800" b="1" i="0" u="none" strike="noStrike">
                <a:solidFill>
                  <a:srgbClr val="D9468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 ✨</a:t>
            </a:r>
            <a:endParaRPr lang="en-US" sz="18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0" algn="l">
              <a:lnSpc>
                <a:spcPct val="117000"/>
              </a:lnSpc>
              <a:spcBef>
                <a:spcPts val="1600"/>
              </a:spcBef>
            </a:pPr>
            <a:r>
              <a:rPr lang="en-US" sz="1800" b="1" i="0" u="none" strike="noStrike">
                <a:solidFill>
                  <a:srgbClr val="8A2BE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🌊 探索的乐趣：</a:t>
            </a:r>
            <a:r>
              <a:rPr lang="en-US" sz="1800" b="1" i="0" u="none" strike="noStrike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像冲浪一样，亲手敲下网址，在网络海洋里主动发现新大陆的惊喜感。</a:t>
            </a:r>
            <a:endParaRPr lang="en-US" sz="1800" b="1" i="0" u="none" strike="noStrike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8A2BE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❤️ “为爱发电”的纯粹：</a:t>
            </a:r>
            <a:r>
              <a:rPr lang="en-US" sz="1800" b="1" i="0" u="none" strike="noStrike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作品也许不完美，却充满了个性、真诚与表达的勇气。</a:t>
            </a:r>
            <a:endParaRPr lang="en-US" sz="1800" b="1" i="0" u="none" strike="noStrike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8A2BE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🤝 真实的连接：</a:t>
            </a:r>
            <a:r>
              <a:rPr lang="en-US" sz="1800" b="1" i="0" u="none" strike="noStrike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基于共同兴趣建立的深度交流，从线上延伸到线下的珍贵友谊。</a:t>
            </a:r>
            <a:endParaRPr lang="en-US" sz="1800" b="1" i="0" u="none" strike="noStrike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8A2BE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🚀 个体的可能性：</a:t>
            </a:r>
            <a:r>
              <a:rPr lang="en-US" sz="1800" b="1" i="0" u="none" strike="noStrike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相信每一个普通人，都拥有改变网络文化版图的潜能与力量。</a:t>
            </a:r>
            <a:endParaRPr lang="en-US" sz="1800" b="1" i="0" u="none" strike="noStrike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</p:txBody>
      </p:sp>
      <p:pic>
        <p:nvPicPr>
          <p:cNvPr id="11" name="图片 10" descr="屏幕截图 2026-05-19 1337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430780"/>
            <a:ext cx="5826760" cy="3504565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384040" y="5588000"/>
            <a:ext cx="7045960" cy="952500"/>
          </a:xfrm>
          <a:prstGeom prst="roundRect">
            <a:avLst>
              <a:gd name="adj" fmla="val 13333"/>
            </a:avLst>
          </a:prstGeom>
          <a:solidFill>
            <a:srgbClr val="8A2BE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530090" y="5740400"/>
            <a:ext cx="689991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鼓励自由探索、崇尚真诚表达、尊重个体创造力的互联网精神</a:t>
            </a:r>
            <a:endParaRPr lang="en-US" sz="1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一直影响至今</a:t>
            </a:r>
            <a:endParaRPr lang="zh-CN" altLang="en-US" sz="1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5125" y="147320"/>
            <a:ext cx="545973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400" b="1">
                <a:solidFill>
                  <a:srgbClr val="333333"/>
                </a:solidFill>
                <a:latin typeface="方正舒体" panose="02010601030101010101" charset="-122"/>
                <a:ea typeface="方正舒体" panose="02010601030101010101" charset="-122"/>
                <a:cs typeface="Noto Sans SC" panose="020B0200000000000000" charset="-122"/>
              </a:rPr>
              <a:t>今天呢</a:t>
            </a:r>
            <a:endParaRPr lang="en-US" sz="4400" b="1">
              <a:solidFill>
                <a:srgbClr val="333333"/>
              </a:solidFill>
              <a:latin typeface="方正舒体" panose="02010601030101010101" charset="-122"/>
              <a:ea typeface="方正舒体" panose="02010601030101010101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635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在算法时代，我们能留下什么？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230A32">
              <a:alpha val="90000"/>
            </a:srgbClr>
          </a:solidFill>
          <a:ln w="25400" cap="flat" cmpd="sng">
            <a:solidFill>
              <a:srgbClr val="8A2B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DCB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</a:t>
            </a:r>
            <a:r>
              <a:rPr lang="en-US" sz="2000" b="1" i="0" u="none" strike="noStrike">
                <a:solidFill>
                  <a:srgbClr val="DCB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每个个体都拥有改变文化版图的潜能”</a:t>
            </a:r>
            <a:endParaRPr lang="en-US" sz="2000"/>
          </a:p>
          <a:p>
            <a:pPr indent="0" algn="ctr">
              <a:lnSpc>
                <a:spcPct val="108000"/>
              </a:lnSpc>
            </a:pPr>
            <a:r>
              <a:rPr lang="en-US" sz="2000" b="0" i="0" u="none" strike="noStrike">
                <a:solidFill>
                  <a:srgbClr val="EBEBF5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在AI和算法试图定义一切的时代，</a:t>
            </a:r>
            <a:r>
              <a:rPr lang="en-US" sz="2000" b="1" i="0" u="none" strike="noStrike">
                <a:solidFill>
                  <a:srgbClr val="8A2B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个体的独特性、不可复制的生命体验和独立的思考</a:t>
            </a:r>
            <a:r>
              <a:rPr lang="en-US" sz="2000" b="0" i="0" u="none" strike="noStrike">
                <a:solidFill>
                  <a:srgbClr val="EBEBF5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，反而成为了最宝贵的东西。</a:t>
            </a:r>
            <a:endParaRPr lang="en-US" sz="2000" b="0" i="0" u="none" strike="noStrike">
              <a:solidFill>
                <a:srgbClr val="EBEBF5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3556000"/>
            <a:ext cx="2603500" cy="1905000"/>
          </a:xfrm>
          <a:prstGeom prst="roundRect">
            <a:avLst>
              <a:gd name="adj" fmla="val 6666"/>
            </a:avLst>
          </a:prstGeom>
          <a:solidFill>
            <a:srgbClr val="140A23">
              <a:alpha val="85000"/>
            </a:srgbClr>
          </a:solidFill>
          <a:ln w="12700" cap="flat" cmpd="sng">
            <a:solidFill>
              <a:srgbClr val="8A2BE2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810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587500" y="3784600"/>
            <a:ext cx="165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留下真诚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在AI可以轻易模仿任何风格的时代，真诚地表达自己，做不被定义的创作者。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3492500" y="3556000"/>
            <a:ext cx="2603500" cy="1905000"/>
          </a:xfrm>
          <a:prstGeom prst="roundRect">
            <a:avLst>
              <a:gd name="adj" fmla="val 6666"/>
            </a:avLst>
          </a:prstGeom>
          <a:solidFill>
            <a:srgbClr val="140A23">
              <a:alpha val="85000"/>
            </a:srgbClr>
          </a:solidFill>
          <a:ln w="12700" cap="flat" cmpd="sng">
            <a:solidFill>
              <a:srgbClr val="8A2BE2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46500" y="3810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4318000" y="3784600"/>
            <a:ext cx="165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留下深度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拒绝被“烂梗”和算法推荐裹挟，坚持创作和阅读有思考、有沉淀的内容。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6223000" y="3556000"/>
            <a:ext cx="2603500" cy="1905000"/>
          </a:xfrm>
          <a:prstGeom prst="roundRect">
            <a:avLst>
              <a:gd name="adj" fmla="val 6666"/>
            </a:avLst>
          </a:prstGeom>
          <a:solidFill>
            <a:srgbClr val="140A23">
              <a:alpha val="85000"/>
            </a:srgbClr>
          </a:solidFill>
          <a:ln w="12700" cap="flat" cmpd="sng">
            <a:solidFill>
              <a:srgbClr val="8A2BE2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0" y="3810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7048500" y="3784600"/>
            <a:ext cx="165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留下连接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超越点赞和关注的浅层互动，建立真实的、有温度的人际连接与情感共鸣。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8953500" y="3556000"/>
            <a:ext cx="2603500" cy="1905000"/>
          </a:xfrm>
          <a:prstGeom prst="roundRect">
            <a:avLst>
              <a:gd name="adj" fmla="val 6666"/>
            </a:avLst>
          </a:prstGeom>
          <a:solidFill>
            <a:srgbClr val="140A23">
              <a:alpha val="85000"/>
            </a:srgbClr>
          </a:solidFill>
          <a:ln w="12700" cap="flat" cmpd="sng">
            <a:solidFill>
              <a:srgbClr val="8A2BE2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207500" y="3810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9779000" y="3784600"/>
            <a:ext cx="165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留下选择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不做算法投喂的被动接受者，主动探索、发现并支持那些真正有价值的创作者。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0" y="571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2000" b="1" i="1" u="none" strike="noStrike">
                <a:solidFill>
                  <a:srgbClr val="FF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“面对今天这个由算法和AI主导的互联网，</a:t>
            </a:r>
            <a:br>
              <a:rPr lang="en-US" sz="2000" b="1" i="1" u="none" strike="noStrike">
                <a:solidFill>
                  <a:srgbClr val="FF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1" i="1" u="none" strike="noStrike">
                <a:solidFill>
                  <a:srgbClr val="FF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我们，作为创作者、作为用户，能够为未来留下些什么？”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0,&quot;left&quot;:470,&quot;top&quot;:130,&quot;width&quot;:460}"/>
</p:tagLst>
</file>

<file path=ppt/tags/tag2.xml><?xml version="1.0" encoding="utf-8"?>
<p:tagLst xmlns:p="http://schemas.openxmlformats.org/presentationml/2006/main">
  <p:tag name="KSO_WM_DIAGRAM_VIRTUALLY_FRAME" val="{&quot;height&quot;:320,&quot;left&quot;:470,&quot;top&quot;:130,&quot;width&quot;:460}"/>
</p:tagLst>
</file>

<file path=ppt/tags/tag3.xml><?xml version="1.0" encoding="utf-8"?>
<p:tagLst xmlns:p="http://schemas.openxmlformats.org/presentationml/2006/main">
  <p:tag name="KSO_WM_DIAGRAM_VIRTUALLY_FRAME" val="{&quot;height&quot;:320,&quot;left&quot;:470,&quot;top&quot;:130,&quot;width&quot;:460}"/>
</p:tagLst>
</file>

<file path=ppt/tags/tag4.xml><?xml version="1.0" encoding="utf-8"?>
<p:tagLst xmlns:p="http://schemas.openxmlformats.org/presentationml/2006/main">
  <p:tag name="KSO_WM_DIAGRAM_VIRTUALLY_FRAME" val="{&quot;height&quot;:320,&quot;left&quot;:470,&quot;top&quot;:130,&quot;width&quot;:460}"/>
</p:tagLst>
</file>

<file path=ppt/tags/tag5.xml><?xml version="1.0" encoding="utf-8"?>
<p:tagLst xmlns:p="http://schemas.openxmlformats.org/presentationml/2006/main">
  <p:tag name="KSO_WM_DIAGRAM_VIRTUALLY_FRAME" val="{&quot;height&quot;:320,&quot;left&quot;:470,&quot;top&quot;:130,&quot;width&quot;:460}"/>
</p:tagLst>
</file>

<file path=ppt/tags/tag6.xml><?xml version="1.0" encoding="utf-8"?>
<p:tagLst xmlns:p="http://schemas.openxmlformats.org/presentationml/2006/main">
  <p:tag name="KSO_WM_DIAGRAM_VIRTUALLY_FRAME" val="{&quot;height&quot;:320,&quot;left&quot;:470,&quot;top&quot;:130,&quot;width&quot;:460}"/>
</p:tagLst>
</file>

<file path=ppt/tags/tag7.xml><?xml version="1.0" encoding="utf-8"?>
<p:tagLst xmlns:p="http://schemas.openxmlformats.org/presentationml/2006/main">
  <p:tag name="KSO_WM_DIAGRAM_VIRTUALLY_FRAME" val="{&quot;height&quot;:320,&quot;left&quot;:470,&quot;top&quot;:130,&quot;width&quot;:460}"/>
</p:tagLst>
</file>

<file path=ppt/tags/tag8.xml><?xml version="1.0" encoding="utf-8"?>
<p:tagLst xmlns:p="http://schemas.openxmlformats.org/presentationml/2006/main">
  <p:tag name="KSO_WM_DIAGRAM_VIRTUALLY_FRAME" val="{&quot;height&quot;:320,&quot;left&quot;:470,&quot;top&quot;:130,&quot;width&quot;:460}"/>
</p:tagLst>
</file>

<file path=ppt/tags/tag9.xml><?xml version="1.0" encoding="utf-8"?>
<p:tagLst xmlns:p="http://schemas.openxmlformats.org/presentationml/2006/main">
  <p:tag name="KSO_WM_DIAGRAM_VIRTUALLY_FRAME" val="{&quot;height&quot;:320,&quot;left&quot;:470,&quot;top&quot;:130,&quot;width&quot;:460}"/>
</p:tagLst>
</file>

<file path=ppt/tags/tag10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11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12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13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14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15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16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17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18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19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20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21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22.xml><?xml version="1.0" encoding="utf-8"?>
<p:tagLst xmlns:p="http://schemas.openxmlformats.org/presentationml/2006/main">
  <p:tag name="KSO_WM_DIAGRAM_VIRTUALLY_FRAME" val="{&quot;height&quot;:204.55,&quot;left&quot;:60,&quot;top&quot;:189.45,&quot;width&quot;:840}"/>
</p:tagLst>
</file>

<file path=ppt/tags/tag23.xml><?xml version="1.0" encoding="utf-8"?>
<p:tagLst xmlns:p="http://schemas.openxmlformats.org/presentationml/2006/main">
  <p:tag name="KSO_WM_DIAGRAM_VIRTUALLY_FRAME" val="{&quot;height&quot;:204.55,&quot;left&quot;:60,&quot;top&quot;:189.45,&quot;width&quot;:840}"/>
</p:tagLst>
</file>

<file path=ppt/tags/tag24.xml><?xml version="1.0" encoding="utf-8"?>
<p:tagLst xmlns:p="http://schemas.openxmlformats.org/presentationml/2006/main">
  <p:tag name="KSO_WM_DIAGRAM_VIRTUALLY_FRAME" val="{&quot;height&quot;:250,&quot;left&quot;:60,&quot;top&quot;:160,&quot;width&quot;:840}"/>
</p:tagLst>
</file>

<file path=ppt/tags/tag25.xml><?xml version="1.0" encoding="utf-8"?>
<p:tagLst xmlns:p="http://schemas.openxmlformats.org/presentationml/2006/main">
  <p:tag name="KSO_WM_DIAGRAM_VIRTUALLY_FRAME" val="{&quot;height&quot;:250,&quot;left&quot;:60,&quot;top&quot;:160,&quot;width&quot;:840}"/>
</p:tagLst>
</file>

<file path=ppt/tags/tag26.xml><?xml version="1.0" encoding="utf-8"?>
<p:tagLst xmlns:p="http://schemas.openxmlformats.org/presentationml/2006/main">
  <p:tag name="KSO_WM_DIAGRAM_VIRTUALLY_FRAME" val="{&quot;height&quot;:250,&quot;left&quot;:60,&quot;top&quot;:160,&quot;width&quot;:840}"/>
</p:tagLst>
</file>

<file path=ppt/tags/tag27.xml><?xml version="1.0" encoding="utf-8"?>
<p:tagLst xmlns:p="http://schemas.openxmlformats.org/presentationml/2006/main">
  <p:tag name="KSO_WM_DIAGRAM_VIRTUALLY_FRAME" val="{&quot;height&quot;:250,&quot;left&quot;:60,&quot;top&quot;:160,&quot;width&quot;:840}"/>
</p:tagLst>
</file>

<file path=ppt/tags/tag28.xml><?xml version="1.0" encoding="utf-8"?>
<p:tagLst xmlns:p="http://schemas.openxmlformats.org/presentationml/2006/main">
  <p:tag name="KSO_WM_DIAGRAM_VIRTUALLY_FRAME" val="{&quot;height&quot;:250,&quot;left&quot;:60,&quot;top&quot;:160,&quot;width&quot;:840}"/>
</p:tagLst>
</file>

<file path=ppt/tags/tag29.xml><?xml version="1.0" encoding="utf-8"?>
<p:tagLst xmlns:p="http://schemas.openxmlformats.org/presentationml/2006/main">
  <p:tag name="KSO_WM_DIAGRAM_VIRTUALLY_FRAME" val="{&quot;height&quot;:250,&quot;left&quot;:60,&quot;top&quot;:160,&quot;width&quot;:840}"/>
</p:tagLst>
</file>

<file path=ppt/tags/tag30.xml><?xml version="1.0" encoding="utf-8"?>
<p:tagLst xmlns:p="http://schemas.openxmlformats.org/presentationml/2006/main">
  <p:tag name="KSO_WM_DIAGRAM_VIRTUALLY_FRAME" val="{&quot;height&quot;:250,&quot;left&quot;:60,&quot;top&quot;:160,&quot;width&quot;:840}"/>
</p:tagLst>
</file>

<file path=ppt/tags/tag31.xml><?xml version="1.0" encoding="utf-8"?>
<p:tagLst xmlns:p="http://schemas.openxmlformats.org/presentationml/2006/main">
  <p:tag name="KSO_WM_DIAGRAM_VIRTUALLY_FRAME" val="{&quot;height&quot;:250,&quot;left&quot;:60,&quot;top&quot;:160,&quot;width&quot;:840}"/>
</p:tagLst>
</file>

<file path=ppt/tags/tag32.xml><?xml version="1.0" encoding="utf-8"?>
<p:tagLst xmlns:p="http://schemas.openxmlformats.org/presentationml/2006/main">
  <p:tag name="KSO_WM_DIAGRAM_VIRTUALLY_FRAME" val="{&quot;height&quot;:150,&quot;left&quot;:60,&quot;top&quot;:280,&quot;width&quot;:850}"/>
</p:tagLst>
</file>

<file path=ppt/tags/tag33.xml><?xml version="1.0" encoding="utf-8"?>
<p:tagLst xmlns:p="http://schemas.openxmlformats.org/presentationml/2006/main">
  <p:tag name="KSO_WM_DIAGRAM_VIRTUALLY_FRAME" val="{&quot;height&quot;:150,&quot;left&quot;:60,&quot;top&quot;:280,&quot;width&quot;:850}"/>
</p:tagLst>
</file>

<file path=ppt/tags/tag34.xml><?xml version="1.0" encoding="utf-8"?>
<p:tagLst xmlns:p="http://schemas.openxmlformats.org/presentationml/2006/main">
  <p:tag name="KSO_WM_DIAGRAM_VIRTUALLY_FRAME" val="{&quot;height&quot;:150,&quot;left&quot;:60,&quot;top&quot;:280,&quot;width&quot;:850}"/>
</p:tagLst>
</file>

<file path=ppt/tags/tag35.xml><?xml version="1.0" encoding="utf-8"?>
<p:tagLst xmlns:p="http://schemas.openxmlformats.org/presentationml/2006/main">
  <p:tag name="KSO_WM_DIAGRAM_VIRTUALLY_FRAME" val="{&quot;height&quot;:150,&quot;left&quot;:60,&quot;top&quot;:280,&quot;width&quot;:850}"/>
</p:tagLst>
</file>

<file path=ppt/tags/tag36.xml><?xml version="1.0" encoding="utf-8"?>
<p:tagLst xmlns:p="http://schemas.openxmlformats.org/presentationml/2006/main">
  <p:tag name="KSO_WM_DIAGRAM_VIRTUALLY_FRAME" val="{&quot;height&quot;:150,&quot;left&quot;:60,&quot;top&quot;:280,&quot;width&quot;:850}"/>
</p:tagLst>
</file>

<file path=ppt/tags/tag37.xml><?xml version="1.0" encoding="utf-8"?>
<p:tagLst xmlns:p="http://schemas.openxmlformats.org/presentationml/2006/main">
  <p:tag name="KSO_WM_DIAGRAM_VIRTUALLY_FRAME" val="{&quot;height&quot;:150,&quot;left&quot;:60,&quot;top&quot;:280,&quot;width&quot;:850}"/>
</p:tagLst>
</file>

<file path=ppt/tags/tag38.xml><?xml version="1.0" encoding="utf-8"?>
<p:tagLst xmlns:p="http://schemas.openxmlformats.org/presentationml/2006/main">
  <p:tag name="KSO_WM_DIAGRAM_VIRTUALLY_FRAME" val="{&quot;height&quot;:150,&quot;left&quot;:60,&quot;top&quot;:280,&quot;width&quot;:850}"/>
</p:tagLst>
</file>

<file path=ppt/tags/tag39.xml><?xml version="1.0" encoding="utf-8"?>
<p:tagLst xmlns:p="http://schemas.openxmlformats.org/presentationml/2006/main">
  <p:tag name="KSO_WM_DIAGRAM_VIRTUALLY_FRAME" val="{&quot;height&quot;:150,&quot;left&quot;:60,&quot;top&quot;:280,&quot;width&quot;:850}"/>
</p:tagLst>
</file>

<file path=ppt/tags/tag40.xml><?xml version="1.0" encoding="utf-8"?>
<p:tagLst xmlns:p="http://schemas.openxmlformats.org/presentationml/2006/main">
  <p:tag name="KSO_WM_DIAGRAM_VIRTUALLY_FRAME" val="{&quot;height&quot;:150,&quot;left&quot;:60,&quot;top&quot;:280,&quot;width&quot;:850}"/>
</p:tagLst>
</file>

<file path=ppt/tags/tag41.xml><?xml version="1.0" encoding="utf-8"?>
<p:tagLst xmlns:p="http://schemas.openxmlformats.org/presentationml/2006/main">
  <p:tag name="KSO_WM_DIAGRAM_VIRTUALLY_FRAME" val="{&quot;height&quot;:150,&quot;left&quot;:60,&quot;top&quot;:280,&quot;width&quot;:850}"/>
</p:tagLst>
</file>

<file path=ppt/tags/tag42.xml><?xml version="1.0" encoding="utf-8"?>
<p:tagLst xmlns:p="http://schemas.openxmlformats.org/presentationml/2006/main">
  <p:tag name="KSO_WM_DIAGRAM_VIRTUALLY_FRAME" val="{&quot;height&quot;:150,&quot;left&quot;:60,&quot;top&quot;:280,&quot;width&quot;:850}"/>
</p:tagLst>
</file>

<file path=ppt/tags/tag43.xml><?xml version="1.0" encoding="utf-8"?>
<p:tagLst xmlns:p="http://schemas.openxmlformats.org/presentationml/2006/main">
  <p:tag name="KSO_WM_DIAGRAM_VIRTUALLY_FRAME" val="{&quot;height&quot;:150,&quot;left&quot;:60,&quot;top&quot;:280,&quot;width&quot;:85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3210</Words>
  <Application>WPS 演示</Application>
  <PresentationFormat/>
  <Paragraphs>147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49" baseType="lpstr">
      <vt:lpstr>Arial</vt:lpstr>
      <vt:lpstr>宋体</vt:lpstr>
      <vt:lpstr>Wingdings</vt:lpstr>
      <vt:lpstr>Arial</vt:lpstr>
      <vt:lpstr>Press Start 2P</vt:lpstr>
      <vt:lpstr>Segoe Print</vt:lpstr>
      <vt:lpstr>Noto Sans SC</vt:lpstr>
      <vt:lpstr>微软雅黑</vt:lpstr>
      <vt:lpstr>Arial Unicode MS</vt:lpstr>
      <vt:lpstr>华文宋体</vt:lpstr>
      <vt:lpstr>华文琥珀</vt:lpstr>
      <vt:lpstr>MingLiU_HKSCS-ExtB</vt:lpstr>
      <vt:lpstr>华文行楷</vt:lpstr>
      <vt:lpstr>华文新魏</vt:lpstr>
      <vt:lpstr>华文楷体</vt:lpstr>
      <vt:lpstr>华文细黑</vt:lpstr>
      <vt:lpstr>Noto Sans SC Black</vt:lpstr>
      <vt:lpstr>黑体</vt:lpstr>
      <vt:lpstr>隶书</vt:lpstr>
      <vt:lpstr>Noto Sans SC DemiLight</vt:lpstr>
      <vt:lpstr>Noto Serif SC Black</vt:lpstr>
      <vt:lpstr>Malgun Gothic Semilight</vt:lpstr>
      <vt:lpstr>Noto Serif SC ExtraLight</vt:lpstr>
      <vt:lpstr>等线</vt:lpstr>
      <vt:lpstr>方正舒体</vt:lpstr>
      <vt:lpstr>方正姚体</vt:lpstr>
      <vt:lpstr>MingLiU_MSCS-ExtB</vt:lpstr>
      <vt:lpstr>微软雅黑 Light</vt:lpstr>
      <vt:lpstr>楷体</vt:lpstr>
      <vt:lpstr>MS UI Gothic</vt:lpstr>
      <vt:lpstr>MS PGothic</vt:lpstr>
      <vt:lpstr>Microsoft JhengHei Light</vt:lpstr>
      <vt:lpstr>华文隶书</vt:lpstr>
      <vt:lpstr>MingLiU-ExtB</vt:lpstr>
      <vt:lpstr>Microsoft YaHei UI</vt:lpstr>
      <vt:lpstr>等线 Light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麻将桌四缺一</cp:lastModifiedBy>
  <cp:revision>1</cp:revision>
  <dcterms:created xsi:type="dcterms:W3CDTF">2026-05-19T05:47:12Z</dcterms:created>
  <dcterms:modified xsi:type="dcterms:W3CDTF">2026-05-19T05:47:12Z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38348928A66C4C288D5035E7D9F6DB62_12</vt:lpwstr>
  </property>
  <property fmtid="{D5CDD505-2E9C-101B-9397-08002B2CF9AE}" pid="3" name="KSOProductBuildVer">
    <vt:lpwstr>2052-12.1.0.22175</vt:lpwstr>
  </property>
</Properties>
</file>